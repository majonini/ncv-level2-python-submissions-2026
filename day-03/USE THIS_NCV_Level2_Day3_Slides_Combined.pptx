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7" r:id="rId4"/>
  </p:sldMasterIdLst>
  <p:notesMasterIdLst>
    <p:notesMasterId r:id="rId38"/>
  </p:notesMasterIdLst>
  <p:handoutMasterIdLst>
    <p:handoutMasterId r:id="rId39"/>
  </p:handoutMasterIdLst>
  <p:sldIdLst>
    <p:sldId id="258" r:id="rId5"/>
    <p:sldId id="262" r:id="rId6"/>
    <p:sldId id="263" r:id="rId7"/>
    <p:sldId id="264" r:id="rId8"/>
    <p:sldId id="265" r:id="rId9"/>
    <p:sldId id="266" r:id="rId10"/>
    <p:sldId id="289" r:id="rId11"/>
    <p:sldId id="267" r:id="rId12"/>
    <p:sldId id="268" r:id="rId13"/>
    <p:sldId id="269" r:id="rId14"/>
    <p:sldId id="290" r:id="rId15"/>
    <p:sldId id="270" r:id="rId16"/>
    <p:sldId id="271" r:id="rId17"/>
    <p:sldId id="272" r:id="rId18"/>
    <p:sldId id="291" r:id="rId19"/>
    <p:sldId id="273" r:id="rId20"/>
    <p:sldId id="274" r:id="rId21"/>
    <p:sldId id="275" r:id="rId22"/>
    <p:sldId id="276" r:id="rId23"/>
    <p:sldId id="277" r:id="rId24"/>
    <p:sldId id="278" r:id="rId25"/>
    <p:sldId id="279" r:id="rId26"/>
    <p:sldId id="280" r:id="rId27"/>
    <p:sldId id="281" r:id="rId28"/>
    <p:sldId id="282" r:id="rId29"/>
    <p:sldId id="283" r:id="rId30"/>
    <p:sldId id="292" r:id="rId31"/>
    <p:sldId id="284" r:id="rId32"/>
    <p:sldId id="285" r:id="rId33"/>
    <p:sldId id="286" r:id="rId34"/>
    <p:sldId id="287" r:id="rId35"/>
    <p:sldId id="288" r:id="rId36"/>
    <p:sldId id="261" r:id="rId37"/>
  </p:sldIdLst>
  <p:sldSz cx="12192000" cy="6858000"/>
  <p:notesSz cx="20104100" cy="11309350"/>
  <p:defaultTextStyle>
    <a:defPPr>
      <a:defRPr kern="0"/>
    </a:defPPr>
  </p:defaultTextStyle>
  <p:extLst>
    <p:ext uri="{EFAFB233-063F-42B5-8137-9DF3F51BA10A}">
      <p15:sldGuideLst xmlns:p15="http://schemas.microsoft.com/office/powerpoint/2012/main">
        <p15:guide id="1" orient="horz" pos="1746" userDrawn="1">
          <p15:clr>
            <a:srgbClr val="A4A3A4"/>
          </p15:clr>
        </p15:guide>
        <p15:guide id="2" pos="131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 dt="2026-10-20T19:28:06.34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726"/>
  </p:normalViewPr>
  <p:slideViewPr>
    <p:cSldViewPr>
      <p:cViewPr varScale="1">
        <p:scale>
          <a:sx n="108" d="100"/>
          <a:sy n="108" d="100"/>
        </p:scale>
        <p:origin x="594" y="96"/>
      </p:cViewPr>
      <p:guideLst>
        <p:guide orient="horz" pos="1746"/>
        <p:guide pos="1310"/>
      </p:guideLst>
    </p:cSldViewPr>
  </p:slideViewPr>
  <p:notesTextViewPr>
    <p:cViewPr>
      <p:scale>
        <a:sx n="100" d="100"/>
        <a:sy n="100" d="100"/>
      </p:scale>
      <p:origin x="0" y="0"/>
    </p:cViewPr>
  </p:notesTextViewPr>
  <p:sorterViewPr>
    <p:cViewPr>
      <p:scale>
        <a:sx n="80" d="100"/>
        <a:sy n="80" d="100"/>
      </p:scale>
      <p:origin x="0" y="0"/>
    </p:cViewPr>
  </p:sorterViewPr>
  <p:notesViewPr>
    <p:cSldViewPr>
      <p:cViewPr varScale="1">
        <p:scale>
          <a:sx n="78" d="100"/>
          <a:sy n="78" d="100"/>
        </p:scale>
        <p:origin x="272"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le Stone" userId="S::stonek@tut.ac.za::b56b405a-ca94-4e5c-abc0-8a06510cf894" providerId="AD" clId="Web-{00000000-0000-0000-0000-000000000000}"/>
    <pc:docChg chg="modSld">
      <pc:chgData name="Kyle Stone" userId="S::stonek@tut.ac.za::b56b405a-ca94-4e5c-abc0-8a06510cf894" providerId="AD" clId="Web-{00000000-0000-0000-0000-000000000000}" dt="2026-10-20T19:28:06.343" v="2" actId="20577"/>
      <pc:docMkLst>
        <pc:docMk/>
      </pc:docMkLst>
      <pc:sldChg chg="modSp">
        <pc:chgData name="Kyle Stone" userId="S::stonek@tut.ac.za::b56b405a-ca94-4e5c-abc0-8a06510cf894" providerId="AD" clId="Web-{00000000-0000-0000-0000-000000000000}" dt="2026-10-20T19:28:06.343" v="2" actId="20577"/>
        <pc:sldMkLst>
          <pc:docMk/>
          <pc:sldMk cId="0" sldId="272"/>
        </pc:sldMkLst>
        <pc:spChg chg="mod">
          <ac:chgData name="Kyle Stone" userId="S::stonek@tut.ac.za::b56b405a-ca94-4e5c-abc0-8a06510cf894" providerId="AD" clId="Web-{00000000-0000-0000-0000-000000000000}" dt="2026-10-20T19:28:06.343" v="2" actId="20577"/>
          <ac:spMkLst>
            <pc:docMk/>
            <pc:sldMk cId="0" sldId="272"/>
            <ac:spMk id="1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FF956F-CFE4-3305-3E99-9930EB19014F}"/>
              </a:ext>
            </a:extLst>
          </p:cNvPr>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80EEED-64CA-60DC-7C1E-1E27291E85D2}"/>
              </a:ext>
            </a:extLst>
          </p:cNvPr>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649E8F11-31E0-6B4C-AA11-26D899E9E432}" type="datetimeFigureOut">
              <a:rPr lang="en-US" smtClean="0"/>
              <a:t>10/20/2026</a:t>
            </a:fld>
            <a:endParaRPr lang="en-US"/>
          </a:p>
        </p:txBody>
      </p:sp>
      <p:sp>
        <p:nvSpPr>
          <p:cNvPr id="4" name="Footer Placeholder 3">
            <a:extLst>
              <a:ext uri="{FF2B5EF4-FFF2-40B4-BE49-F238E27FC236}">
                <a16:creationId xmlns:a16="http://schemas.microsoft.com/office/drawing/2014/main" id="{FB00C315-DF86-FE30-133E-332290D284E8}"/>
              </a:ext>
            </a:extLst>
          </p:cNvPr>
          <p:cNvSpPr>
            <a:spLocks noGrp="1"/>
          </p:cNvSpPr>
          <p:nvPr>
            <p:ph type="ftr" sz="quarter" idx="2"/>
          </p:nvPr>
        </p:nvSpPr>
        <p:spPr>
          <a:xfrm>
            <a:off x="0" y="10742613"/>
            <a:ext cx="8712200" cy="5667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2B854E9-C26C-E1AA-2BB5-DAFC50679A54}"/>
              </a:ext>
            </a:extLst>
          </p:cNvPr>
          <p:cNvSpPr>
            <a:spLocks noGrp="1"/>
          </p:cNvSpPr>
          <p:nvPr>
            <p:ph type="sldNum" sz="quarter" idx="3"/>
          </p:nvPr>
        </p:nvSpPr>
        <p:spPr>
          <a:xfrm>
            <a:off x="11387138" y="10742613"/>
            <a:ext cx="8712200" cy="566737"/>
          </a:xfrm>
          <a:prstGeom prst="rect">
            <a:avLst/>
          </a:prstGeom>
        </p:spPr>
        <p:txBody>
          <a:bodyPr vert="horz" lIns="91440" tIns="45720" rIns="91440" bIns="45720" rtlCol="0" anchor="b"/>
          <a:lstStyle>
            <a:lvl1pPr algn="r">
              <a:defRPr sz="1200"/>
            </a:lvl1pPr>
          </a:lstStyle>
          <a:p>
            <a:fld id="{CA3DB898-E9DF-274E-BAB2-75C9D41B9AFE}" type="slidenum">
              <a:rPr lang="en-US" smtClean="0"/>
              <a:t>‹#›</a:t>
            </a:fld>
            <a:endParaRPr lang="en-US"/>
          </a:p>
        </p:txBody>
      </p:sp>
    </p:spTree>
    <p:extLst>
      <p:ext uri="{BB962C8B-B14F-4D97-AF65-F5344CB8AC3E}">
        <p14:creationId xmlns:p14="http://schemas.microsoft.com/office/powerpoint/2010/main" val="2556758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A76B4CF9-8A4A-4471-83A0-F3E27D7A1ED2}" type="datetimeFigureOut">
              <a:t>10/20/2026</a:t>
            </a:fld>
            <a:endParaRPr lang="en-US"/>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AD3ACDB2-3A14-41F4-B5A6-2750099DEFE4}" type="slidenum">
              <a:t>‹#›</a:t>
            </a:fld>
            <a:endParaRPr lang="en-US"/>
          </a:p>
        </p:txBody>
      </p:sp>
    </p:spTree>
    <p:extLst>
      <p:ext uri="{BB962C8B-B14F-4D97-AF65-F5344CB8AC3E}">
        <p14:creationId xmlns:p14="http://schemas.microsoft.com/office/powerpoint/2010/main" val="3146140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08:00-08:15 welcome, outcomes and Thonny check (slides 1-3).</a:t>
            </a:r>
          </a:p>
          <a:p>
            <a:endParaRPr/>
          </a:p>
          <a:p>
            <a:r>
              <a:t>Welcome delegates to Day 3. Today everything is done in Thonny, and every finished program goes into your GitHub folder day3. By 17:00 you upload three things: your calculation programs (area and average), your hypotenuse program with its test table, and your own assessment task with a memorandum.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08:00-08:15 welcome, outcomes and Thonny check (slides 1-3).</a:t>
            </a:r>
          </a:p>
          <a:p>
            <a:endParaRPr/>
          </a:p>
          <a:p>
            <a:r>
              <a:t>Five blocks. Block 1 is about values and operators, 2A about reading and converting input, 2B about text, the Practical block is the hypotenuse program with a test table, and Consolidation is where delegates build their own assessable task.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08:00-08:15 welcome, outcomes and Thonny check (slides 1-3).</a:t>
            </a:r>
          </a:p>
          <a:p>
            <a:endParaRPr/>
          </a:p>
          <a:p>
            <a:r>
              <a:t>Tell delegates exactly what you will look for at the end of the day: three uploads. Upload 1: the calculation programs 03_area_m2.py and 03_average.py (done before lunch). Upload 2: the hypotenuse program with its completed test table (done by 15:00). Upload 3: their own assessment task with its memorandum (done by 17:00). Everything else they create is extra PoE evidence. Keep the folder name day3 and use meaningful commit messages.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08:15-09:00 for the three content slides on types, variables and operators. No more than 15 minutes of slides at a time; demo in the Thonny shell.</a:t>
            </a:r>
          </a:p>
          <a:p>
            <a:endParaRPr/>
          </a:p>
          <a:p>
            <a:r>
              <a:t>int, float, str, bool. Ask delegates to predict each of the three expressions before revealing. The number 5 added to 5 is 10, but the text '5' joined to '5' is 55, and '5' repeated three times is 555. The type decides what an operator does.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08:15-09:00 for the three content slides on types, variables and operators. No more than 15 minutes of slides at a time; demo in the Thonny shell.</a:t>
            </a:r>
          </a:p>
          <a:p>
            <a:endParaRPr/>
          </a:p>
          <a:p>
            <a:r>
              <a:t>A variable is a labelled container. mark = 72 puts 72 in a container labelled mark. mark = mark + 5 takes the contents, adds 5 and puts the answer back under the same label. Read = as becomes. Then go through the naming rules and the course convention of lowercase with underscores.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08:15-09:00 for the three content slides on types, variables and operators. No more than 15 minutes of slides at a time; demo in the Thonny shell.</a:t>
            </a:r>
          </a:p>
          <a:p>
            <a:endParaRPr/>
          </a:p>
          <a:p>
            <a:r>
              <a:t>Walk through the operators with the 7 and 2 picture: three groups of two fit into seven, with one left over. // gives the groups, % gives what is left. Divide with / always gives a float. Warn about 0.1 + 0.2 and say that money should be formatted to two decimals. Comments say why a line exists, not what Python already says.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A1 09:00-09:25 (lecturer-led, 25 min). A2 09:25-09:55 (independent, 30 min). 09:55-10:00 check for understanding.</a:t>
            </a:r>
          </a:p>
          <a:p>
            <a:endParaRPr/>
          </a:p>
          <a:p>
            <a:r>
              <a:t>A1: nine snippets, delegates predict before running. A2 part 1: three errors (identifier with a space, str + int, reversed assignment). Part 2: values are assigned in code because input() comes next. Extension: change the exam mark to 150 and explain why the program reports False without a decision statement.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10:20-10:40 for the input, conversion and precedence slides.</a:t>
            </a:r>
          </a:p>
          <a:p>
            <a:endParaRPr/>
          </a:p>
          <a:p>
            <a:r>
              <a:t>input() returns a str whatever the user types, so convert straight away. int(3.9) cuts off the decimals, it does not round. int('12a') raises a ValueError. Remind South African delegates that Python needs a decimal point: type 2.5, not 2,5.</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10:20-10:40 for the input, conversion and precedence slides.</a:t>
            </a:r>
          </a:p>
          <a:p>
            <a:endParaRPr/>
          </a:p>
          <a:p>
            <a:r>
              <a:t>Order: brackets, then **, then * / // %, then + -. Operators on the same level run left to right, so 10 - 4 - 3 is 3. Trace 6 + 8 / 4 * 2 - 3 line by line: 8 / 4 is 2.0, times 2 is 4.0, plus 6 is 10.0, minus 3 is 7.0. Practice question 2 uses a different expression.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10:40-10:50 worked example (average of three marks).</a:t>
            </a:r>
          </a:p>
          <a:p>
            <a:endParaRPr/>
          </a:p>
          <a:p>
            <a:r>
              <a:t>Plan with the IPO chart first, then code. With marks 68, 74 and 81 the output is 74.33. Leave out the brackets and the program works out mark1 + mark2 + (mark3 / 3), which gives 169.0. The brackets are part of the answer.</a:t>
            </a:r>
          </a:p>
          <a:p>
            <a:endParaRPr/>
          </a:p>
          <a:p>
            <a:r>
              <a:t>Print and join: print('Total:', 7) works. 'Total: ' + 7 gives a TypeError because + cannot mix text and a number. Write 'Total: ' + str(7).</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A3 10:50-11:15 (lecturer-led, 25 min). A4 11:15-11:40 (independent, 25 min: about 12 min for the area, 13 min for the average).</a:t>
            </a:r>
          </a:p>
          <a:p>
            <a:endParaRPr/>
          </a:p>
          <a:p>
            <a:r>
              <a:t>A3 trace with input Thabo and 1990: age is 36. A4 part 1 solution: area = length * width; print('Area:', f'{area:.2f}', 'square metres'). Part 2 solution: average = (mark1 + mark2 + mark3 + mark4) / 4, then print f'{average:.2f}'. Without the brackets only mark4 is divided by 4 (232.5 for the first data set); ask delegates to find the fault from the output. Extension for part 1: carpet cost at R180 per square metre.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11:40-12:00 string methods.</a:t>
            </a:r>
          </a:p>
          <a:p>
            <a:endParaRPr/>
          </a:p>
          <a:p>
            <a:r>
              <a:t>Methods return a new string. The original does not change, so assign the result. find gives the position of the first match, or -1; index fails with a ValueError when the text is absent. isdigit is False for -5, 3.5 and the empty string, so use it only for whole-number codes such as staff numbers.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12:00-12:25 is activity A5 (lecturer-led): build this example step by step with the group.</a:t>
            </a:r>
          </a:p>
          <a:p>
            <a:endParaRPr/>
          </a:p>
          <a:p>
            <a:r>
              <a:t>Chain methods left to right. strip removes the spaces, title fixes the capitals, split makes a list of words. Position 0 is the first item and -1 the last. Lists come properly on Day 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12:25-12:35 f-strings and a first look at if/else.</a:t>
            </a:r>
          </a:p>
          <a:p>
            <a:endParaRPr/>
          </a:p>
          <a:p>
            <a:r>
              <a:t>f-strings: {x:.2f} two decimals, {t:&lt;10} left-align in ten spaces, {n:&gt;8.2f} right-align in eight. Calculate first and format only when printing. The if/else is a preview for Day 4 and is used to reject bad input. Point out the colons and four-space indent.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A5 12:00-12:25 was done on the worked-example slide. A6 12:35-13:00 (independent, 25 min).</a:t>
            </a:r>
          </a:p>
          <a:p>
            <a:endParaRPr/>
          </a:p>
          <a:p>
            <a:r>
              <a:t>A5: parts[0] is the first item and parts[-1] the last; list positions are taught fully on Day 5. A6 limit for the debrief: level 'two' raises ValueError. The full solution (test before converting) is Day 4.</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13:30-13:45 the math module.</a:t>
            </a:r>
          </a:p>
          <a:p>
            <a:endParaRPr/>
          </a:p>
          <a:p>
            <a:r>
              <a:t>Use fabs for a difference where the order does not matter, for example math.fabs(18.5 - 24.0) gives 5.5. Do not use it to hide a negative length. A negative length is bad data and the program must reject it. math.sqrt(-1) raises a ValueError: math domain error.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A7 13:45-14:15 (lecturer-led, 30 min): build this in front of the group.</a:t>
            </a:r>
          </a:p>
          <a:p>
            <a:endParaRPr/>
          </a:p>
          <a:p>
            <a:r>
              <a:t>Draw the IPO chart before writing code and label each line of code with its step. The worked example finds the side of a square from its area. The area must be greater than zero, otherwise show an error message.</a:t>
            </a:r>
          </a:p>
          <a:p>
            <a:endParaRPr/>
          </a:p>
          <a:p>
            <a:r>
              <a:t>Activity A7 (lecturer-led, about 30 minutes): build this program in front of the group, starting without the if check, then add the validation. Delegates label each line with its IPO step. Then move to the core practical (A8, independent).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14:15-14:25 test data classes.</a:t>
            </a:r>
          </a:p>
          <a:p>
            <a:endParaRPr/>
          </a:p>
          <a:p>
            <a:r>
              <a:t>Write the test table before the code, then fill in the Actual column after you run it. Normal: typical valid values. Boundary: the smallest valid value and the first invalid value beside it. Invalid: values the program must reject or that break it. Checking the range does not protect you against text, so record what happens when you type letters.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A8 14:25-15:00 (independent, 35 min) starts here; the test table and model solution follow.</a:t>
            </a:r>
          </a:p>
          <a:p>
            <a:endParaRPr/>
          </a:p>
          <a:p>
            <a:r>
              <a:t>This is the core practical. Delegates plan first: IPO chart, then test table, then code. Let them try before showing the model solution on the next slide. Pythagoras: hypotenuse is the square root of a squared plus b squared.</a:t>
            </a:r>
          </a:p>
          <a:p>
            <a:endParaRPr/>
          </a:p>
          <a:p>
            <a:r>
              <a:t>Activity A8 (independent, about 35 minutes): delegates write the test table first, then the code, then fill in the Actual column. Extension for fast finishers: print the perimeter (a + b + hypotenuse) to two decimals, with its own test row.</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Show only after delegates have tried, from about 14:55.</a:t>
            </a:r>
          </a:p>
          <a:p>
            <a:endParaRPr/>
          </a:p>
          <a:p>
            <a:r>
              <a:t>Show this only after delegates have tried. Point out the header comment, the units in the prompts, float conversion, the nested if and the f-string with two decimals. Tomorrow's topic, and and or, will let them check both sides in one condition.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Used during A8 (14:25-15:00): delegates copy it into 05_test_table.md.</a:t>
            </a:r>
          </a:p>
          <a:p>
            <a:endParaRPr/>
          </a:p>
          <a:p>
            <a:r>
              <a:t>Eight tests: three normal, three boundary, two invalid. 3 and 4 give 5.00, 5 and 12 give 13.00, 1 and 1 give 1.41. The smallest valid values, 0.01 and 0.01, give a hypotenuse of about 0.0141, which prints as 0.01. Delegates fill in the Actual column from their own runs.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Reference slide, not separately timed: use whenever delegates meet an error during the practical or the assessment task.</a:t>
            </a:r>
          </a:p>
          <a:p>
            <a:endParaRPr/>
          </a:p>
          <a:p>
            <a:r>
              <a:t>Read the last line of the error first: it names the type of error. Go through the eight common messages and what delegates should do. A SyntaxError: invalid character usually means curly quotes were pasted from Word or a PDF.</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Reference slide, not separately timed: use whenever delegates need to step through a program.</a:t>
            </a:r>
          </a:p>
          <a:p>
            <a:endParaRPr/>
          </a:p>
          <a:p>
            <a:r>
              <a:t>In Thonny input() waits for the user to type in the Shell pane. To watch variables change, open View, then Variables, and step through with Debug current script (Ctrl+F5), Step over (F6) and Step into (F7). Link this to a trace table.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15:20-15:35 for slides on designing an assessable practical, mark allocation and fair marking.</a:t>
            </a:r>
          </a:p>
          <a:p>
            <a:endParaRPr/>
          </a:p>
          <a:p>
            <a:r>
              <a:t>Six things every assessable practical needs. The test: two markers give the same mark from the guide alone. Constraint for today's task: use input, conversion, arithmetic and formatted output only. No selection and no loops.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15:20-15:35 for slides on designing an assessable practical, mark allocation and fair marking.</a:t>
            </a:r>
          </a:p>
          <a:p>
            <a:endParaRPr/>
          </a:p>
          <a:p>
            <a:r>
              <a:t>Marks: Plan 4, Input and conversion 5, Calculations 4, Output 4, Documentation 1, Testing 2, Reasoning question 5. Total 25. Note that the four marks for output follow through even when a formula is wrong, as long as the layout and format are right.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15:20-15:35 for slides on designing an assessable practical, mark allocation and fair marking.</a:t>
            </a:r>
          </a:p>
          <a:p>
            <a:endParaRPr/>
          </a:p>
          <a:p>
            <a:r>
              <a:t>A wrong formula loses only its own mark. Output marks follow through if layout and format are right. Every mark ties to something the marker can see in the file or the output. Mix cognitive levels. Solve your own task before you write the memorandum.</a:t>
            </a:r>
          </a:p>
          <a:p>
            <a:endParaRPr/>
          </a:p>
          <a:p>
            <a:r>
              <a:t>Your two files: assessment_learner.md (task and test data only) and assessment_memo.md (model solution, expected outputs, marking guide and a short reflection).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A9 15:35-16:00 (lecturer-led, 25 min). A10 16:00-16:50 (independent, 50 min, including the self-review on the next slide).</a:t>
            </a:r>
          </a:p>
          <a:p>
            <a:endParaRPr/>
          </a:p>
          <a:p>
            <a:r>
              <a:t>Constraints: input, conversion, arithmetic and formatted output; no selection and no loops. Delegates solve their own task before writing the memorandum. If a neighbour needs to ask a question, the task needs rewriting.</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Part of A10: use in the last 10 minutes (16:40-16:50).</a:t>
            </a:r>
          </a:p>
          <a:p>
            <a:endParaRPr/>
          </a:p>
          <a:p>
            <a:r>
              <a:t>Delegates tick each line in their own copy. If they cannot tick a line, fix the task before writing the memorandum. The memo must also end with a Reflection of two sentences: what worked in the task, and what a learner would find hardest.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Not timed: use for early finishers or as take-home practice; there is no slot for it in the day.</a:t>
            </a:r>
          </a:p>
          <a:p>
            <a:endParaRPr/>
          </a:p>
          <a:p>
            <a:r>
              <a:t>Give delegates a few minutes alone, then check answers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Not timed: check answers with early finishers or hand out with the take-home practice.</a:t>
            </a:r>
          </a:p>
          <a:p>
            <a:endParaRPr/>
          </a:p>
          <a:p>
            <a:r>
              <a:t>(1) str. (2) 13.0. (3) price = float(input('Price in rand: ')). (4) Level 2! (5) 3 and PRETORIA. (6) Boundary, the first invalid value. (7) 12.35. (8) + cannot add a str and an int; write 10 + 5 or '10' + str(5).</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16:50-17:00 commit and push.</a:t>
            </a:r>
          </a:p>
          <a:p>
            <a:endParaRPr/>
          </a:p>
          <a:p>
            <a:r>
              <a:t>Walk through the checklist. Everything goes in the folder day3. Push and check the repository page to confirm files and history. Reflection: write two sentences at the end of assessment_memo.md under the heading Reflection: what worked in your task, and what a learner would find hardest.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17:00 close.</a:t>
            </a:r>
          </a:p>
          <a:p>
            <a:endParaRPr/>
          </a:p>
          <a:p>
            <a:r>
              <a:t>Tomorrow adds decisions (if, elif, else) and loops. Day 5 adds functions, lists and debugging and finishes the Portfolio of Evidence. Point delegates to the textbook chapters.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7022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13B59-0C05-F1AC-7526-BB785C9F848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588BE57-C65E-3FFB-4B6E-B976389DEB5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Subtitle 2">
            <a:extLst>
              <a:ext uri="{FF2B5EF4-FFF2-40B4-BE49-F238E27FC236}">
                <a16:creationId xmlns:a16="http://schemas.microsoft.com/office/drawing/2014/main" id="{86809F5E-16C5-AACB-301F-AEF4FCD16AF1}"/>
              </a:ext>
            </a:extLst>
          </p:cNvPr>
          <p:cNvSpPr txBox="1">
            <a:spLocks/>
          </p:cNvSpPr>
          <p:nvPr userDrawn="1"/>
        </p:nvSpPr>
        <p:spPr>
          <a:xfrm>
            <a:off x="5181600" y="6109050"/>
            <a:ext cx="6858000" cy="508285"/>
          </a:xfrm>
          <a:prstGeom prst="rect">
            <a:avLst/>
          </a:prstGeom>
        </p:spPr>
        <p:txBody>
          <a:bodyPr vert="horz" lIns="91439" tIns="45719" rIns="91439" bIns="45719" rtlCol="0">
            <a:noAutofit/>
          </a:bodyPr>
          <a:lstStyle>
            <a:lvl1pPr marL="342893" indent="-342893" algn="l" defTabSz="9143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6" indent="-285745" algn="l" defTabSz="9143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8" indent="-228596" algn="l" defTabSz="9143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9"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60"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52"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43"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34"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25"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buNone/>
            </a:pPr>
            <a:r>
              <a:rPr lang="en-ZA" sz="1100" b="1" i="0" dirty="0">
                <a:latin typeface="Trebuchet MS" panose="020B0703020202090204" pitchFamily="34" charset="0"/>
                <a:cs typeface="Arial" pitchFamily="34" charset="0"/>
              </a:rPr>
              <a:t>Faculty of ICT</a:t>
            </a:r>
          </a:p>
          <a:p>
            <a:pPr marL="0" indent="0" algn="r">
              <a:lnSpc>
                <a:spcPct val="100000"/>
              </a:lnSpc>
              <a:buNone/>
            </a:pPr>
            <a:r>
              <a:rPr lang="en-US" sz="1100" b="0" i="0" dirty="0">
                <a:latin typeface="Trebuchet MS" panose="020B0703020202090204" pitchFamily="34" charset="0"/>
                <a:cs typeface="Arial" pitchFamily="34" charset="0"/>
              </a:rPr>
              <a:t>Computer Science</a:t>
            </a:r>
            <a:endParaRPr lang="en-ZA" sz="1100" b="0" i="0" dirty="0">
              <a:latin typeface="Trebuchet MS" panose="020B0703020202090204" pitchFamily="34" charset="0"/>
              <a:cs typeface="Arial" pitchFamily="34" charset="0"/>
            </a:endParaRPr>
          </a:p>
        </p:txBody>
      </p:sp>
    </p:spTree>
    <p:extLst>
      <p:ext uri="{BB962C8B-B14F-4D97-AF65-F5344CB8AC3E}">
        <p14:creationId xmlns:p14="http://schemas.microsoft.com/office/powerpoint/2010/main" val="118335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9406B-9556-8285-A895-7DD410CE570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85FA7C6-2415-42AE-3425-6E489BBBBEB6}"/>
              </a:ext>
            </a:extLst>
          </p:cNvPr>
          <p:cNvSpPr>
            <a:spLocks noGrp="1"/>
          </p:cNvSpPr>
          <p:nvPr>
            <p:ph sz="half" idx="1"/>
          </p:nvPr>
        </p:nvSpPr>
        <p:spPr>
          <a:xfrm>
            <a:off x="838200" y="1825625"/>
            <a:ext cx="5181600" cy="38131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70DAAED-79D2-ED4C-7542-9240C7FE4D7D}"/>
              </a:ext>
            </a:extLst>
          </p:cNvPr>
          <p:cNvSpPr>
            <a:spLocks noGrp="1"/>
          </p:cNvSpPr>
          <p:nvPr>
            <p:ph sz="half" idx="2"/>
          </p:nvPr>
        </p:nvSpPr>
        <p:spPr>
          <a:xfrm>
            <a:off x="6172200" y="1825625"/>
            <a:ext cx="5181600" cy="38131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ubtitle 2">
            <a:extLst>
              <a:ext uri="{FF2B5EF4-FFF2-40B4-BE49-F238E27FC236}">
                <a16:creationId xmlns:a16="http://schemas.microsoft.com/office/drawing/2014/main" id="{55FA8EFD-215E-825F-40C3-5FABA505A120}"/>
              </a:ext>
            </a:extLst>
          </p:cNvPr>
          <p:cNvSpPr txBox="1">
            <a:spLocks/>
          </p:cNvSpPr>
          <p:nvPr userDrawn="1"/>
        </p:nvSpPr>
        <p:spPr>
          <a:xfrm>
            <a:off x="5181600" y="6109050"/>
            <a:ext cx="6858000" cy="508285"/>
          </a:xfrm>
          <a:prstGeom prst="rect">
            <a:avLst/>
          </a:prstGeom>
        </p:spPr>
        <p:txBody>
          <a:bodyPr vert="horz" lIns="91439" tIns="45719" rIns="91439" bIns="45719" rtlCol="0">
            <a:noAutofit/>
          </a:bodyPr>
          <a:lstStyle>
            <a:lvl1pPr marL="342893" indent="-342893" algn="l" defTabSz="9143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6" indent="-285745" algn="l" defTabSz="9143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8" indent="-228596" algn="l" defTabSz="9143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9"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60"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52"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43"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34"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25" indent="-228596" algn="l" defTabSz="91438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buNone/>
            </a:pPr>
            <a:r>
              <a:rPr lang="en-ZA" sz="1100" b="1" i="0" dirty="0">
                <a:latin typeface="Trebuchet MS" panose="020B0703020202090204" pitchFamily="34" charset="0"/>
                <a:cs typeface="Arial" pitchFamily="34" charset="0"/>
              </a:rPr>
              <a:t>Faculty of ICT</a:t>
            </a:r>
          </a:p>
          <a:p>
            <a:pPr marL="0" indent="0" algn="r">
              <a:lnSpc>
                <a:spcPct val="100000"/>
              </a:lnSpc>
              <a:buNone/>
            </a:pPr>
            <a:r>
              <a:rPr lang="en-US" sz="1100" b="0" i="0" dirty="0">
                <a:latin typeface="Trebuchet MS" panose="020B0703020202090204" pitchFamily="34" charset="0"/>
                <a:cs typeface="Arial" pitchFamily="34" charset="0"/>
              </a:rPr>
              <a:t>Computer Science</a:t>
            </a:r>
            <a:endParaRPr lang="en-ZA" sz="1100" b="0" i="0" dirty="0">
              <a:latin typeface="Trebuchet MS" panose="020B0703020202090204" pitchFamily="34" charset="0"/>
              <a:cs typeface="Arial" pitchFamily="34" charset="0"/>
            </a:endParaRPr>
          </a:p>
        </p:txBody>
      </p:sp>
    </p:spTree>
    <p:extLst>
      <p:ext uri="{BB962C8B-B14F-4D97-AF65-F5344CB8AC3E}">
        <p14:creationId xmlns:p14="http://schemas.microsoft.com/office/powerpoint/2010/main" val="883709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02280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6612DD-B208-676D-B2E2-594F2C2AF6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1680412-0787-586E-60AB-9271E89E11DD}"/>
              </a:ext>
            </a:extLst>
          </p:cNvPr>
          <p:cNvSpPr>
            <a:spLocks noGrp="1"/>
          </p:cNvSpPr>
          <p:nvPr>
            <p:ph type="body" idx="1"/>
          </p:nvPr>
        </p:nvSpPr>
        <p:spPr>
          <a:xfrm>
            <a:off x="838200" y="1825625"/>
            <a:ext cx="10515600" cy="388937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2962641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1" r:id="rId3"/>
    <p:sldLayoutId id="214748367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3154680"/>
            <a:ext cx="10607040" cy="914400"/>
          </a:xfrm>
          <a:prstGeom prst="rect">
            <a:avLst/>
          </a:prstGeom>
          <a:noFill/>
        </p:spPr>
        <p:txBody>
          <a:bodyPr wrap="square" lIns="45720" rIns="45720" anchor="ctr">
            <a:spAutoFit/>
          </a:bodyPr>
          <a:lstStyle/>
          <a:p>
            <a:pPr algn="l">
              <a:spcAft>
                <a:spcPts val="400"/>
              </a:spcAft>
            </a:pPr>
            <a:r>
              <a:rPr sz="4000" b="1" i="0">
                <a:solidFill>
                  <a:srgbClr val="FFFFFF"/>
                </a:solidFill>
                <a:latin typeface="Calibri"/>
              </a:rPr>
              <a:t>Python Data, Input and Assessment</a:t>
            </a:r>
          </a:p>
        </p:txBody>
      </p:sp>
      <p:sp>
        <p:nvSpPr>
          <p:cNvPr id="3" name="TextBox 2"/>
          <p:cNvSpPr txBox="1"/>
          <p:nvPr/>
        </p:nvSpPr>
        <p:spPr>
          <a:xfrm>
            <a:off x="822960" y="4041648"/>
            <a:ext cx="10607040" cy="457200"/>
          </a:xfrm>
          <a:prstGeom prst="rect">
            <a:avLst/>
          </a:prstGeom>
          <a:noFill/>
        </p:spPr>
        <p:txBody>
          <a:bodyPr wrap="square" lIns="45720" rIns="45720" anchor="t">
            <a:spAutoFit/>
          </a:bodyPr>
          <a:lstStyle/>
          <a:p>
            <a:pPr algn="l">
              <a:spcAft>
                <a:spcPts val="400"/>
              </a:spcAft>
            </a:pPr>
            <a:r>
              <a:rPr sz="2200" b="0" i="0">
                <a:solidFill>
                  <a:srgbClr val="DCE8F5"/>
                </a:solidFill>
                <a:latin typeface="Calibri"/>
              </a:rPr>
              <a:t>Wednesday 21 October 2026  |  Write, test and assess complete Python programs</a:t>
            </a:r>
          </a:p>
        </p:txBody>
      </p:sp>
      <p:sp>
        <p:nvSpPr>
          <p:cNvPr id="4" name="Rounded Rectangle 3"/>
          <p:cNvSpPr/>
          <p:nvPr/>
        </p:nvSpPr>
        <p:spPr>
          <a:xfrm>
            <a:off x="868680" y="4645152"/>
            <a:ext cx="4206240" cy="365760"/>
          </a:xfrm>
          <a:prstGeom prst="roundRect">
            <a:avLst>
              <a:gd name="adj" fmla="val 50000"/>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400" b="1" i="0">
                <a:solidFill>
                  <a:srgbClr val="1B2A41"/>
                </a:solidFill>
                <a:latin typeface="Calibri"/>
              </a:rPr>
              <a:t>NC(V) Level 2  |  Day 3</a:t>
            </a:r>
          </a:p>
        </p:txBody>
      </p:sp>
    </p:spTree>
    <p:extLst>
      <p:ext uri="{BB962C8B-B14F-4D97-AF65-F5344CB8AC3E}">
        <p14:creationId xmlns:p14="http://schemas.microsoft.com/office/powerpoint/2010/main" val="2981344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11091672" cy="822960"/>
          </a:xfrm>
        </p:spPr>
        <p:txBody>
          <a:bodyPr wrap="square" anchor="ctr"/>
          <a:lstStyle/>
          <a:p>
            <a:pPr algn="l"/>
            <a:r>
              <a:rPr sz="3200" b="1">
                <a:solidFill>
                  <a:srgbClr val="085797"/>
                </a:solidFill>
                <a:latin typeface="Calibri"/>
              </a:rPr>
              <a:t>Today's plan: five blocks</a:t>
            </a:r>
          </a:p>
        </p:txBody>
      </p:sp>
      <p:sp>
        <p:nvSpPr>
          <p:cNvPr id="3" name="Rounded Rectangle 2"/>
          <p:cNvSpPr/>
          <p:nvPr/>
        </p:nvSpPr>
        <p:spPr>
          <a:xfrm>
            <a:off x="548640" y="1234440"/>
            <a:ext cx="11091672" cy="960120"/>
          </a:xfrm>
          <a:prstGeom prst="roundRect">
            <a:avLst>
              <a:gd name="adj" fmla="val 11428"/>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lstStyle/>
          <a:p>
            <a:pPr algn="l">
              <a:spcAft>
                <a:spcPts val="200"/>
              </a:spcAft>
            </a:pPr>
            <a:r>
              <a:rPr sz="1500" b="1" i="0">
                <a:solidFill>
                  <a:srgbClr val="FDB515"/>
                </a:solidFill>
                <a:latin typeface="Calibri"/>
              </a:rPr>
              <a:t>Learning outcome  </a:t>
            </a:r>
            <a:r>
              <a:rPr sz="1500" b="0" i="0">
                <a:solidFill>
                  <a:srgbClr val="FFFFFF"/>
                </a:solidFill>
                <a:latin typeface="Calibri"/>
              </a:rPr>
              <a:t>Write complete Python programs using data types, input, conversion, calculations, strings, formatted output and testing, then design an assessable practical.</a:t>
            </a:r>
          </a:p>
        </p:txBody>
      </p:sp>
      <p:sp>
        <p:nvSpPr>
          <p:cNvPr id="4" name="Rounded Rectangle 3"/>
          <p:cNvSpPr/>
          <p:nvPr/>
        </p:nvSpPr>
        <p:spPr>
          <a:xfrm>
            <a:off x="548640" y="2423160"/>
            <a:ext cx="5440680" cy="530352"/>
          </a:xfrm>
          <a:prstGeom prst="roundRect">
            <a:avLst>
              <a:gd name="adj" fmla="val 1724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1792" y="2505456"/>
            <a:ext cx="1371600" cy="365759"/>
          </a:xfrm>
          <a:prstGeom prst="roundRect">
            <a:avLst>
              <a:gd name="adj" fmla="val 25000"/>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i="0">
                <a:solidFill>
                  <a:srgbClr val="FFFFFF"/>
                </a:solidFill>
                <a:latin typeface="Calibri"/>
              </a:rPr>
              <a:t>08:00-10:00</a:t>
            </a:r>
          </a:p>
        </p:txBody>
      </p:sp>
      <p:sp>
        <p:nvSpPr>
          <p:cNvPr id="6" name="TextBox 5"/>
          <p:cNvSpPr txBox="1"/>
          <p:nvPr/>
        </p:nvSpPr>
        <p:spPr>
          <a:xfrm>
            <a:off x="2084832" y="2423160"/>
            <a:ext cx="3840480" cy="530352"/>
          </a:xfrm>
          <a:prstGeom prst="rect">
            <a:avLst/>
          </a:prstGeom>
          <a:noFill/>
        </p:spPr>
        <p:txBody>
          <a:bodyPr wrap="square" lIns="18288" tIns="18288" rIns="18288" bIns="18288" anchor="ctr">
            <a:spAutoFit/>
          </a:bodyPr>
          <a:lstStyle/>
          <a:p>
            <a:pPr algn="l">
              <a:spcAft>
                <a:spcPts val="400"/>
              </a:spcAft>
            </a:pPr>
            <a:r>
              <a:rPr sz="1300" b="1" i="0">
                <a:solidFill>
                  <a:srgbClr val="1B2A41"/>
                </a:solidFill>
                <a:latin typeface="Calibri"/>
              </a:rPr>
              <a:t>Block 1: Data types, variables, operators</a:t>
            </a:r>
            <a:r>
              <a:rPr sz="1100" b="0" i="0">
                <a:solidFill>
                  <a:srgbClr val="5B6770"/>
                </a:solidFill>
                <a:latin typeface="Calibri"/>
              </a:rPr>
              <a:t>   Teach</a:t>
            </a:r>
          </a:p>
        </p:txBody>
      </p:sp>
      <p:sp>
        <p:nvSpPr>
          <p:cNvPr id="7" name="Rounded Rectangle 6"/>
          <p:cNvSpPr/>
          <p:nvPr/>
        </p:nvSpPr>
        <p:spPr>
          <a:xfrm>
            <a:off x="548640" y="3035808"/>
            <a:ext cx="5440680" cy="530352"/>
          </a:xfrm>
          <a:prstGeom prst="roundRect">
            <a:avLst>
              <a:gd name="adj" fmla="val 17241"/>
            </a:avLst>
          </a:prstGeom>
          <a:solidFill>
            <a:srgbClr val="FC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 y="3118103"/>
            <a:ext cx="1371600" cy="365759"/>
          </a:xfrm>
          <a:prstGeom prst="roundRect">
            <a:avLst>
              <a:gd name="adj" fmla="val 25000"/>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i="0">
                <a:solidFill>
                  <a:srgbClr val="FFFFFF"/>
                </a:solidFill>
                <a:latin typeface="Calibri"/>
              </a:rPr>
              <a:t>10:00-10:20</a:t>
            </a:r>
          </a:p>
        </p:txBody>
      </p:sp>
      <p:sp>
        <p:nvSpPr>
          <p:cNvPr id="9" name="TextBox 8"/>
          <p:cNvSpPr txBox="1"/>
          <p:nvPr/>
        </p:nvSpPr>
        <p:spPr>
          <a:xfrm>
            <a:off x="2084832" y="3035808"/>
            <a:ext cx="3840480" cy="530352"/>
          </a:xfrm>
          <a:prstGeom prst="rect">
            <a:avLst/>
          </a:prstGeom>
          <a:noFill/>
        </p:spPr>
        <p:txBody>
          <a:bodyPr wrap="square" lIns="18288" tIns="18288" rIns="18288" bIns="18288" anchor="ctr">
            <a:spAutoFit/>
          </a:bodyPr>
          <a:lstStyle/>
          <a:p>
            <a:pPr algn="l">
              <a:spcAft>
                <a:spcPts val="400"/>
              </a:spcAft>
            </a:pPr>
            <a:r>
              <a:rPr sz="1300" b="1" i="0">
                <a:solidFill>
                  <a:srgbClr val="1B2A41"/>
                </a:solidFill>
                <a:latin typeface="Calibri"/>
              </a:rPr>
              <a:t>Break</a:t>
            </a:r>
            <a:r>
              <a:rPr sz="1100" b="0" i="0">
                <a:solidFill>
                  <a:srgbClr val="5B6770"/>
                </a:solidFill>
                <a:latin typeface="Calibri"/>
              </a:rPr>
              <a:t>   </a:t>
            </a:r>
          </a:p>
        </p:txBody>
      </p:sp>
      <p:sp>
        <p:nvSpPr>
          <p:cNvPr id="10" name="Rounded Rectangle 9"/>
          <p:cNvSpPr/>
          <p:nvPr/>
        </p:nvSpPr>
        <p:spPr>
          <a:xfrm>
            <a:off x="548640" y="3648456"/>
            <a:ext cx="5440680" cy="530352"/>
          </a:xfrm>
          <a:prstGeom prst="roundRect">
            <a:avLst>
              <a:gd name="adj" fmla="val 1724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1792" y="3730752"/>
            <a:ext cx="1371600" cy="365759"/>
          </a:xfrm>
          <a:prstGeom prst="roundRect">
            <a:avLst>
              <a:gd name="adj" fmla="val 25000"/>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i="0">
                <a:solidFill>
                  <a:srgbClr val="FFFFFF"/>
                </a:solidFill>
                <a:latin typeface="Calibri"/>
              </a:rPr>
              <a:t>10:20-11:40</a:t>
            </a:r>
          </a:p>
        </p:txBody>
      </p:sp>
      <p:sp>
        <p:nvSpPr>
          <p:cNvPr id="12" name="TextBox 11"/>
          <p:cNvSpPr txBox="1"/>
          <p:nvPr/>
        </p:nvSpPr>
        <p:spPr>
          <a:xfrm>
            <a:off x="2084832" y="3648456"/>
            <a:ext cx="3840480" cy="530352"/>
          </a:xfrm>
          <a:prstGeom prst="rect">
            <a:avLst/>
          </a:prstGeom>
          <a:noFill/>
        </p:spPr>
        <p:txBody>
          <a:bodyPr wrap="square" lIns="18288" tIns="18288" rIns="18288" bIns="18288" anchor="ctr">
            <a:spAutoFit/>
          </a:bodyPr>
          <a:lstStyle/>
          <a:p>
            <a:pPr algn="l">
              <a:spcAft>
                <a:spcPts val="400"/>
              </a:spcAft>
            </a:pPr>
            <a:r>
              <a:rPr sz="1300" b="1" i="0">
                <a:solidFill>
                  <a:srgbClr val="1B2A41"/>
                </a:solidFill>
                <a:latin typeface="Calibri"/>
              </a:rPr>
              <a:t>Block 2A: Input, conversion, precedence</a:t>
            </a:r>
            <a:r>
              <a:rPr sz="1100" b="0" i="0">
                <a:solidFill>
                  <a:srgbClr val="5B6770"/>
                </a:solidFill>
                <a:latin typeface="Calibri"/>
              </a:rPr>
              <a:t>   Teach, code</a:t>
            </a:r>
          </a:p>
        </p:txBody>
      </p:sp>
      <p:sp>
        <p:nvSpPr>
          <p:cNvPr id="13" name="Rounded Rectangle 12"/>
          <p:cNvSpPr/>
          <p:nvPr/>
        </p:nvSpPr>
        <p:spPr>
          <a:xfrm>
            <a:off x="548640" y="4261104"/>
            <a:ext cx="5440680" cy="530352"/>
          </a:xfrm>
          <a:prstGeom prst="roundRect">
            <a:avLst>
              <a:gd name="adj" fmla="val 1724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21792" y="4343400"/>
            <a:ext cx="1371600" cy="365759"/>
          </a:xfrm>
          <a:prstGeom prst="roundRect">
            <a:avLst>
              <a:gd name="adj" fmla="val 25000"/>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i="0">
                <a:solidFill>
                  <a:srgbClr val="FFFFFF"/>
                </a:solidFill>
                <a:latin typeface="Calibri"/>
              </a:rPr>
              <a:t>11:40-13:00</a:t>
            </a:r>
          </a:p>
        </p:txBody>
      </p:sp>
      <p:sp>
        <p:nvSpPr>
          <p:cNvPr id="15" name="TextBox 14"/>
          <p:cNvSpPr txBox="1"/>
          <p:nvPr/>
        </p:nvSpPr>
        <p:spPr>
          <a:xfrm>
            <a:off x="2084832" y="4261104"/>
            <a:ext cx="3840480" cy="530352"/>
          </a:xfrm>
          <a:prstGeom prst="rect">
            <a:avLst/>
          </a:prstGeom>
          <a:noFill/>
        </p:spPr>
        <p:txBody>
          <a:bodyPr wrap="square" lIns="18288" tIns="18288" rIns="18288" bIns="18288" anchor="ctr">
            <a:spAutoFit/>
          </a:bodyPr>
          <a:lstStyle/>
          <a:p>
            <a:pPr algn="l">
              <a:spcAft>
                <a:spcPts val="400"/>
              </a:spcAft>
            </a:pPr>
            <a:r>
              <a:rPr sz="1300" b="1" i="0">
                <a:solidFill>
                  <a:srgbClr val="1B2A41"/>
                </a:solidFill>
                <a:latin typeface="Calibri"/>
              </a:rPr>
              <a:t>Block 2B: Strings and f-strings</a:t>
            </a:r>
            <a:r>
              <a:rPr sz="1100" b="0" i="0">
                <a:solidFill>
                  <a:srgbClr val="5B6770"/>
                </a:solidFill>
                <a:latin typeface="Calibri"/>
              </a:rPr>
              <a:t>   Code</a:t>
            </a:r>
          </a:p>
        </p:txBody>
      </p:sp>
      <p:sp>
        <p:nvSpPr>
          <p:cNvPr id="16" name="Rounded Rectangle 15"/>
          <p:cNvSpPr/>
          <p:nvPr/>
        </p:nvSpPr>
        <p:spPr>
          <a:xfrm>
            <a:off x="6199632" y="2423160"/>
            <a:ext cx="5440680" cy="530352"/>
          </a:xfrm>
          <a:prstGeom prst="roundRect">
            <a:avLst>
              <a:gd name="adj" fmla="val 17241"/>
            </a:avLst>
          </a:prstGeom>
          <a:solidFill>
            <a:srgbClr val="FC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272784" y="2505456"/>
            <a:ext cx="1371600" cy="365759"/>
          </a:xfrm>
          <a:prstGeom prst="roundRect">
            <a:avLst>
              <a:gd name="adj" fmla="val 25000"/>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i="0">
                <a:solidFill>
                  <a:srgbClr val="FFFFFF"/>
                </a:solidFill>
                <a:latin typeface="Calibri"/>
              </a:rPr>
              <a:t>13:00-13:30</a:t>
            </a:r>
          </a:p>
        </p:txBody>
      </p:sp>
      <p:sp>
        <p:nvSpPr>
          <p:cNvPr id="18" name="TextBox 17"/>
          <p:cNvSpPr txBox="1"/>
          <p:nvPr/>
        </p:nvSpPr>
        <p:spPr>
          <a:xfrm>
            <a:off x="7735824" y="2423160"/>
            <a:ext cx="3840480" cy="530352"/>
          </a:xfrm>
          <a:prstGeom prst="rect">
            <a:avLst/>
          </a:prstGeom>
          <a:noFill/>
        </p:spPr>
        <p:txBody>
          <a:bodyPr wrap="square" lIns="18288" tIns="18288" rIns="18288" bIns="18288" anchor="ctr">
            <a:spAutoFit/>
          </a:bodyPr>
          <a:lstStyle/>
          <a:p>
            <a:pPr algn="l">
              <a:spcAft>
                <a:spcPts val="400"/>
              </a:spcAft>
            </a:pPr>
            <a:r>
              <a:rPr sz="1300" b="1" i="0">
                <a:solidFill>
                  <a:srgbClr val="1B2A41"/>
                </a:solidFill>
                <a:latin typeface="Calibri"/>
              </a:rPr>
              <a:t>Break: lunch</a:t>
            </a:r>
            <a:r>
              <a:rPr sz="1100" b="0" i="0">
                <a:solidFill>
                  <a:srgbClr val="5B6770"/>
                </a:solidFill>
                <a:latin typeface="Calibri"/>
              </a:rPr>
              <a:t>   </a:t>
            </a:r>
          </a:p>
        </p:txBody>
      </p:sp>
      <p:sp>
        <p:nvSpPr>
          <p:cNvPr id="19" name="Rounded Rectangle 18"/>
          <p:cNvSpPr/>
          <p:nvPr/>
        </p:nvSpPr>
        <p:spPr>
          <a:xfrm>
            <a:off x="6199632" y="3035808"/>
            <a:ext cx="5440680" cy="530352"/>
          </a:xfrm>
          <a:prstGeom prst="roundRect">
            <a:avLst>
              <a:gd name="adj" fmla="val 1724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72784" y="3118103"/>
            <a:ext cx="1371600" cy="365759"/>
          </a:xfrm>
          <a:prstGeom prst="roundRect">
            <a:avLst>
              <a:gd name="adj" fmla="val 25000"/>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i="0">
                <a:solidFill>
                  <a:srgbClr val="FFFFFF"/>
                </a:solidFill>
                <a:latin typeface="Calibri"/>
              </a:rPr>
              <a:t>13:30-15:00</a:t>
            </a:r>
          </a:p>
        </p:txBody>
      </p:sp>
      <p:sp>
        <p:nvSpPr>
          <p:cNvPr id="21" name="TextBox 20"/>
          <p:cNvSpPr txBox="1"/>
          <p:nvPr/>
        </p:nvSpPr>
        <p:spPr>
          <a:xfrm>
            <a:off x="7735824" y="3035808"/>
            <a:ext cx="3840480" cy="530352"/>
          </a:xfrm>
          <a:prstGeom prst="rect">
            <a:avLst/>
          </a:prstGeom>
          <a:noFill/>
        </p:spPr>
        <p:txBody>
          <a:bodyPr wrap="square" lIns="18288" tIns="18288" rIns="18288" bIns="18288" anchor="ctr">
            <a:spAutoFit/>
          </a:bodyPr>
          <a:lstStyle/>
          <a:p>
            <a:pPr algn="l">
              <a:spcAft>
                <a:spcPts val="400"/>
              </a:spcAft>
            </a:pPr>
            <a:r>
              <a:rPr sz="1300" b="1" i="0">
                <a:solidFill>
                  <a:srgbClr val="1B2A41"/>
                </a:solidFill>
                <a:latin typeface="Calibri"/>
              </a:rPr>
              <a:t>Practical: math module and testing</a:t>
            </a:r>
            <a:r>
              <a:rPr sz="1100" b="0" i="0">
                <a:solidFill>
                  <a:srgbClr val="5B6770"/>
                </a:solidFill>
                <a:latin typeface="Calibri"/>
              </a:rPr>
              <a:t>   Core practical</a:t>
            </a:r>
          </a:p>
        </p:txBody>
      </p:sp>
      <p:sp>
        <p:nvSpPr>
          <p:cNvPr id="22" name="Rounded Rectangle 21"/>
          <p:cNvSpPr/>
          <p:nvPr/>
        </p:nvSpPr>
        <p:spPr>
          <a:xfrm>
            <a:off x="6199632" y="3648456"/>
            <a:ext cx="5440680" cy="530352"/>
          </a:xfrm>
          <a:prstGeom prst="roundRect">
            <a:avLst>
              <a:gd name="adj" fmla="val 17241"/>
            </a:avLst>
          </a:prstGeom>
          <a:solidFill>
            <a:srgbClr val="FC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272784" y="3730752"/>
            <a:ext cx="1371600" cy="365759"/>
          </a:xfrm>
          <a:prstGeom prst="roundRect">
            <a:avLst>
              <a:gd name="adj" fmla="val 25000"/>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i="0">
                <a:solidFill>
                  <a:srgbClr val="FFFFFF"/>
                </a:solidFill>
                <a:latin typeface="Calibri"/>
              </a:rPr>
              <a:t>15:00-15:20</a:t>
            </a:r>
          </a:p>
        </p:txBody>
      </p:sp>
      <p:sp>
        <p:nvSpPr>
          <p:cNvPr id="24" name="TextBox 23"/>
          <p:cNvSpPr txBox="1"/>
          <p:nvPr/>
        </p:nvSpPr>
        <p:spPr>
          <a:xfrm>
            <a:off x="7735824" y="3648456"/>
            <a:ext cx="3840480" cy="530352"/>
          </a:xfrm>
          <a:prstGeom prst="rect">
            <a:avLst/>
          </a:prstGeom>
          <a:noFill/>
        </p:spPr>
        <p:txBody>
          <a:bodyPr wrap="square" lIns="18288" tIns="18288" rIns="18288" bIns="18288" anchor="ctr">
            <a:spAutoFit/>
          </a:bodyPr>
          <a:lstStyle/>
          <a:p>
            <a:pPr algn="l">
              <a:spcAft>
                <a:spcPts val="400"/>
              </a:spcAft>
            </a:pPr>
            <a:r>
              <a:rPr sz="1300" b="1" i="0">
                <a:solidFill>
                  <a:srgbClr val="1B2A41"/>
                </a:solidFill>
                <a:latin typeface="Calibri"/>
              </a:rPr>
              <a:t>Break</a:t>
            </a:r>
            <a:r>
              <a:rPr sz="1100" b="0" i="0">
                <a:solidFill>
                  <a:srgbClr val="5B6770"/>
                </a:solidFill>
                <a:latin typeface="Calibri"/>
              </a:rPr>
              <a:t>   </a:t>
            </a:r>
          </a:p>
        </p:txBody>
      </p:sp>
      <p:sp>
        <p:nvSpPr>
          <p:cNvPr id="25" name="Rounded Rectangle 24"/>
          <p:cNvSpPr/>
          <p:nvPr/>
        </p:nvSpPr>
        <p:spPr>
          <a:xfrm>
            <a:off x="6199632" y="4261104"/>
            <a:ext cx="5440680" cy="530352"/>
          </a:xfrm>
          <a:prstGeom prst="roundRect">
            <a:avLst>
              <a:gd name="adj" fmla="val 1724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272784" y="4343400"/>
            <a:ext cx="1371600" cy="365759"/>
          </a:xfrm>
          <a:prstGeom prst="roundRect">
            <a:avLst>
              <a:gd name="adj" fmla="val 25000"/>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i="0">
                <a:solidFill>
                  <a:srgbClr val="FFFFFF"/>
                </a:solidFill>
                <a:latin typeface="Calibri"/>
              </a:rPr>
              <a:t>15:20-17:00</a:t>
            </a:r>
          </a:p>
        </p:txBody>
      </p:sp>
      <p:sp>
        <p:nvSpPr>
          <p:cNvPr id="27" name="TextBox 26"/>
          <p:cNvSpPr txBox="1"/>
          <p:nvPr/>
        </p:nvSpPr>
        <p:spPr>
          <a:xfrm>
            <a:off x="7735824" y="4261104"/>
            <a:ext cx="3840480" cy="530352"/>
          </a:xfrm>
          <a:prstGeom prst="rect">
            <a:avLst/>
          </a:prstGeom>
          <a:noFill/>
        </p:spPr>
        <p:txBody>
          <a:bodyPr wrap="square" lIns="18288" tIns="18288" rIns="18288" bIns="18288" anchor="ctr">
            <a:spAutoFit/>
          </a:bodyPr>
          <a:lstStyle/>
          <a:p>
            <a:pPr algn="l">
              <a:spcAft>
                <a:spcPts val="400"/>
              </a:spcAft>
            </a:pPr>
            <a:r>
              <a:rPr sz="1300" b="1" i="0">
                <a:solidFill>
                  <a:srgbClr val="1B2A41"/>
                </a:solidFill>
                <a:latin typeface="Calibri"/>
              </a:rPr>
              <a:t>Consolidation: design an assessment</a:t>
            </a:r>
            <a:r>
              <a:rPr sz="1100" b="0" i="0">
                <a:solidFill>
                  <a:srgbClr val="5B6770"/>
                </a:solidFill>
                <a:latin typeface="Calibri"/>
              </a:rPr>
              <a:t>   Create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897112" cy="822960"/>
          </a:xfrm>
        </p:spPr>
        <p:txBody>
          <a:bodyPr wrap="square" anchor="ctr"/>
          <a:lstStyle/>
          <a:p>
            <a:pPr algn="l"/>
            <a:r>
              <a:rPr sz="3200" b="1">
                <a:solidFill>
                  <a:srgbClr val="085797"/>
                </a:solidFill>
                <a:latin typeface="Calibri"/>
              </a:rPr>
              <a:t>What you hand in by 17:00</a:t>
            </a:r>
          </a:p>
        </p:txBody>
      </p:sp>
      <p:sp>
        <p:nvSpPr>
          <p:cNvPr id="3" name="Rounded Rectangle 2"/>
          <p:cNvSpPr/>
          <p:nvPr/>
        </p:nvSpPr>
        <p:spPr>
          <a:xfrm>
            <a:off x="9628632" y="457200"/>
            <a:ext cx="201168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Evidence focus</a:t>
            </a:r>
          </a:p>
        </p:txBody>
      </p:sp>
      <p:sp>
        <p:nvSpPr>
          <p:cNvPr id="18" name="Rounded Rectangle 17"/>
          <p:cNvSpPr/>
          <p:nvPr/>
        </p:nvSpPr>
        <p:spPr>
          <a:xfrm>
            <a:off x="548640" y="4526280"/>
            <a:ext cx="11091672" cy="1097280"/>
          </a:xfrm>
          <a:prstGeom prst="roundRect">
            <a:avLst>
              <a:gd name="adj" fmla="val 10000"/>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l">
              <a:spcAft>
                <a:spcPts val="200"/>
              </a:spcAft>
            </a:pPr>
            <a:r>
              <a:rPr sz="1700" b="1" i="0">
                <a:solidFill>
                  <a:srgbClr val="085797"/>
                </a:solidFill>
                <a:latin typeface="Calibri"/>
              </a:rPr>
              <a:t>Everything else you create today is extra evidence for your Portfolio of Evidence (PoE). </a:t>
            </a:r>
            <a:r>
              <a:rPr sz="1700" b="0" i="0">
                <a:solidFill>
                  <a:srgbClr val="1B2A41"/>
                </a:solidFill>
                <a:latin typeface="Calibri"/>
              </a:rPr>
              <a:t>All programs live in the GitHub folder </a:t>
            </a:r>
            <a:r>
              <a:rPr sz="1700" b="1" i="0">
                <a:solidFill>
                  <a:srgbClr val="1B2A41"/>
                </a:solidFill>
                <a:latin typeface="Courier New"/>
              </a:rPr>
              <a:t>day3</a:t>
            </a:r>
            <a:r>
              <a:rPr sz="1700" b="0" i="0">
                <a:solidFill>
                  <a:srgbClr val="1B2A41"/>
                </a:solidFill>
                <a:latin typeface="Calibri"/>
              </a:rPr>
              <a:t>.</a:t>
            </a:r>
          </a:p>
        </p:txBody>
      </p:sp>
      <p:sp>
        <p:nvSpPr>
          <p:cNvPr id="19" name="Rounded Rectangle 18"/>
          <p:cNvSpPr/>
          <p:nvPr/>
        </p:nvSpPr>
        <p:spPr>
          <a:xfrm>
            <a:off x="548640" y="1280160"/>
            <a:ext cx="3593592" cy="3063240"/>
          </a:xfrm>
          <a:prstGeom prst="roundRect">
            <a:avLst>
              <a:gd name="adj" fmla="val 4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48640" y="1280160"/>
            <a:ext cx="3593592" cy="548640"/>
          </a:xfrm>
          <a:prstGeom prst="roundRect">
            <a:avLst>
              <a:gd name="adj" fmla="val 20000"/>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Upload 1</a:t>
            </a:r>
          </a:p>
        </p:txBody>
      </p:sp>
      <p:sp>
        <p:nvSpPr>
          <p:cNvPr id="21" name="Folded Corner 20"/>
          <p:cNvSpPr/>
          <p:nvPr/>
        </p:nvSpPr>
        <p:spPr>
          <a:xfrm>
            <a:off x="822959" y="1965960"/>
            <a:ext cx="3044952" cy="475488"/>
          </a:xfrm>
          <a:prstGeom prst="foldedCorner">
            <a:avLst/>
          </a:prstGeom>
          <a:solidFill>
            <a:srgbClr val="FFFFFF"/>
          </a:solidFill>
          <a:ln w="15875">
            <a:solidFill>
              <a:srgbClr val="085797"/>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l"/>
            <a:r>
              <a:rPr sz="1300" b="1">
                <a:solidFill>
                  <a:srgbClr val="1B2A41"/>
                </a:solidFill>
                <a:latin typeface="Courier New"/>
              </a:rPr>
              <a:t>03_area_m2.py</a:t>
            </a:r>
          </a:p>
        </p:txBody>
      </p:sp>
      <p:sp>
        <p:nvSpPr>
          <p:cNvPr id="22" name="Folded Corner 21"/>
          <p:cNvSpPr/>
          <p:nvPr/>
        </p:nvSpPr>
        <p:spPr>
          <a:xfrm>
            <a:off x="822959" y="2532888"/>
            <a:ext cx="3044952" cy="475488"/>
          </a:xfrm>
          <a:prstGeom prst="foldedCorner">
            <a:avLst/>
          </a:prstGeom>
          <a:solidFill>
            <a:srgbClr val="FFFFFF"/>
          </a:solidFill>
          <a:ln w="15875">
            <a:solidFill>
              <a:srgbClr val="085797"/>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l"/>
            <a:r>
              <a:rPr sz="1300" b="1">
                <a:solidFill>
                  <a:srgbClr val="1B2A41"/>
                </a:solidFill>
                <a:latin typeface="Courier New"/>
              </a:rPr>
              <a:t>03_average.py</a:t>
            </a:r>
          </a:p>
        </p:txBody>
      </p:sp>
      <p:sp>
        <p:nvSpPr>
          <p:cNvPr id="23" name="TextBox 22"/>
          <p:cNvSpPr txBox="1"/>
          <p:nvPr/>
        </p:nvSpPr>
        <p:spPr>
          <a:xfrm>
            <a:off x="731520" y="3200400"/>
            <a:ext cx="3227832" cy="1097280"/>
          </a:xfrm>
          <a:prstGeom prst="rect">
            <a:avLst/>
          </a:prstGeom>
          <a:noFill/>
        </p:spPr>
        <p:txBody>
          <a:bodyPr wrap="square">
            <a:spAutoFit/>
          </a:bodyPr>
          <a:lstStyle/>
          <a:p>
            <a:pPr algn="ctr"/>
            <a:r>
              <a:rPr sz="1700" b="1">
                <a:solidFill>
                  <a:srgbClr val="085797"/>
                </a:solidFill>
                <a:latin typeface="Calibri"/>
              </a:rPr>
              <a:t>Calculation programs</a:t>
            </a:r>
          </a:p>
          <a:p>
            <a:pPr algn="ctr"/>
            <a:r>
              <a:rPr sz="1500">
                <a:solidFill>
                  <a:srgbClr val="1B2A41"/>
                </a:solidFill>
                <a:latin typeface="Calibri"/>
              </a:rPr>
              <a:t>Input, conversion, arithmetic and two-decimal output</a:t>
            </a:r>
          </a:p>
        </p:txBody>
      </p:sp>
      <p:sp>
        <p:nvSpPr>
          <p:cNvPr id="24" name="Rounded Rectangle 23"/>
          <p:cNvSpPr/>
          <p:nvPr/>
        </p:nvSpPr>
        <p:spPr>
          <a:xfrm>
            <a:off x="4297679" y="1280160"/>
            <a:ext cx="3593592" cy="3063240"/>
          </a:xfrm>
          <a:prstGeom prst="roundRect">
            <a:avLst>
              <a:gd name="adj" fmla="val 4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297679" y="1280160"/>
            <a:ext cx="3593592" cy="548640"/>
          </a:xfrm>
          <a:prstGeom prst="roundRect">
            <a:avLst>
              <a:gd name="adj" fmla="val 20000"/>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Upload 2</a:t>
            </a:r>
          </a:p>
        </p:txBody>
      </p:sp>
      <p:sp>
        <p:nvSpPr>
          <p:cNvPr id="26" name="Folded Corner 25"/>
          <p:cNvSpPr/>
          <p:nvPr/>
        </p:nvSpPr>
        <p:spPr>
          <a:xfrm>
            <a:off x="4571999" y="1965960"/>
            <a:ext cx="3044952" cy="475488"/>
          </a:xfrm>
          <a:prstGeom prst="foldedCorner">
            <a:avLst/>
          </a:prstGeom>
          <a:solidFill>
            <a:srgbClr val="FFFFFF"/>
          </a:solidFill>
          <a:ln w="15875">
            <a:solidFill>
              <a:srgbClr val="E31E3B"/>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l"/>
            <a:r>
              <a:rPr sz="1300" b="1">
                <a:solidFill>
                  <a:srgbClr val="1B2A41"/>
                </a:solidFill>
                <a:latin typeface="Courier New"/>
              </a:rPr>
              <a:t>05_hypotenuse.py</a:t>
            </a:r>
          </a:p>
        </p:txBody>
      </p:sp>
      <p:sp>
        <p:nvSpPr>
          <p:cNvPr id="27" name="Folded Corner 26"/>
          <p:cNvSpPr/>
          <p:nvPr/>
        </p:nvSpPr>
        <p:spPr>
          <a:xfrm>
            <a:off x="4571999" y="2532888"/>
            <a:ext cx="3044952" cy="475488"/>
          </a:xfrm>
          <a:prstGeom prst="foldedCorner">
            <a:avLst/>
          </a:prstGeom>
          <a:solidFill>
            <a:srgbClr val="FFFFFF"/>
          </a:solidFill>
          <a:ln w="15875">
            <a:solidFill>
              <a:srgbClr val="E31E3B"/>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l"/>
            <a:r>
              <a:rPr sz="1300" b="1">
                <a:solidFill>
                  <a:srgbClr val="1B2A41"/>
                </a:solidFill>
                <a:latin typeface="Courier New"/>
              </a:rPr>
              <a:t>05_test_table.md</a:t>
            </a:r>
          </a:p>
        </p:txBody>
      </p:sp>
      <p:sp>
        <p:nvSpPr>
          <p:cNvPr id="28" name="TextBox 27"/>
          <p:cNvSpPr txBox="1"/>
          <p:nvPr/>
        </p:nvSpPr>
        <p:spPr>
          <a:xfrm>
            <a:off x="4480559" y="3200400"/>
            <a:ext cx="3227832" cy="1097280"/>
          </a:xfrm>
          <a:prstGeom prst="rect">
            <a:avLst/>
          </a:prstGeom>
          <a:noFill/>
        </p:spPr>
        <p:txBody>
          <a:bodyPr wrap="square">
            <a:spAutoFit/>
          </a:bodyPr>
          <a:lstStyle/>
          <a:p>
            <a:pPr algn="ctr"/>
            <a:r>
              <a:rPr sz="1700" b="1">
                <a:solidFill>
                  <a:srgbClr val="E31E3B"/>
                </a:solidFill>
                <a:latin typeface="Calibri"/>
              </a:rPr>
              <a:t>Hypotenuse program</a:t>
            </a:r>
          </a:p>
          <a:p>
            <a:pPr algn="ctr"/>
            <a:r>
              <a:rPr sz="1500">
                <a:solidFill>
                  <a:srgbClr val="1B2A41"/>
                </a:solidFill>
                <a:latin typeface="Calibri"/>
              </a:rPr>
              <a:t>With a completed test table</a:t>
            </a:r>
          </a:p>
        </p:txBody>
      </p:sp>
      <p:sp>
        <p:nvSpPr>
          <p:cNvPr id="29" name="Rounded Rectangle 28"/>
          <p:cNvSpPr/>
          <p:nvPr/>
        </p:nvSpPr>
        <p:spPr>
          <a:xfrm>
            <a:off x="8046719" y="1280160"/>
            <a:ext cx="3593592" cy="3063240"/>
          </a:xfrm>
          <a:prstGeom prst="roundRect">
            <a:avLst>
              <a:gd name="adj" fmla="val 4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046719" y="1280160"/>
            <a:ext cx="3593592" cy="548640"/>
          </a:xfrm>
          <a:prstGeom prst="roundRect">
            <a:avLst>
              <a:gd name="adj" fmla="val 2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Upload 3</a:t>
            </a:r>
          </a:p>
        </p:txBody>
      </p:sp>
      <p:sp>
        <p:nvSpPr>
          <p:cNvPr id="31" name="Folded Corner 30"/>
          <p:cNvSpPr/>
          <p:nvPr/>
        </p:nvSpPr>
        <p:spPr>
          <a:xfrm>
            <a:off x="8321040" y="1965960"/>
            <a:ext cx="3044952" cy="475488"/>
          </a:xfrm>
          <a:prstGeom prst="foldedCorner">
            <a:avLst/>
          </a:prstGeom>
          <a:solidFill>
            <a:srgbClr val="FFFFFF"/>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l"/>
            <a:r>
              <a:rPr sz="1300" b="1">
                <a:solidFill>
                  <a:srgbClr val="1B2A41"/>
                </a:solidFill>
                <a:latin typeface="Courier New"/>
              </a:rPr>
              <a:t>assessment_learner.md</a:t>
            </a:r>
          </a:p>
        </p:txBody>
      </p:sp>
      <p:sp>
        <p:nvSpPr>
          <p:cNvPr id="32" name="Folded Corner 31"/>
          <p:cNvSpPr/>
          <p:nvPr/>
        </p:nvSpPr>
        <p:spPr>
          <a:xfrm>
            <a:off x="8321040" y="2532888"/>
            <a:ext cx="3044952" cy="475488"/>
          </a:xfrm>
          <a:prstGeom prst="foldedCorner">
            <a:avLst/>
          </a:prstGeom>
          <a:solidFill>
            <a:srgbClr val="FFFFFF"/>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l"/>
            <a:r>
              <a:rPr sz="1300" b="1">
                <a:solidFill>
                  <a:srgbClr val="1B2A41"/>
                </a:solidFill>
                <a:latin typeface="Courier New"/>
              </a:rPr>
              <a:t>assessment_memo.md</a:t>
            </a:r>
          </a:p>
        </p:txBody>
      </p:sp>
      <p:sp>
        <p:nvSpPr>
          <p:cNvPr id="33" name="TextBox 32"/>
          <p:cNvSpPr txBox="1"/>
          <p:nvPr/>
        </p:nvSpPr>
        <p:spPr>
          <a:xfrm>
            <a:off x="8229599" y="3200400"/>
            <a:ext cx="3227832" cy="1097280"/>
          </a:xfrm>
          <a:prstGeom prst="rect">
            <a:avLst/>
          </a:prstGeom>
          <a:noFill/>
        </p:spPr>
        <p:txBody>
          <a:bodyPr wrap="square">
            <a:spAutoFit/>
          </a:bodyPr>
          <a:lstStyle/>
          <a:p>
            <a:pPr algn="ctr"/>
            <a:r>
              <a:rPr sz="1700" b="1">
                <a:solidFill>
                  <a:srgbClr val="2E8B57"/>
                </a:solidFill>
                <a:latin typeface="Calibri"/>
              </a:rPr>
              <a:t>Your own assessment</a:t>
            </a:r>
          </a:p>
          <a:p>
            <a:pPr algn="ctr"/>
            <a:r>
              <a:rPr sz="1500">
                <a:solidFill>
                  <a:srgbClr val="1B2A41"/>
                </a:solidFill>
                <a:latin typeface="Calibri"/>
              </a:rPr>
              <a:t>Task with its memorandum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348472" cy="822960"/>
          </a:xfrm>
        </p:spPr>
        <p:txBody>
          <a:bodyPr wrap="square" anchor="ctr"/>
          <a:lstStyle/>
          <a:p>
            <a:pPr algn="l"/>
            <a:r>
              <a:rPr sz="3200" b="1">
                <a:solidFill>
                  <a:srgbClr val="085797"/>
                </a:solidFill>
                <a:latin typeface="Calibri"/>
              </a:rPr>
              <a:t>The four types you need</a:t>
            </a:r>
          </a:p>
        </p:txBody>
      </p:sp>
      <p:sp>
        <p:nvSpPr>
          <p:cNvPr id="3" name="Rounded Rectangle 2"/>
          <p:cNvSpPr/>
          <p:nvPr/>
        </p:nvSpPr>
        <p:spPr>
          <a:xfrm>
            <a:off x="9079992" y="457200"/>
            <a:ext cx="256032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1 · Data types</a:t>
            </a:r>
          </a:p>
        </p:txBody>
      </p:sp>
      <p:sp>
        <p:nvSpPr>
          <p:cNvPr id="4" name="Rounded Rectangle 3"/>
          <p:cNvSpPr/>
          <p:nvPr/>
        </p:nvSpPr>
        <p:spPr>
          <a:xfrm>
            <a:off x="548640" y="1280160"/>
            <a:ext cx="2651760" cy="2606040"/>
          </a:xfrm>
          <a:prstGeom prst="roundRect">
            <a:avLst>
              <a:gd name="adj" fmla="val 4912"/>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280160"/>
            <a:ext cx="2651760" cy="594360"/>
          </a:xfrm>
          <a:prstGeom prst="roundRect">
            <a:avLst>
              <a:gd name="adj" fmla="val 21538"/>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400" b="1" i="0">
                <a:solidFill>
                  <a:srgbClr val="FFFFFF"/>
                </a:solidFill>
                <a:latin typeface="Courier New"/>
              </a:rPr>
              <a:t>int</a:t>
            </a:r>
          </a:p>
        </p:txBody>
      </p:sp>
      <p:sp>
        <p:nvSpPr>
          <p:cNvPr id="6" name="TextBox 5"/>
          <p:cNvSpPr txBox="1"/>
          <p:nvPr/>
        </p:nvSpPr>
        <p:spPr>
          <a:xfrm>
            <a:off x="640080" y="1965960"/>
            <a:ext cx="2468880" cy="457200"/>
          </a:xfrm>
          <a:prstGeom prst="rect">
            <a:avLst/>
          </a:prstGeom>
          <a:noFill/>
        </p:spPr>
        <p:txBody>
          <a:bodyPr wrap="square" lIns="45720" rIns="45720" anchor="t">
            <a:spAutoFit/>
          </a:bodyPr>
          <a:lstStyle/>
          <a:p>
            <a:pPr algn="ctr">
              <a:spcAft>
                <a:spcPts val="400"/>
              </a:spcAft>
            </a:pPr>
            <a:r>
              <a:rPr sz="1500" b="1" i="0">
                <a:solidFill>
                  <a:srgbClr val="1B2A41"/>
                </a:solidFill>
                <a:latin typeface="Calibri"/>
              </a:rPr>
              <a:t>Whole numbers</a:t>
            </a:r>
          </a:p>
        </p:txBody>
      </p:sp>
      <p:sp>
        <p:nvSpPr>
          <p:cNvPr id="7" name="Rounded Rectangle 6"/>
          <p:cNvSpPr/>
          <p:nvPr/>
        </p:nvSpPr>
        <p:spPr>
          <a:xfrm>
            <a:off x="960120" y="2468880"/>
            <a:ext cx="1828800" cy="548640"/>
          </a:xfrm>
          <a:prstGeom prst="roundRect">
            <a:avLst>
              <a:gd name="adj" fmla="val 16666"/>
            </a:avLst>
          </a:prstGeom>
          <a:solidFill>
            <a:srgbClr val="FFFFFF"/>
          </a:solidFill>
          <a:ln w="22225">
            <a:solidFill>
              <a:srgbClr val="085797"/>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000" b="1" i="0">
                <a:solidFill>
                  <a:srgbClr val="1B2A41"/>
                </a:solidFill>
                <a:latin typeface="Courier New"/>
              </a:rPr>
              <a:t>42</a:t>
            </a:r>
          </a:p>
        </p:txBody>
      </p:sp>
      <p:sp>
        <p:nvSpPr>
          <p:cNvPr id="8" name="TextBox 7"/>
          <p:cNvSpPr txBox="1"/>
          <p:nvPr/>
        </p:nvSpPr>
        <p:spPr>
          <a:xfrm>
            <a:off x="640080" y="3200400"/>
            <a:ext cx="2468880" cy="457200"/>
          </a:xfrm>
          <a:prstGeom prst="rect">
            <a:avLst/>
          </a:prstGeom>
          <a:noFill/>
        </p:spPr>
        <p:txBody>
          <a:bodyPr wrap="square" lIns="45720" rIns="45720" anchor="t">
            <a:spAutoFit/>
          </a:bodyPr>
          <a:lstStyle/>
          <a:p>
            <a:pPr algn="ctr">
              <a:spcAft>
                <a:spcPts val="400"/>
              </a:spcAft>
            </a:pPr>
            <a:r>
              <a:rPr sz="1200" b="0" i="0">
                <a:solidFill>
                  <a:srgbClr val="5B6770"/>
                </a:solidFill>
                <a:latin typeface="Calibri"/>
              </a:rPr>
              <a:t>Check:  </a:t>
            </a:r>
            <a:r>
              <a:rPr sz="1400" b="1" i="0">
                <a:solidFill>
                  <a:srgbClr val="085797"/>
                </a:solidFill>
                <a:latin typeface="Courier New"/>
              </a:rPr>
              <a:t>type(42)</a:t>
            </a:r>
          </a:p>
        </p:txBody>
      </p:sp>
      <p:sp>
        <p:nvSpPr>
          <p:cNvPr id="9" name="Rounded Rectangle 8"/>
          <p:cNvSpPr/>
          <p:nvPr/>
        </p:nvSpPr>
        <p:spPr>
          <a:xfrm>
            <a:off x="3355848" y="1280160"/>
            <a:ext cx="2651760" cy="2606040"/>
          </a:xfrm>
          <a:prstGeom prst="roundRect">
            <a:avLst>
              <a:gd name="adj" fmla="val 4912"/>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55848" y="1280160"/>
            <a:ext cx="2651760" cy="594360"/>
          </a:xfrm>
          <a:prstGeom prst="roundRect">
            <a:avLst>
              <a:gd name="adj" fmla="val 21538"/>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400" b="1" i="0">
                <a:solidFill>
                  <a:srgbClr val="FFFFFF"/>
                </a:solidFill>
                <a:latin typeface="Courier New"/>
              </a:rPr>
              <a:t>float</a:t>
            </a:r>
          </a:p>
        </p:txBody>
      </p:sp>
      <p:sp>
        <p:nvSpPr>
          <p:cNvPr id="11" name="TextBox 10"/>
          <p:cNvSpPr txBox="1"/>
          <p:nvPr/>
        </p:nvSpPr>
        <p:spPr>
          <a:xfrm>
            <a:off x="3447288" y="1965960"/>
            <a:ext cx="2468880" cy="457200"/>
          </a:xfrm>
          <a:prstGeom prst="rect">
            <a:avLst/>
          </a:prstGeom>
          <a:noFill/>
        </p:spPr>
        <p:txBody>
          <a:bodyPr wrap="square" lIns="45720" rIns="45720" anchor="t">
            <a:spAutoFit/>
          </a:bodyPr>
          <a:lstStyle/>
          <a:p>
            <a:pPr algn="ctr">
              <a:spcAft>
                <a:spcPts val="400"/>
              </a:spcAft>
            </a:pPr>
            <a:r>
              <a:rPr sz="1500" b="1" i="0">
                <a:solidFill>
                  <a:srgbClr val="1B2A41"/>
                </a:solidFill>
                <a:latin typeface="Calibri"/>
              </a:rPr>
              <a:t>Decimals with a point</a:t>
            </a:r>
          </a:p>
        </p:txBody>
      </p:sp>
      <p:sp>
        <p:nvSpPr>
          <p:cNvPr id="12" name="Rounded Rectangle 11"/>
          <p:cNvSpPr/>
          <p:nvPr/>
        </p:nvSpPr>
        <p:spPr>
          <a:xfrm>
            <a:off x="3767328" y="2468880"/>
            <a:ext cx="1828800" cy="548640"/>
          </a:xfrm>
          <a:prstGeom prst="roundRect">
            <a:avLst>
              <a:gd name="adj" fmla="val 16666"/>
            </a:avLst>
          </a:prstGeom>
          <a:solidFill>
            <a:srgbClr val="FFFFFF"/>
          </a:solidFill>
          <a:ln w="22225">
            <a:solidFill>
              <a:srgbClr val="2E8B57"/>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000" b="1" i="0">
                <a:solidFill>
                  <a:srgbClr val="1B2A41"/>
                </a:solidFill>
                <a:latin typeface="Courier New"/>
              </a:rPr>
              <a:t>3.14</a:t>
            </a:r>
          </a:p>
        </p:txBody>
      </p:sp>
      <p:sp>
        <p:nvSpPr>
          <p:cNvPr id="13" name="TextBox 12"/>
          <p:cNvSpPr txBox="1"/>
          <p:nvPr/>
        </p:nvSpPr>
        <p:spPr>
          <a:xfrm>
            <a:off x="3447288" y="3200400"/>
            <a:ext cx="2468880" cy="457200"/>
          </a:xfrm>
          <a:prstGeom prst="rect">
            <a:avLst/>
          </a:prstGeom>
          <a:noFill/>
        </p:spPr>
        <p:txBody>
          <a:bodyPr wrap="square" lIns="45720" rIns="45720" anchor="t">
            <a:spAutoFit/>
          </a:bodyPr>
          <a:lstStyle/>
          <a:p>
            <a:pPr algn="ctr">
              <a:spcAft>
                <a:spcPts val="400"/>
              </a:spcAft>
            </a:pPr>
            <a:r>
              <a:rPr sz="1200" b="0" i="0">
                <a:solidFill>
                  <a:srgbClr val="5B6770"/>
                </a:solidFill>
                <a:latin typeface="Calibri"/>
              </a:rPr>
              <a:t>Check:  </a:t>
            </a:r>
            <a:r>
              <a:rPr sz="1400" b="1" i="0">
                <a:solidFill>
                  <a:srgbClr val="2E8B57"/>
                </a:solidFill>
                <a:latin typeface="Courier New"/>
              </a:rPr>
              <a:t>type(3.14)</a:t>
            </a:r>
          </a:p>
        </p:txBody>
      </p:sp>
      <p:sp>
        <p:nvSpPr>
          <p:cNvPr id="14" name="Rounded Rectangle 13"/>
          <p:cNvSpPr/>
          <p:nvPr/>
        </p:nvSpPr>
        <p:spPr>
          <a:xfrm>
            <a:off x="6163055" y="1280160"/>
            <a:ext cx="2651760" cy="2606040"/>
          </a:xfrm>
          <a:prstGeom prst="roundRect">
            <a:avLst>
              <a:gd name="adj" fmla="val 4912"/>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63055" y="1280160"/>
            <a:ext cx="2651760" cy="594360"/>
          </a:xfrm>
          <a:prstGeom prst="roundRect">
            <a:avLst>
              <a:gd name="adj" fmla="val 21538"/>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400" b="1" i="0">
                <a:solidFill>
                  <a:srgbClr val="FFFFFF"/>
                </a:solidFill>
                <a:latin typeface="Courier New"/>
              </a:rPr>
              <a:t>str</a:t>
            </a:r>
          </a:p>
        </p:txBody>
      </p:sp>
      <p:sp>
        <p:nvSpPr>
          <p:cNvPr id="16" name="TextBox 15"/>
          <p:cNvSpPr txBox="1"/>
          <p:nvPr/>
        </p:nvSpPr>
        <p:spPr>
          <a:xfrm>
            <a:off x="6254495" y="1965960"/>
            <a:ext cx="2468880" cy="457200"/>
          </a:xfrm>
          <a:prstGeom prst="rect">
            <a:avLst/>
          </a:prstGeom>
          <a:noFill/>
        </p:spPr>
        <p:txBody>
          <a:bodyPr wrap="square" lIns="45720" rIns="45720" anchor="t">
            <a:spAutoFit/>
          </a:bodyPr>
          <a:lstStyle/>
          <a:p>
            <a:pPr algn="ctr">
              <a:spcAft>
                <a:spcPts val="400"/>
              </a:spcAft>
            </a:pPr>
            <a:r>
              <a:rPr sz="1500" b="1" i="0">
                <a:solidFill>
                  <a:srgbClr val="1B2A41"/>
                </a:solidFill>
                <a:latin typeface="Calibri"/>
              </a:rPr>
              <a:t>Text in quotes</a:t>
            </a:r>
          </a:p>
        </p:txBody>
      </p:sp>
      <p:sp>
        <p:nvSpPr>
          <p:cNvPr id="17" name="Rounded Rectangle 16"/>
          <p:cNvSpPr/>
          <p:nvPr/>
        </p:nvSpPr>
        <p:spPr>
          <a:xfrm>
            <a:off x="6574536" y="2468880"/>
            <a:ext cx="1828800" cy="548640"/>
          </a:xfrm>
          <a:prstGeom prst="roundRect">
            <a:avLst>
              <a:gd name="adj" fmla="val 16666"/>
            </a:avLst>
          </a:prstGeom>
          <a:solidFill>
            <a:srgbClr val="FFFFFF"/>
          </a:solidFill>
          <a:ln w="22225">
            <a:solidFill>
              <a:srgbClr val="E31E3B"/>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000" b="1" i="0">
                <a:solidFill>
                  <a:srgbClr val="1B2A41"/>
                </a:solidFill>
                <a:latin typeface="Courier New"/>
              </a:rPr>
              <a:t>"Thabo"</a:t>
            </a:r>
          </a:p>
        </p:txBody>
      </p:sp>
      <p:sp>
        <p:nvSpPr>
          <p:cNvPr id="18" name="TextBox 17"/>
          <p:cNvSpPr txBox="1"/>
          <p:nvPr/>
        </p:nvSpPr>
        <p:spPr>
          <a:xfrm>
            <a:off x="6254495" y="3200400"/>
            <a:ext cx="2468880" cy="457200"/>
          </a:xfrm>
          <a:prstGeom prst="rect">
            <a:avLst/>
          </a:prstGeom>
          <a:noFill/>
        </p:spPr>
        <p:txBody>
          <a:bodyPr wrap="square" lIns="45720" rIns="45720" anchor="t">
            <a:spAutoFit/>
          </a:bodyPr>
          <a:lstStyle/>
          <a:p>
            <a:pPr algn="ctr">
              <a:spcAft>
                <a:spcPts val="400"/>
              </a:spcAft>
            </a:pPr>
            <a:r>
              <a:rPr sz="1200" b="0" i="0">
                <a:solidFill>
                  <a:srgbClr val="5B6770"/>
                </a:solidFill>
                <a:latin typeface="Calibri"/>
              </a:rPr>
              <a:t>Check:  </a:t>
            </a:r>
            <a:r>
              <a:rPr sz="1400" b="1" i="0">
                <a:solidFill>
                  <a:srgbClr val="E31E3B"/>
                </a:solidFill>
                <a:latin typeface="Courier New"/>
              </a:rPr>
              <a:t>type("Thabo")</a:t>
            </a:r>
          </a:p>
        </p:txBody>
      </p:sp>
      <p:sp>
        <p:nvSpPr>
          <p:cNvPr id="19" name="Rounded Rectangle 18"/>
          <p:cNvSpPr/>
          <p:nvPr/>
        </p:nvSpPr>
        <p:spPr>
          <a:xfrm>
            <a:off x="8970263" y="1280160"/>
            <a:ext cx="2651760" cy="2606040"/>
          </a:xfrm>
          <a:prstGeom prst="roundRect">
            <a:avLst>
              <a:gd name="adj" fmla="val 4912"/>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970263" y="1280160"/>
            <a:ext cx="2651760" cy="594360"/>
          </a:xfrm>
          <a:prstGeom prst="roundRect">
            <a:avLst>
              <a:gd name="adj" fmla="val 21538"/>
            </a:avLst>
          </a:prstGeom>
          <a:solidFill>
            <a:srgbClr val="7A4E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400" b="1" i="0">
                <a:solidFill>
                  <a:srgbClr val="FFFFFF"/>
                </a:solidFill>
                <a:latin typeface="Courier New"/>
              </a:rPr>
              <a:t>bool</a:t>
            </a:r>
          </a:p>
        </p:txBody>
      </p:sp>
      <p:sp>
        <p:nvSpPr>
          <p:cNvPr id="21" name="TextBox 20"/>
          <p:cNvSpPr txBox="1"/>
          <p:nvPr/>
        </p:nvSpPr>
        <p:spPr>
          <a:xfrm>
            <a:off x="9061703" y="1965960"/>
            <a:ext cx="2468880" cy="457200"/>
          </a:xfrm>
          <a:prstGeom prst="rect">
            <a:avLst/>
          </a:prstGeom>
          <a:noFill/>
        </p:spPr>
        <p:txBody>
          <a:bodyPr wrap="square" lIns="45720" rIns="45720" anchor="t">
            <a:spAutoFit/>
          </a:bodyPr>
          <a:lstStyle/>
          <a:p>
            <a:pPr algn="ctr">
              <a:spcAft>
                <a:spcPts val="400"/>
              </a:spcAft>
            </a:pPr>
            <a:r>
              <a:rPr sz="1500" b="1" i="0">
                <a:solidFill>
                  <a:srgbClr val="1B2A41"/>
                </a:solidFill>
                <a:latin typeface="Calibri"/>
              </a:rPr>
              <a:t>True or False</a:t>
            </a:r>
          </a:p>
        </p:txBody>
      </p:sp>
      <p:sp>
        <p:nvSpPr>
          <p:cNvPr id="22" name="Rounded Rectangle 21"/>
          <p:cNvSpPr/>
          <p:nvPr/>
        </p:nvSpPr>
        <p:spPr>
          <a:xfrm>
            <a:off x="9381743" y="2468880"/>
            <a:ext cx="1828800" cy="548640"/>
          </a:xfrm>
          <a:prstGeom prst="roundRect">
            <a:avLst>
              <a:gd name="adj" fmla="val 16666"/>
            </a:avLst>
          </a:prstGeom>
          <a:solidFill>
            <a:srgbClr val="FFFFFF"/>
          </a:solidFill>
          <a:ln w="22225">
            <a:solidFill>
              <a:srgbClr val="7A4EAB"/>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000" b="1" i="0">
                <a:solidFill>
                  <a:srgbClr val="1B2A41"/>
                </a:solidFill>
                <a:latin typeface="Courier New"/>
              </a:rPr>
              <a:t>True</a:t>
            </a:r>
          </a:p>
        </p:txBody>
      </p:sp>
      <p:sp>
        <p:nvSpPr>
          <p:cNvPr id="23" name="TextBox 22"/>
          <p:cNvSpPr txBox="1"/>
          <p:nvPr/>
        </p:nvSpPr>
        <p:spPr>
          <a:xfrm>
            <a:off x="9061703" y="3200400"/>
            <a:ext cx="2468880" cy="457200"/>
          </a:xfrm>
          <a:prstGeom prst="rect">
            <a:avLst/>
          </a:prstGeom>
          <a:noFill/>
        </p:spPr>
        <p:txBody>
          <a:bodyPr wrap="square" lIns="45720" rIns="45720" anchor="t">
            <a:spAutoFit/>
          </a:bodyPr>
          <a:lstStyle/>
          <a:p>
            <a:pPr algn="ctr">
              <a:spcAft>
                <a:spcPts val="400"/>
              </a:spcAft>
            </a:pPr>
            <a:r>
              <a:rPr sz="1200" b="0" i="0">
                <a:solidFill>
                  <a:srgbClr val="5B6770"/>
                </a:solidFill>
                <a:latin typeface="Calibri"/>
              </a:rPr>
              <a:t>Check:  </a:t>
            </a:r>
            <a:r>
              <a:rPr sz="1400" b="1" i="0">
                <a:solidFill>
                  <a:srgbClr val="7A4EAB"/>
                </a:solidFill>
                <a:latin typeface="Courier New"/>
              </a:rPr>
              <a:t>type(True)</a:t>
            </a:r>
          </a:p>
        </p:txBody>
      </p:sp>
      <p:sp>
        <p:nvSpPr>
          <p:cNvPr id="24" name="TextBox 23"/>
          <p:cNvSpPr txBox="1"/>
          <p:nvPr/>
        </p:nvSpPr>
        <p:spPr>
          <a:xfrm>
            <a:off x="548640" y="4023360"/>
            <a:ext cx="11091672" cy="411480"/>
          </a:xfrm>
          <a:prstGeom prst="rect">
            <a:avLst/>
          </a:prstGeom>
          <a:noFill/>
        </p:spPr>
        <p:txBody>
          <a:bodyPr wrap="square" lIns="45720" rIns="45720" anchor="t">
            <a:spAutoFit/>
          </a:bodyPr>
          <a:lstStyle/>
          <a:p>
            <a:pPr algn="l">
              <a:spcAft>
                <a:spcPts val="400"/>
              </a:spcAft>
            </a:pPr>
            <a:r>
              <a:rPr sz="1800" b="1" i="0">
                <a:solidFill>
                  <a:srgbClr val="085797"/>
                </a:solidFill>
                <a:latin typeface="Calibri"/>
              </a:rPr>
              <a:t>The type decides what an operator does</a:t>
            </a:r>
          </a:p>
        </p:txBody>
      </p:sp>
      <p:sp>
        <p:nvSpPr>
          <p:cNvPr id="25" name="Rounded Rectangle 24"/>
          <p:cNvSpPr/>
          <p:nvPr/>
        </p:nvSpPr>
        <p:spPr>
          <a:xfrm>
            <a:off x="548640" y="4480560"/>
            <a:ext cx="3611880" cy="1143000"/>
          </a:xfrm>
          <a:prstGeom prst="roundRect">
            <a:avLst>
              <a:gd name="adj" fmla="val 9600"/>
            </a:avLst>
          </a:prstGeom>
          <a:solidFill>
            <a:srgbClr val="FFFFFF"/>
          </a:solidFill>
          <a:ln w="25400">
            <a:solidFill>
              <a:srgbClr val="085797"/>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200" b="1" i="0">
                <a:solidFill>
                  <a:srgbClr val="1B2A41"/>
                </a:solidFill>
                <a:latin typeface="Courier New"/>
              </a:rPr>
              <a:t>5 + 5</a:t>
            </a:r>
            <a:r>
              <a:rPr sz="1500" b="0" i="0">
                <a:solidFill>
                  <a:srgbClr val="5B6770"/>
                </a:solidFill>
                <a:latin typeface="Calibri"/>
              </a:rPr>
              <a:t>   gives   </a:t>
            </a:r>
            <a:r>
              <a:rPr sz="2200" b="1" i="0">
                <a:solidFill>
                  <a:srgbClr val="085797"/>
                </a:solidFill>
                <a:latin typeface="Courier New"/>
              </a:rPr>
              <a:t>10</a:t>
            </a:r>
          </a:p>
        </p:txBody>
      </p:sp>
      <p:sp>
        <p:nvSpPr>
          <p:cNvPr id="26" name="Rounded Rectangle 25"/>
          <p:cNvSpPr/>
          <p:nvPr/>
        </p:nvSpPr>
        <p:spPr>
          <a:xfrm>
            <a:off x="4297679" y="4480560"/>
            <a:ext cx="3611880" cy="1143000"/>
          </a:xfrm>
          <a:prstGeom prst="roundRect">
            <a:avLst>
              <a:gd name="adj" fmla="val 9600"/>
            </a:avLst>
          </a:prstGeom>
          <a:solidFill>
            <a:srgbClr val="FFFFFF"/>
          </a:solidFill>
          <a:ln w="25400">
            <a:solidFill>
              <a:srgbClr val="E31E3B"/>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200" b="1" i="0">
                <a:solidFill>
                  <a:srgbClr val="1B2A41"/>
                </a:solidFill>
                <a:latin typeface="Courier New"/>
              </a:rPr>
              <a:t>"5" + "5"</a:t>
            </a:r>
            <a:r>
              <a:rPr sz="1500" b="0" i="0">
                <a:solidFill>
                  <a:srgbClr val="5B6770"/>
                </a:solidFill>
                <a:latin typeface="Calibri"/>
              </a:rPr>
              <a:t>   gives   </a:t>
            </a:r>
            <a:r>
              <a:rPr sz="2200" b="1" i="0">
                <a:solidFill>
                  <a:srgbClr val="E31E3B"/>
                </a:solidFill>
                <a:latin typeface="Courier New"/>
              </a:rPr>
              <a:t>55</a:t>
            </a:r>
          </a:p>
        </p:txBody>
      </p:sp>
      <p:sp>
        <p:nvSpPr>
          <p:cNvPr id="27" name="Rounded Rectangle 26"/>
          <p:cNvSpPr/>
          <p:nvPr/>
        </p:nvSpPr>
        <p:spPr>
          <a:xfrm>
            <a:off x="8046719" y="4480560"/>
            <a:ext cx="3611880" cy="1143000"/>
          </a:xfrm>
          <a:prstGeom prst="roundRect">
            <a:avLst>
              <a:gd name="adj" fmla="val 9600"/>
            </a:avLst>
          </a:prstGeom>
          <a:solidFill>
            <a:srgbClr val="FFFFFF"/>
          </a:solidFill>
          <a:ln w="25400">
            <a:solidFill>
              <a:srgbClr val="E31E3B"/>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200" b="1" i="0">
                <a:solidFill>
                  <a:srgbClr val="1B2A41"/>
                </a:solidFill>
                <a:latin typeface="Courier New"/>
              </a:rPr>
              <a:t>"5" * 3</a:t>
            </a:r>
            <a:r>
              <a:rPr sz="1500" b="0" i="0">
                <a:solidFill>
                  <a:srgbClr val="5B6770"/>
                </a:solidFill>
                <a:latin typeface="Calibri"/>
              </a:rPr>
              <a:t>   gives   </a:t>
            </a:r>
            <a:r>
              <a:rPr sz="2200" b="1" i="0">
                <a:solidFill>
                  <a:srgbClr val="E31E3B"/>
                </a:solidFill>
                <a:latin typeface="Courier New"/>
              </a:rPr>
              <a:t>555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165592" cy="822960"/>
          </a:xfrm>
        </p:spPr>
        <p:txBody>
          <a:bodyPr wrap="square" anchor="ctr"/>
          <a:lstStyle/>
          <a:p>
            <a:pPr algn="l"/>
            <a:r>
              <a:rPr sz="3200" b="1">
                <a:solidFill>
                  <a:srgbClr val="085797"/>
                </a:solidFill>
                <a:latin typeface="Calibri"/>
              </a:rPr>
              <a:t>Variables: labelled containers</a:t>
            </a:r>
          </a:p>
        </p:txBody>
      </p:sp>
      <p:sp>
        <p:nvSpPr>
          <p:cNvPr id="3" name="Rounded Rectangle 2"/>
          <p:cNvSpPr/>
          <p:nvPr/>
        </p:nvSpPr>
        <p:spPr>
          <a:xfrm>
            <a:off x="8897112" y="457200"/>
            <a:ext cx="27432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1 · Variables</a:t>
            </a:r>
          </a:p>
        </p:txBody>
      </p:sp>
      <p:sp>
        <p:nvSpPr>
          <p:cNvPr id="4" name="TextBox 3"/>
          <p:cNvSpPr txBox="1"/>
          <p:nvPr/>
        </p:nvSpPr>
        <p:spPr>
          <a:xfrm>
            <a:off x="548640" y="1234440"/>
            <a:ext cx="5943600" cy="411480"/>
          </a:xfrm>
          <a:prstGeom prst="rect">
            <a:avLst/>
          </a:prstGeom>
          <a:noFill/>
        </p:spPr>
        <p:txBody>
          <a:bodyPr wrap="square" lIns="45720" rIns="45720" anchor="t">
            <a:spAutoFit/>
          </a:bodyPr>
          <a:lstStyle/>
          <a:p>
            <a:pPr algn="l">
              <a:spcAft>
                <a:spcPts val="400"/>
              </a:spcAft>
            </a:pPr>
            <a:r>
              <a:rPr sz="2000" b="1" i="0">
                <a:solidFill>
                  <a:srgbClr val="085797"/>
                </a:solidFill>
                <a:latin typeface="Courier New"/>
              </a:rPr>
              <a:t>mark = 72   then   mark = mark + 5</a:t>
            </a:r>
          </a:p>
        </p:txBody>
      </p:sp>
      <p:sp>
        <p:nvSpPr>
          <p:cNvPr id="5" name="Rounded Rectangle 4"/>
          <p:cNvSpPr/>
          <p:nvPr/>
        </p:nvSpPr>
        <p:spPr>
          <a:xfrm>
            <a:off x="731520" y="1828800"/>
            <a:ext cx="1737360" cy="1234440"/>
          </a:xfrm>
          <a:prstGeom prst="roundRect">
            <a:avLst>
              <a:gd name="adj" fmla="val 7407"/>
            </a:avLst>
          </a:prstGeom>
          <a:solidFill>
            <a:srgbClr val="E8F0F8"/>
          </a:solidFill>
          <a:ln w="31750">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143000" y="2011680"/>
            <a:ext cx="914400" cy="640080"/>
          </a:xfrm>
          <a:prstGeom prst="roundRect">
            <a:avLst>
              <a:gd name="adj" fmla="val 14285"/>
            </a:avLst>
          </a:prstGeom>
          <a:solidFill>
            <a:srgbClr val="FFFFFF"/>
          </a:solidFill>
          <a:ln w="12700">
            <a:solidFill>
              <a:srgbClr val="085797"/>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400" b="1" i="0">
                <a:solidFill>
                  <a:srgbClr val="1B2A41"/>
                </a:solidFill>
                <a:latin typeface="Courier New"/>
              </a:rPr>
              <a:t>72</a:t>
            </a:r>
          </a:p>
        </p:txBody>
      </p:sp>
      <p:sp>
        <p:nvSpPr>
          <p:cNvPr id="7" name="Rounded Rectangle 6"/>
          <p:cNvSpPr/>
          <p:nvPr/>
        </p:nvSpPr>
        <p:spPr>
          <a:xfrm>
            <a:off x="914400" y="2724912"/>
            <a:ext cx="1371600" cy="274320"/>
          </a:xfrm>
          <a:prstGeom prst="roundRect">
            <a:avLst>
              <a:gd name="adj" fmla="val 33333"/>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300" b="1" i="0">
                <a:solidFill>
                  <a:srgbClr val="FFFFFF"/>
                </a:solidFill>
                <a:latin typeface="Courier New"/>
              </a:rPr>
              <a:t>mark</a:t>
            </a:r>
          </a:p>
        </p:txBody>
      </p:sp>
      <p:sp>
        <p:nvSpPr>
          <p:cNvPr id="8" name="Right Arrow 7"/>
          <p:cNvSpPr/>
          <p:nvPr/>
        </p:nvSpPr>
        <p:spPr>
          <a:xfrm>
            <a:off x="2606040" y="2286000"/>
            <a:ext cx="640080"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377440" y="1920240"/>
            <a:ext cx="1097280" cy="320040"/>
          </a:xfrm>
          <a:prstGeom prst="rect">
            <a:avLst/>
          </a:prstGeom>
          <a:noFill/>
        </p:spPr>
        <p:txBody>
          <a:bodyPr wrap="square" lIns="45720" rIns="45720" anchor="t">
            <a:spAutoFit/>
          </a:bodyPr>
          <a:lstStyle/>
          <a:p>
            <a:pPr algn="ctr">
              <a:spcAft>
                <a:spcPts val="400"/>
              </a:spcAft>
            </a:pPr>
            <a:r>
              <a:rPr sz="1200" b="1" i="0">
                <a:solidFill>
                  <a:srgbClr val="5B6770"/>
                </a:solidFill>
                <a:latin typeface="Calibri"/>
              </a:rPr>
              <a:t>add 5</a:t>
            </a:r>
          </a:p>
        </p:txBody>
      </p:sp>
      <p:sp>
        <p:nvSpPr>
          <p:cNvPr id="10" name="Rounded Rectangle 9"/>
          <p:cNvSpPr/>
          <p:nvPr/>
        </p:nvSpPr>
        <p:spPr>
          <a:xfrm>
            <a:off x="3383280" y="1828800"/>
            <a:ext cx="1737360" cy="1234440"/>
          </a:xfrm>
          <a:prstGeom prst="roundRect">
            <a:avLst>
              <a:gd name="adj" fmla="val 7407"/>
            </a:avLst>
          </a:prstGeom>
          <a:solidFill>
            <a:srgbClr val="E8F0F8"/>
          </a:solidFill>
          <a:ln w="3175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94760" y="2011680"/>
            <a:ext cx="914400" cy="640080"/>
          </a:xfrm>
          <a:prstGeom prst="roundRect">
            <a:avLst>
              <a:gd name="adj" fmla="val 14285"/>
            </a:avLst>
          </a:prstGeom>
          <a:solidFill>
            <a:srgbClr val="FFFFFF"/>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400" b="1" i="0">
                <a:solidFill>
                  <a:srgbClr val="1B2A41"/>
                </a:solidFill>
                <a:latin typeface="Courier New"/>
              </a:rPr>
              <a:t>77</a:t>
            </a:r>
          </a:p>
        </p:txBody>
      </p:sp>
      <p:sp>
        <p:nvSpPr>
          <p:cNvPr id="12" name="Rounded Rectangle 11"/>
          <p:cNvSpPr/>
          <p:nvPr/>
        </p:nvSpPr>
        <p:spPr>
          <a:xfrm>
            <a:off x="3566160" y="2724912"/>
            <a:ext cx="1371600" cy="274320"/>
          </a:xfrm>
          <a:prstGeom prst="roundRect">
            <a:avLst>
              <a:gd name="adj" fmla="val 33333"/>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300" b="1" i="0">
                <a:solidFill>
                  <a:srgbClr val="FFFFFF"/>
                </a:solidFill>
                <a:latin typeface="Courier New"/>
              </a:rPr>
              <a:t>mark</a:t>
            </a:r>
          </a:p>
        </p:txBody>
      </p:sp>
      <p:sp>
        <p:nvSpPr>
          <p:cNvPr id="13" name="TextBox 12"/>
          <p:cNvSpPr txBox="1"/>
          <p:nvPr/>
        </p:nvSpPr>
        <p:spPr>
          <a:xfrm>
            <a:off x="548640" y="3337560"/>
            <a:ext cx="5943600" cy="2286000"/>
          </a:xfrm>
          <a:prstGeom prst="rect">
            <a:avLst/>
          </a:prstGeom>
          <a:noFill/>
        </p:spPr>
        <p:txBody>
          <a:bodyPr wrap="square" lIns="45720" rIns="45720" anchor="t">
            <a:spAutoFit/>
          </a:bodyPr>
          <a:lstStyle/>
          <a:p>
            <a:pPr marL="256032" indent="-256032" algn="l">
              <a:spcAft>
                <a:spcPts val="1000"/>
              </a:spcAft>
              <a:buClr>
                <a:srgbClr val="085797"/>
              </a:buClr>
              <a:buFont typeface="Arial"/>
              <a:buChar char="•"/>
            </a:pPr>
            <a:r>
              <a:rPr sz="1700" b="0" i="0">
                <a:solidFill>
                  <a:srgbClr val="1B2A41"/>
                </a:solidFill>
                <a:latin typeface="Calibri"/>
              </a:rPr>
              <a:t>The right side is worked out first: 72 + 5 gives 77</a:t>
            </a:r>
          </a:p>
          <a:p>
            <a:pPr marL="256032" indent="-256032" algn="l">
              <a:spcAft>
                <a:spcPts val="1000"/>
              </a:spcAft>
              <a:buClr>
                <a:srgbClr val="085797"/>
              </a:buClr>
              <a:buFont typeface="Arial"/>
              <a:buChar char="•"/>
            </a:pPr>
            <a:r>
              <a:rPr sz="1700" b="0" i="0">
                <a:solidFill>
                  <a:srgbClr val="1B2A41"/>
                </a:solidFill>
                <a:latin typeface="Calibri"/>
              </a:rPr>
              <a:t>The answer goes back under the same label</a:t>
            </a:r>
          </a:p>
          <a:p>
            <a:pPr marL="256032" indent="-256032" algn="l">
              <a:spcAft>
                <a:spcPts val="1000"/>
              </a:spcAft>
              <a:buClr>
                <a:srgbClr val="085797"/>
              </a:buClr>
              <a:buFont typeface="Arial"/>
              <a:buChar char="•"/>
            </a:pPr>
            <a:r>
              <a:rPr sz="1700" b="0" i="0">
                <a:solidFill>
                  <a:srgbClr val="1B2A41"/>
                </a:solidFill>
                <a:latin typeface="Calibri"/>
              </a:rPr>
              <a:t>Read = as "becomes", not "equals"</a:t>
            </a:r>
          </a:p>
        </p:txBody>
      </p:sp>
      <p:sp>
        <p:nvSpPr>
          <p:cNvPr id="14" name="Rounded Rectangle 13"/>
          <p:cNvSpPr/>
          <p:nvPr/>
        </p:nvSpPr>
        <p:spPr>
          <a:xfrm>
            <a:off x="6812280" y="1280160"/>
            <a:ext cx="4828032" cy="4343400"/>
          </a:xfrm>
          <a:prstGeom prst="roundRect">
            <a:avLst>
              <a:gd name="adj" fmla="val 2947"/>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40880" y="1371600"/>
            <a:ext cx="4389120" cy="457200"/>
          </a:xfrm>
          <a:prstGeom prst="rect">
            <a:avLst/>
          </a:prstGeom>
          <a:noFill/>
        </p:spPr>
        <p:txBody>
          <a:bodyPr wrap="square" lIns="45720" rIns="45720" anchor="t">
            <a:spAutoFit/>
          </a:bodyPr>
          <a:lstStyle/>
          <a:p>
            <a:pPr algn="l">
              <a:spcAft>
                <a:spcPts val="400"/>
              </a:spcAft>
            </a:pPr>
            <a:r>
              <a:rPr sz="2000" b="1" i="0">
                <a:solidFill>
                  <a:srgbClr val="085797"/>
                </a:solidFill>
                <a:latin typeface="Calibri"/>
              </a:rPr>
              <a:t>Naming rules</a:t>
            </a:r>
          </a:p>
        </p:txBody>
      </p:sp>
      <p:sp>
        <p:nvSpPr>
          <p:cNvPr id="16" name="TextBox 15"/>
          <p:cNvSpPr txBox="1"/>
          <p:nvPr/>
        </p:nvSpPr>
        <p:spPr>
          <a:xfrm>
            <a:off x="7040880" y="1874519"/>
            <a:ext cx="4389120" cy="3657600"/>
          </a:xfrm>
          <a:prstGeom prst="rect">
            <a:avLst/>
          </a:prstGeom>
          <a:noFill/>
        </p:spPr>
        <p:txBody>
          <a:bodyPr wrap="square" lIns="45720" rIns="45720" anchor="t">
            <a:spAutoFit/>
          </a:bodyPr>
          <a:lstStyle/>
          <a:p>
            <a:pPr marL="256032" indent="-256032" algn="l">
              <a:spcAft>
                <a:spcPts val="900"/>
              </a:spcAft>
              <a:buClr>
                <a:srgbClr val="085797"/>
              </a:buClr>
              <a:buFont typeface="Arial"/>
              <a:buChar char="•"/>
            </a:pPr>
            <a:r>
              <a:rPr sz="1600" b="0" i="0">
                <a:solidFill>
                  <a:srgbClr val="1B2A41"/>
                </a:solidFill>
                <a:latin typeface="Calibri"/>
              </a:rPr>
              <a:t>Letters, digits and underscores only</a:t>
            </a:r>
          </a:p>
          <a:p>
            <a:pPr marL="256032" indent="-256032" algn="l">
              <a:spcAft>
                <a:spcPts val="900"/>
              </a:spcAft>
              <a:buClr>
                <a:srgbClr val="085797"/>
              </a:buClr>
              <a:buFont typeface="Arial"/>
              <a:buChar char="•"/>
            </a:pPr>
            <a:r>
              <a:rPr sz="1600" b="0" i="0">
                <a:solidFill>
                  <a:srgbClr val="1B2A41"/>
                </a:solidFill>
                <a:latin typeface="Calibri"/>
              </a:rPr>
              <a:t>Do not start with a digit; no spaces or hyphens</a:t>
            </a:r>
          </a:p>
          <a:p>
            <a:pPr marL="256032" indent="-256032" algn="l">
              <a:spcAft>
                <a:spcPts val="900"/>
              </a:spcAft>
              <a:buClr>
                <a:srgbClr val="085797"/>
              </a:buClr>
              <a:buFont typeface="Arial"/>
              <a:buChar char="•"/>
            </a:pPr>
            <a:r>
              <a:rPr sz="1600" b="0" i="0">
                <a:solidFill>
                  <a:srgbClr val="1B2A41"/>
                </a:solidFill>
                <a:latin typeface="Calibri"/>
              </a:rPr>
              <a:t>Reserved words such as </a:t>
            </a:r>
            <a:r>
              <a:rPr sz="1600" b="1" i="0">
                <a:solidFill>
                  <a:srgbClr val="E31E3B"/>
                </a:solidFill>
                <a:latin typeface="Courier New"/>
              </a:rPr>
              <a:t>class</a:t>
            </a:r>
            <a:r>
              <a:rPr sz="1600" b="0" i="0">
                <a:solidFill>
                  <a:srgbClr val="1B2A41"/>
                </a:solidFill>
                <a:latin typeface="Calibri"/>
              </a:rPr>
              <a:t> are not allowed</a:t>
            </a:r>
          </a:p>
          <a:p>
            <a:pPr marL="256032" indent="-256032" algn="l">
              <a:spcAft>
                <a:spcPts val="900"/>
              </a:spcAft>
              <a:buClr>
                <a:srgbClr val="085797"/>
              </a:buClr>
              <a:buFont typeface="Arial"/>
              <a:buChar char="•"/>
            </a:pPr>
            <a:r>
              <a:rPr sz="1600" b="0" i="0">
                <a:solidFill>
                  <a:srgbClr val="1B2A41"/>
                </a:solidFill>
                <a:latin typeface="Calibri"/>
              </a:rPr>
              <a:t>Case-sensitive: </a:t>
            </a:r>
            <a:r>
              <a:rPr sz="1600" b="1" i="0">
                <a:solidFill>
                  <a:srgbClr val="085797"/>
                </a:solidFill>
                <a:latin typeface="Courier New"/>
              </a:rPr>
              <a:t>mark</a:t>
            </a:r>
            <a:r>
              <a:rPr sz="1600" b="0" i="0">
                <a:solidFill>
                  <a:srgbClr val="1B2A41"/>
                </a:solidFill>
                <a:latin typeface="Calibri"/>
              </a:rPr>
              <a:t> and </a:t>
            </a:r>
            <a:r>
              <a:rPr sz="1600" b="1" i="0">
                <a:solidFill>
                  <a:srgbClr val="E31E3B"/>
                </a:solidFill>
                <a:latin typeface="Courier New"/>
              </a:rPr>
              <a:t>Mark</a:t>
            </a:r>
            <a:r>
              <a:rPr sz="1600" b="0" i="0">
                <a:solidFill>
                  <a:srgbClr val="1B2A41"/>
                </a:solidFill>
                <a:latin typeface="Calibri"/>
              </a:rPr>
              <a:t> differ</a:t>
            </a:r>
          </a:p>
          <a:p>
            <a:pPr marL="256032" indent="-256032" algn="l">
              <a:spcAft>
                <a:spcPts val="900"/>
              </a:spcAft>
              <a:buClr>
                <a:srgbClr val="085797"/>
              </a:buClr>
              <a:buFont typeface="Arial"/>
              <a:buChar char="•"/>
            </a:pPr>
            <a:r>
              <a:rPr sz="1600" b="1" i="0">
                <a:solidFill>
                  <a:srgbClr val="1B2A41"/>
                </a:solidFill>
                <a:latin typeface="Calibri"/>
              </a:rPr>
              <a:t>Course convention: </a:t>
            </a:r>
            <a:r>
              <a:rPr sz="1600" b="1" i="0">
                <a:solidFill>
                  <a:srgbClr val="2E8B57"/>
                </a:solidFill>
                <a:latin typeface="Courier New"/>
              </a:rPr>
              <a:t>weighted_mark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714232" cy="822960"/>
          </a:xfrm>
        </p:spPr>
        <p:txBody>
          <a:bodyPr wrap="square" anchor="ctr"/>
          <a:lstStyle/>
          <a:p>
            <a:pPr algn="l"/>
            <a:r>
              <a:rPr sz="3200" b="1">
                <a:solidFill>
                  <a:srgbClr val="085797"/>
                </a:solidFill>
                <a:latin typeface="Calibri"/>
              </a:rPr>
              <a:t>Operators</a:t>
            </a:r>
          </a:p>
        </p:txBody>
      </p:sp>
      <p:sp>
        <p:nvSpPr>
          <p:cNvPr id="3" name="Rounded Rectangle 2"/>
          <p:cNvSpPr/>
          <p:nvPr/>
        </p:nvSpPr>
        <p:spPr>
          <a:xfrm>
            <a:off x="9445752" y="457200"/>
            <a:ext cx="219456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1 · Operators</a:t>
            </a:r>
          </a:p>
        </p:txBody>
      </p:sp>
      <p:graphicFrame>
        <p:nvGraphicFramePr>
          <p:cNvPr id="4" name="Table 3"/>
          <p:cNvGraphicFramePr>
            <a:graphicFrameLocks noGrp="1"/>
          </p:cNvGraphicFramePr>
          <p:nvPr/>
        </p:nvGraphicFramePr>
        <p:xfrm>
          <a:off x="548640" y="1325880"/>
          <a:ext cx="6949440" cy="3072384"/>
        </p:xfrm>
        <a:graphic>
          <a:graphicData uri="http://schemas.openxmlformats.org/drawingml/2006/table">
            <a:tbl>
              <a:tblPr>
                <a:tableStyleId>{5C22544A-7EE6-4342-B048-85BDC9FD1C3A}</a:tableStyleId>
              </a:tblPr>
              <a:tblGrid>
                <a:gridCol w="12801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512064">
                <a:tc>
                  <a:txBody>
                    <a:bodyPr/>
                    <a:lstStyle/>
                    <a:p>
                      <a:pPr algn="l">
                        <a:spcAft>
                          <a:spcPts val="0"/>
                        </a:spcAft>
                      </a:pPr>
                      <a:r>
                        <a:rPr sz="1500" b="1" i="0">
                          <a:solidFill>
                            <a:srgbClr val="FFFFFF"/>
                          </a:solidFill>
                          <a:latin typeface="Calibri"/>
                        </a:rPr>
                        <a:t>Operator</a:t>
                      </a:r>
                    </a:p>
                  </a:txBody>
                  <a:tcPr anchor="ctr">
                    <a:solidFill>
                      <a:srgbClr val="085797"/>
                    </a:solidFill>
                  </a:tcPr>
                </a:tc>
                <a:tc>
                  <a:txBody>
                    <a:bodyPr/>
                    <a:lstStyle/>
                    <a:p>
                      <a:pPr algn="l">
                        <a:spcAft>
                          <a:spcPts val="0"/>
                        </a:spcAft>
                      </a:pPr>
                      <a:r>
                        <a:rPr sz="1500" b="1" i="0">
                          <a:solidFill>
                            <a:srgbClr val="FFFFFF"/>
                          </a:solidFill>
                          <a:latin typeface="Calibri"/>
                        </a:rPr>
                        <a:t>Meaning</a:t>
                      </a:r>
                    </a:p>
                  </a:txBody>
                  <a:tcPr anchor="ctr">
                    <a:solidFill>
                      <a:srgbClr val="085797"/>
                    </a:solidFill>
                  </a:tcPr>
                </a:tc>
                <a:tc>
                  <a:txBody>
                    <a:bodyPr/>
                    <a:lstStyle/>
                    <a:p>
                      <a:pPr algn="l">
                        <a:spcAft>
                          <a:spcPts val="0"/>
                        </a:spcAft>
                      </a:pPr>
                      <a:r>
                        <a:rPr sz="1500" b="1" i="0">
                          <a:solidFill>
                            <a:srgbClr val="FFFFFF"/>
                          </a:solidFill>
                          <a:latin typeface="Calibri"/>
                        </a:rPr>
                        <a:t>Example</a:t>
                      </a:r>
                    </a:p>
                  </a:txBody>
                  <a:tcPr anchor="ctr">
                    <a:solidFill>
                      <a:srgbClr val="085797"/>
                    </a:solidFill>
                  </a:tcPr>
                </a:tc>
                <a:tc>
                  <a:txBody>
                    <a:bodyPr/>
                    <a:lstStyle/>
                    <a:p>
                      <a:pPr algn="l">
                        <a:spcAft>
                          <a:spcPts val="0"/>
                        </a:spcAft>
                      </a:pPr>
                      <a:r>
                        <a:rPr sz="1500" b="1" i="0">
                          <a:solidFill>
                            <a:srgbClr val="FFFFFF"/>
                          </a:solidFill>
                          <a:latin typeface="Calibri"/>
                        </a:rPr>
                        <a:t>Result</a:t>
                      </a:r>
                    </a:p>
                  </a:txBody>
                  <a:tcPr anchor="ctr">
                    <a:solidFill>
                      <a:srgbClr val="085797"/>
                    </a:solidFill>
                  </a:tcPr>
                </a:tc>
                <a:extLst>
                  <a:ext uri="{0D108BD9-81ED-4DB2-BD59-A6C34878D82A}">
                    <a16:rowId xmlns:a16="http://schemas.microsoft.com/office/drawing/2014/main" val="10000"/>
                  </a:ext>
                </a:extLst>
              </a:tr>
              <a:tr h="512064">
                <a:tc>
                  <a:txBody>
                    <a:bodyPr/>
                    <a:lstStyle/>
                    <a:p>
                      <a:pPr algn="l">
                        <a:spcAft>
                          <a:spcPts val="0"/>
                        </a:spcAft>
                      </a:pPr>
                      <a:r>
                        <a:rPr sz="1500" b="1" i="0">
                          <a:solidFill>
                            <a:srgbClr val="1B2A41"/>
                          </a:solidFill>
                          <a:latin typeface="Courier New"/>
                        </a:rPr>
                        <a:t>+  -  *</a:t>
                      </a:r>
                    </a:p>
                  </a:txBody>
                  <a:tcPr anchor="ctr">
                    <a:solidFill>
                      <a:srgbClr val="E8F0F8"/>
                    </a:solidFill>
                  </a:tcPr>
                </a:tc>
                <a:tc>
                  <a:txBody>
                    <a:bodyPr/>
                    <a:lstStyle/>
                    <a:p>
                      <a:pPr algn="l">
                        <a:spcAft>
                          <a:spcPts val="0"/>
                        </a:spcAft>
                      </a:pPr>
                      <a:r>
                        <a:rPr sz="1500" b="0" i="0">
                          <a:solidFill>
                            <a:srgbClr val="1B2A41"/>
                          </a:solidFill>
                          <a:latin typeface="Calibri"/>
                        </a:rPr>
                        <a:t>Add, subtract, multiply</a:t>
                      </a:r>
                    </a:p>
                  </a:txBody>
                  <a:tcPr anchor="ctr">
                    <a:solidFill>
                      <a:srgbClr val="E8F0F8"/>
                    </a:solidFill>
                  </a:tcPr>
                </a:tc>
                <a:tc>
                  <a:txBody>
                    <a:bodyPr/>
                    <a:lstStyle/>
                    <a:p>
                      <a:pPr algn="l">
                        <a:spcAft>
                          <a:spcPts val="0"/>
                        </a:spcAft>
                      </a:pPr>
                      <a:r>
                        <a:rPr sz="1500" b="0" i="0">
                          <a:solidFill>
                            <a:srgbClr val="1B2A41"/>
                          </a:solidFill>
                          <a:latin typeface="Courier New"/>
                        </a:rPr>
                        <a:t>7 * 2</a:t>
                      </a:r>
                    </a:p>
                  </a:txBody>
                  <a:tcPr anchor="ctr">
                    <a:solidFill>
                      <a:srgbClr val="E8F0F8"/>
                    </a:solidFill>
                  </a:tcPr>
                </a:tc>
                <a:tc>
                  <a:txBody>
                    <a:bodyPr/>
                    <a:lstStyle/>
                    <a:p>
                      <a:pPr algn="l">
                        <a:spcAft>
                          <a:spcPts val="0"/>
                        </a:spcAft>
                      </a:pPr>
                      <a:r>
                        <a:rPr sz="1500" b="0" i="0">
                          <a:solidFill>
                            <a:srgbClr val="1B2A41"/>
                          </a:solidFill>
                          <a:latin typeface="Calibri"/>
                        </a:rPr>
                        <a:t>14</a:t>
                      </a:r>
                    </a:p>
                  </a:txBody>
                  <a:tcPr anchor="ctr">
                    <a:solidFill>
                      <a:srgbClr val="E8F0F8"/>
                    </a:solidFill>
                  </a:tcPr>
                </a:tc>
                <a:extLst>
                  <a:ext uri="{0D108BD9-81ED-4DB2-BD59-A6C34878D82A}">
                    <a16:rowId xmlns:a16="http://schemas.microsoft.com/office/drawing/2014/main" val="10001"/>
                  </a:ext>
                </a:extLst>
              </a:tr>
              <a:tr h="512064">
                <a:tc>
                  <a:txBody>
                    <a:bodyPr/>
                    <a:lstStyle/>
                    <a:p>
                      <a:pPr algn="l">
                        <a:spcAft>
                          <a:spcPts val="0"/>
                        </a:spcAft>
                      </a:pPr>
                      <a:r>
                        <a:rPr sz="1500" b="1" i="0">
                          <a:solidFill>
                            <a:srgbClr val="1B2A41"/>
                          </a:solidFill>
                          <a:latin typeface="Courier New"/>
                        </a:rPr>
                        <a:t>/</a:t>
                      </a:r>
                    </a:p>
                  </a:txBody>
                  <a:tcPr anchor="ctr">
                    <a:solidFill>
                      <a:srgbClr val="FFFFFF"/>
                    </a:solidFill>
                  </a:tcPr>
                </a:tc>
                <a:tc>
                  <a:txBody>
                    <a:bodyPr/>
                    <a:lstStyle/>
                    <a:p>
                      <a:pPr algn="l">
                        <a:spcAft>
                          <a:spcPts val="0"/>
                        </a:spcAft>
                      </a:pPr>
                      <a:r>
                        <a:rPr sz="1500" b="0" i="0">
                          <a:solidFill>
                            <a:srgbClr val="1B2A41"/>
                          </a:solidFill>
                          <a:latin typeface="Calibri"/>
                        </a:rPr>
                        <a:t>Divide, always gives a float</a:t>
                      </a:r>
                    </a:p>
                  </a:txBody>
                  <a:tcPr anchor="ctr">
                    <a:solidFill>
                      <a:srgbClr val="FFFFFF"/>
                    </a:solidFill>
                  </a:tcPr>
                </a:tc>
                <a:tc>
                  <a:txBody>
                    <a:bodyPr/>
                    <a:lstStyle/>
                    <a:p>
                      <a:pPr algn="l">
                        <a:spcAft>
                          <a:spcPts val="0"/>
                        </a:spcAft>
                      </a:pPr>
                      <a:r>
                        <a:rPr sz="1500" b="0" i="0">
                          <a:solidFill>
                            <a:srgbClr val="1B2A41"/>
                          </a:solidFill>
                          <a:latin typeface="Courier New"/>
                        </a:rPr>
                        <a:t>7 / 2</a:t>
                      </a:r>
                    </a:p>
                  </a:txBody>
                  <a:tcPr anchor="ctr">
                    <a:solidFill>
                      <a:srgbClr val="FFFFFF"/>
                    </a:solidFill>
                  </a:tcPr>
                </a:tc>
                <a:tc>
                  <a:txBody>
                    <a:bodyPr/>
                    <a:lstStyle/>
                    <a:p>
                      <a:pPr algn="l">
                        <a:spcAft>
                          <a:spcPts val="0"/>
                        </a:spcAft>
                      </a:pPr>
                      <a:r>
                        <a:rPr sz="1500" b="0" i="0">
                          <a:solidFill>
                            <a:srgbClr val="1B2A41"/>
                          </a:solidFill>
                          <a:latin typeface="Calibri"/>
                        </a:rPr>
                        <a:t>3.5</a:t>
                      </a:r>
                    </a:p>
                  </a:txBody>
                  <a:tcPr anchor="ctr">
                    <a:solidFill>
                      <a:srgbClr val="FFFFFF"/>
                    </a:solidFill>
                  </a:tcPr>
                </a:tc>
                <a:extLst>
                  <a:ext uri="{0D108BD9-81ED-4DB2-BD59-A6C34878D82A}">
                    <a16:rowId xmlns:a16="http://schemas.microsoft.com/office/drawing/2014/main" val="10002"/>
                  </a:ext>
                </a:extLst>
              </a:tr>
              <a:tr h="512064">
                <a:tc>
                  <a:txBody>
                    <a:bodyPr/>
                    <a:lstStyle/>
                    <a:p>
                      <a:pPr algn="l">
                        <a:spcAft>
                          <a:spcPts val="0"/>
                        </a:spcAft>
                      </a:pPr>
                      <a:r>
                        <a:rPr sz="1500" b="1" i="0">
                          <a:solidFill>
                            <a:srgbClr val="1B2A41"/>
                          </a:solidFill>
                          <a:latin typeface="Courier New"/>
                        </a:rPr>
                        <a:t>//</a:t>
                      </a:r>
                    </a:p>
                  </a:txBody>
                  <a:tcPr anchor="ctr">
                    <a:solidFill>
                      <a:srgbClr val="E8F0F8"/>
                    </a:solidFill>
                  </a:tcPr>
                </a:tc>
                <a:tc>
                  <a:txBody>
                    <a:bodyPr/>
                    <a:lstStyle/>
                    <a:p>
                      <a:pPr algn="l">
                        <a:spcAft>
                          <a:spcPts val="0"/>
                        </a:spcAft>
                      </a:pPr>
                      <a:r>
                        <a:rPr sz="1500" b="0" i="0">
                          <a:solidFill>
                            <a:srgbClr val="1B2A41"/>
                          </a:solidFill>
                          <a:latin typeface="Calibri"/>
                        </a:rPr>
                        <a:t>Whole-number part of a division</a:t>
                      </a:r>
                    </a:p>
                  </a:txBody>
                  <a:tcPr anchor="ctr">
                    <a:solidFill>
                      <a:srgbClr val="E8F0F8"/>
                    </a:solidFill>
                  </a:tcPr>
                </a:tc>
                <a:tc>
                  <a:txBody>
                    <a:bodyPr/>
                    <a:lstStyle/>
                    <a:p>
                      <a:pPr algn="l">
                        <a:spcAft>
                          <a:spcPts val="0"/>
                        </a:spcAft>
                      </a:pPr>
                      <a:r>
                        <a:rPr sz="1500" b="0" i="0">
                          <a:solidFill>
                            <a:srgbClr val="1B2A41"/>
                          </a:solidFill>
                          <a:latin typeface="Courier New"/>
                        </a:rPr>
                        <a:t>7 // 2</a:t>
                      </a:r>
                    </a:p>
                  </a:txBody>
                  <a:tcPr anchor="ctr">
                    <a:solidFill>
                      <a:srgbClr val="E8F0F8"/>
                    </a:solidFill>
                  </a:tcPr>
                </a:tc>
                <a:tc>
                  <a:txBody>
                    <a:bodyPr/>
                    <a:lstStyle/>
                    <a:p>
                      <a:pPr algn="l">
                        <a:spcAft>
                          <a:spcPts val="0"/>
                        </a:spcAft>
                      </a:pPr>
                      <a:r>
                        <a:rPr sz="1500" b="0" i="0">
                          <a:solidFill>
                            <a:srgbClr val="1B2A41"/>
                          </a:solidFill>
                          <a:latin typeface="Calibri"/>
                        </a:rPr>
                        <a:t>3</a:t>
                      </a:r>
                    </a:p>
                  </a:txBody>
                  <a:tcPr anchor="ctr">
                    <a:solidFill>
                      <a:srgbClr val="E8F0F8"/>
                    </a:solidFill>
                  </a:tcPr>
                </a:tc>
                <a:extLst>
                  <a:ext uri="{0D108BD9-81ED-4DB2-BD59-A6C34878D82A}">
                    <a16:rowId xmlns:a16="http://schemas.microsoft.com/office/drawing/2014/main" val="10003"/>
                  </a:ext>
                </a:extLst>
              </a:tr>
              <a:tr h="512064">
                <a:tc>
                  <a:txBody>
                    <a:bodyPr/>
                    <a:lstStyle/>
                    <a:p>
                      <a:pPr algn="l">
                        <a:spcAft>
                          <a:spcPts val="0"/>
                        </a:spcAft>
                      </a:pPr>
                      <a:r>
                        <a:rPr sz="1500" b="1" i="0">
                          <a:solidFill>
                            <a:srgbClr val="1B2A41"/>
                          </a:solidFill>
                          <a:latin typeface="Courier New"/>
                        </a:rPr>
                        <a:t>%</a:t>
                      </a:r>
                    </a:p>
                  </a:txBody>
                  <a:tcPr anchor="ctr">
                    <a:solidFill>
                      <a:srgbClr val="FFFFFF"/>
                    </a:solidFill>
                  </a:tcPr>
                </a:tc>
                <a:tc>
                  <a:txBody>
                    <a:bodyPr/>
                    <a:lstStyle/>
                    <a:p>
                      <a:pPr algn="l">
                        <a:spcAft>
                          <a:spcPts val="0"/>
                        </a:spcAft>
                      </a:pPr>
                      <a:r>
                        <a:rPr sz="1500" b="0" i="0">
                          <a:solidFill>
                            <a:srgbClr val="1B2A41"/>
                          </a:solidFill>
                          <a:latin typeface="Calibri"/>
                        </a:rPr>
                        <a:t>Remainder</a:t>
                      </a:r>
                    </a:p>
                  </a:txBody>
                  <a:tcPr anchor="ctr">
                    <a:solidFill>
                      <a:srgbClr val="FFFFFF"/>
                    </a:solidFill>
                  </a:tcPr>
                </a:tc>
                <a:tc>
                  <a:txBody>
                    <a:bodyPr/>
                    <a:lstStyle/>
                    <a:p>
                      <a:pPr algn="l">
                        <a:spcAft>
                          <a:spcPts val="0"/>
                        </a:spcAft>
                      </a:pPr>
                      <a:r>
                        <a:rPr sz="1500" b="0" i="0">
                          <a:solidFill>
                            <a:srgbClr val="1B2A41"/>
                          </a:solidFill>
                          <a:latin typeface="Courier New"/>
                        </a:rPr>
                        <a:t>7 % 2</a:t>
                      </a:r>
                    </a:p>
                  </a:txBody>
                  <a:tcPr anchor="ctr">
                    <a:solidFill>
                      <a:srgbClr val="FFFFFF"/>
                    </a:solidFill>
                  </a:tcPr>
                </a:tc>
                <a:tc>
                  <a:txBody>
                    <a:bodyPr/>
                    <a:lstStyle/>
                    <a:p>
                      <a:pPr algn="l">
                        <a:spcAft>
                          <a:spcPts val="0"/>
                        </a:spcAft>
                      </a:pPr>
                      <a:r>
                        <a:rPr sz="1500" b="0" i="0">
                          <a:solidFill>
                            <a:srgbClr val="1B2A41"/>
                          </a:solidFill>
                          <a:latin typeface="Calibri"/>
                        </a:rPr>
                        <a:t>1</a:t>
                      </a:r>
                    </a:p>
                  </a:txBody>
                  <a:tcPr anchor="ctr">
                    <a:solidFill>
                      <a:srgbClr val="FFFFFF"/>
                    </a:solidFill>
                  </a:tcPr>
                </a:tc>
                <a:extLst>
                  <a:ext uri="{0D108BD9-81ED-4DB2-BD59-A6C34878D82A}">
                    <a16:rowId xmlns:a16="http://schemas.microsoft.com/office/drawing/2014/main" val="10004"/>
                  </a:ext>
                </a:extLst>
              </a:tr>
              <a:tr h="512064">
                <a:tc>
                  <a:txBody>
                    <a:bodyPr/>
                    <a:lstStyle/>
                    <a:p>
                      <a:pPr algn="l">
                        <a:spcAft>
                          <a:spcPts val="0"/>
                        </a:spcAft>
                      </a:pPr>
                      <a:r>
                        <a:rPr sz="1500" b="1" i="0">
                          <a:solidFill>
                            <a:srgbClr val="1B2A41"/>
                          </a:solidFill>
                          <a:latin typeface="Courier New"/>
                        </a:rPr>
                        <a:t>**</a:t>
                      </a:r>
                    </a:p>
                  </a:txBody>
                  <a:tcPr anchor="ctr">
                    <a:solidFill>
                      <a:srgbClr val="E8F0F8"/>
                    </a:solidFill>
                  </a:tcPr>
                </a:tc>
                <a:tc>
                  <a:txBody>
                    <a:bodyPr/>
                    <a:lstStyle/>
                    <a:p>
                      <a:pPr algn="l">
                        <a:spcAft>
                          <a:spcPts val="0"/>
                        </a:spcAft>
                      </a:pPr>
                      <a:r>
                        <a:rPr sz="1500" b="0" i="0">
                          <a:solidFill>
                            <a:srgbClr val="1B2A41"/>
                          </a:solidFill>
                          <a:latin typeface="Calibri"/>
                        </a:rPr>
                        <a:t>Power</a:t>
                      </a:r>
                    </a:p>
                  </a:txBody>
                  <a:tcPr anchor="ctr">
                    <a:solidFill>
                      <a:srgbClr val="E8F0F8"/>
                    </a:solidFill>
                  </a:tcPr>
                </a:tc>
                <a:tc>
                  <a:txBody>
                    <a:bodyPr/>
                    <a:lstStyle/>
                    <a:p>
                      <a:pPr algn="l">
                        <a:spcAft>
                          <a:spcPts val="0"/>
                        </a:spcAft>
                      </a:pPr>
                      <a:r>
                        <a:rPr sz="1500" b="0" i="0">
                          <a:solidFill>
                            <a:srgbClr val="1B2A41"/>
                          </a:solidFill>
                          <a:latin typeface="Courier New"/>
                        </a:rPr>
                        <a:t>2 ** 3</a:t>
                      </a:r>
                    </a:p>
                  </a:txBody>
                  <a:tcPr anchor="ctr">
                    <a:solidFill>
                      <a:srgbClr val="E8F0F8"/>
                    </a:solidFill>
                  </a:tcPr>
                </a:tc>
                <a:tc>
                  <a:txBody>
                    <a:bodyPr/>
                    <a:lstStyle/>
                    <a:p>
                      <a:pPr algn="l">
                        <a:spcAft>
                          <a:spcPts val="0"/>
                        </a:spcAft>
                      </a:pPr>
                      <a:r>
                        <a:rPr sz="1500" b="0" i="0">
                          <a:solidFill>
                            <a:srgbClr val="1B2A41"/>
                          </a:solidFill>
                          <a:latin typeface="Calibri"/>
                        </a:rPr>
                        <a:t>8</a:t>
                      </a:r>
                    </a:p>
                  </a:txBody>
                  <a:tcPr anchor="ctr">
                    <a:solidFill>
                      <a:srgbClr val="E8F0F8"/>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7772400" y="1325880"/>
            <a:ext cx="3867912" cy="2834640"/>
          </a:xfrm>
          <a:prstGeom prst="roundRect">
            <a:avLst>
              <a:gd name="adj" fmla="val 4516"/>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09560" y="1371600"/>
            <a:ext cx="3611880" cy="365760"/>
          </a:xfrm>
          <a:prstGeom prst="rect">
            <a:avLst/>
          </a:prstGeom>
          <a:noFill/>
        </p:spPr>
        <p:txBody>
          <a:bodyPr wrap="square" lIns="45720" rIns="45720" anchor="t">
            <a:spAutoFit/>
          </a:bodyPr>
          <a:lstStyle/>
          <a:p>
            <a:pPr algn="ctr">
              <a:spcAft>
                <a:spcPts val="400"/>
              </a:spcAft>
            </a:pPr>
            <a:r>
              <a:rPr sz="1700" b="1" i="0">
                <a:solidFill>
                  <a:srgbClr val="085797"/>
                </a:solidFill>
                <a:latin typeface="Calibri"/>
              </a:rPr>
              <a:t>7 divided by 2</a:t>
            </a:r>
          </a:p>
        </p:txBody>
      </p:sp>
      <p:sp>
        <p:nvSpPr>
          <p:cNvPr id="7" name="Rounded Rectangle 6"/>
          <p:cNvSpPr/>
          <p:nvPr/>
        </p:nvSpPr>
        <p:spPr>
          <a:xfrm>
            <a:off x="8092440" y="1874519"/>
            <a:ext cx="914400" cy="685800"/>
          </a:xfrm>
          <a:prstGeom prst="roundRect">
            <a:avLst>
              <a:gd name="adj" fmla="val 13333"/>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000" b="1" i="0">
                <a:solidFill>
                  <a:srgbClr val="FFFFFF"/>
                </a:solidFill>
                <a:latin typeface="Calibri"/>
              </a:rPr>
              <a:t>2</a:t>
            </a:r>
          </a:p>
        </p:txBody>
      </p:sp>
      <p:sp>
        <p:nvSpPr>
          <p:cNvPr id="8" name="Rounded Rectangle 7"/>
          <p:cNvSpPr/>
          <p:nvPr/>
        </p:nvSpPr>
        <p:spPr>
          <a:xfrm>
            <a:off x="9144000" y="1874519"/>
            <a:ext cx="914400" cy="685800"/>
          </a:xfrm>
          <a:prstGeom prst="roundRect">
            <a:avLst>
              <a:gd name="adj" fmla="val 13333"/>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000" b="1" i="0">
                <a:solidFill>
                  <a:srgbClr val="FFFFFF"/>
                </a:solidFill>
                <a:latin typeface="Calibri"/>
              </a:rPr>
              <a:t>2</a:t>
            </a:r>
          </a:p>
        </p:txBody>
      </p:sp>
      <p:sp>
        <p:nvSpPr>
          <p:cNvPr id="9" name="Rounded Rectangle 8"/>
          <p:cNvSpPr/>
          <p:nvPr/>
        </p:nvSpPr>
        <p:spPr>
          <a:xfrm>
            <a:off x="10195559" y="1874519"/>
            <a:ext cx="914400" cy="685800"/>
          </a:xfrm>
          <a:prstGeom prst="roundRect">
            <a:avLst>
              <a:gd name="adj" fmla="val 13333"/>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000" b="1" i="0">
                <a:solidFill>
                  <a:srgbClr val="FFFFFF"/>
                </a:solidFill>
                <a:latin typeface="Calibri"/>
              </a:rPr>
              <a:t>2</a:t>
            </a:r>
          </a:p>
        </p:txBody>
      </p:sp>
      <p:sp>
        <p:nvSpPr>
          <p:cNvPr id="10" name="Rounded Rectangle 9"/>
          <p:cNvSpPr/>
          <p:nvPr/>
        </p:nvSpPr>
        <p:spPr>
          <a:xfrm>
            <a:off x="11247119" y="1874519"/>
            <a:ext cx="91" cy="91"/>
          </a:xfrm>
          <a:prstGeom prst="roundRect">
            <a:avLst>
              <a:gd name="adj" fmla="val 50000"/>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561320" y="2743200"/>
            <a:ext cx="822960" cy="685800"/>
          </a:xfrm>
          <a:prstGeom prst="roundRect">
            <a:avLst>
              <a:gd name="adj" fmla="val 13333"/>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000" b="1" i="0">
                <a:solidFill>
                  <a:srgbClr val="FFFFFF"/>
                </a:solidFill>
                <a:latin typeface="Calibri"/>
              </a:rPr>
              <a:t>1</a:t>
            </a:r>
          </a:p>
        </p:txBody>
      </p:sp>
      <p:sp>
        <p:nvSpPr>
          <p:cNvPr id="12" name="TextBox 11"/>
          <p:cNvSpPr txBox="1"/>
          <p:nvPr/>
        </p:nvSpPr>
        <p:spPr>
          <a:xfrm>
            <a:off x="7909560" y="2651760"/>
            <a:ext cx="2560320" cy="868680"/>
          </a:xfrm>
          <a:prstGeom prst="rect">
            <a:avLst/>
          </a:prstGeom>
          <a:noFill/>
        </p:spPr>
        <p:txBody>
          <a:bodyPr wrap="square" lIns="45720" rIns="45720" anchor="t">
            <a:spAutoFit/>
          </a:bodyPr>
          <a:lstStyle/>
          <a:p>
            <a:pPr algn="l">
              <a:spcAft>
                <a:spcPts val="300"/>
              </a:spcAft>
            </a:pPr>
            <a:r>
              <a:rPr sz="1400" b="1" i="0">
                <a:solidFill>
                  <a:srgbClr val="085797"/>
                </a:solidFill>
                <a:latin typeface="Calibri"/>
              </a:rPr>
              <a:t>3 full groups  </a:t>
            </a:r>
            <a:r>
              <a:rPr sz="1400" b="0" i="0">
                <a:solidFill>
                  <a:srgbClr val="1B2A41"/>
                </a:solidFill>
                <a:latin typeface="Courier New"/>
              </a:rPr>
              <a:t>(//)</a:t>
            </a:r>
          </a:p>
          <a:p>
            <a:pPr algn="l">
              <a:spcAft>
                <a:spcPts val="300"/>
              </a:spcAft>
            </a:pPr>
            <a:r>
              <a:rPr sz="1400" b="1" i="0">
                <a:solidFill>
                  <a:srgbClr val="E31E3B"/>
                </a:solidFill>
                <a:latin typeface="Calibri"/>
              </a:rPr>
              <a:t>1 left over  </a:t>
            </a:r>
            <a:r>
              <a:rPr sz="1400" b="0" i="0">
                <a:solidFill>
                  <a:srgbClr val="1B2A41"/>
                </a:solidFill>
                <a:latin typeface="Courier New"/>
              </a:rPr>
              <a:t>(%)</a:t>
            </a:r>
          </a:p>
        </p:txBody>
      </p:sp>
      <p:sp>
        <p:nvSpPr>
          <p:cNvPr id="13" name="TextBox 12"/>
          <p:cNvSpPr txBox="1"/>
          <p:nvPr/>
        </p:nvSpPr>
        <p:spPr>
          <a:xfrm>
            <a:off x="7909560" y="3520440"/>
            <a:ext cx="3611880" cy="548640"/>
          </a:xfrm>
          <a:prstGeom prst="rect">
            <a:avLst/>
          </a:prstGeom>
          <a:noFill/>
        </p:spPr>
        <p:txBody>
          <a:bodyPr wrap="square" lIns="45720" rIns="45720" anchor="t">
            <a:spAutoFit/>
          </a:bodyPr>
          <a:lstStyle/>
          <a:p>
            <a:pPr algn="ctr">
              <a:spcAft>
                <a:spcPts val="400"/>
              </a:spcAft>
            </a:pPr>
            <a:r>
              <a:rPr sz="1300" b="0" i="1">
                <a:solidFill>
                  <a:srgbClr val="5B6770"/>
                </a:solidFill>
                <a:latin typeface="Calibri"/>
              </a:rPr>
              <a:t>Three groups of 2 fit into 7, with 1 left</a:t>
            </a:r>
          </a:p>
        </p:txBody>
      </p:sp>
      <p:sp>
        <p:nvSpPr>
          <p:cNvPr id="14" name="Rounded Rectangle 13"/>
          <p:cNvSpPr/>
          <p:nvPr/>
        </p:nvSpPr>
        <p:spPr>
          <a:xfrm>
            <a:off x="548640" y="4572000"/>
            <a:ext cx="11091672" cy="1051560"/>
          </a:xfrm>
          <a:prstGeom prst="roundRect">
            <a:avLst>
              <a:gd name="adj" fmla="val 10434"/>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l">
              <a:spcAft>
                <a:spcPts val="200"/>
              </a:spcAft>
            </a:pPr>
            <a:r>
              <a:rPr sz="1500" b="1" i="0">
                <a:solidFill>
                  <a:srgbClr val="085797"/>
                </a:solidFill>
                <a:latin typeface="Calibri"/>
              </a:rPr>
              <a:t>A float can look odd: </a:t>
            </a:r>
            <a:r>
              <a:rPr sz="1500" b="1" i="0">
                <a:solidFill>
                  <a:srgbClr val="1B2A41"/>
                </a:solidFill>
                <a:latin typeface="Courier New"/>
              </a:rPr>
              <a:t>0.1 + 0.2</a:t>
            </a:r>
            <a:r>
              <a:rPr sz="1500" b="0" i="0">
                <a:solidFill>
                  <a:srgbClr val="1B2A41"/>
                </a:solidFill>
                <a:latin typeface="Calibri"/>
              </a:rPr>
              <a:t> shows </a:t>
            </a:r>
            <a:r>
              <a:rPr sz="1500" b="1" i="0">
                <a:solidFill>
                  <a:srgbClr val="E31E3B"/>
                </a:solidFill>
                <a:latin typeface="Courier New"/>
              </a:rPr>
              <a:t>0.30000000000000004</a:t>
            </a:r>
            <a:r>
              <a:rPr sz="1500" b="0" i="0">
                <a:solidFill>
                  <a:srgbClr val="1B2A41"/>
                </a:solidFill>
                <a:latin typeface="Calibri"/>
              </a:rPr>
              <a:t>. This is normal for computers. Format money to two decimals when you print it. Comments start with </a:t>
            </a:r>
            <a:r>
              <a:rPr sz="1500" b="1" i="0">
                <a:solidFill>
                  <a:srgbClr val="1B2A41"/>
                </a:solidFill>
                <a:latin typeface="Courier New"/>
              </a:rPr>
              <a:t>#</a:t>
            </a:r>
            <a:r>
              <a:rPr sz="1500" b="0" i="0">
                <a:solidFill>
                  <a:srgbClr val="1B2A41"/>
                </a:solidFill>
                <a:latin typeface="Calibri"/>
              </a:rPr>
              <a:t>: say why, not what.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165592" cy="822960"/>
          </a:xfrm>
        </p:spPr>
        <p:txBody>
          <a:bodyPr wrap="square" anchor="ctr"/>
          <a:lstStyle/>
          <a:p>
            <a:pPr algn="l"/>
            <a:r>
              <a:rPr sz="3200" b="1">
                <a:solidFill>
                  <a:srgbClr val="085797"/>
                </a:solidFill>
                <a:latin typeface="Calibri"/>
              </a:rPr>
              <a:t>A1 and A2: types and variables</a:t>
            </a:r>
          </a:p>
        </p:txBody>
      </p:sp>
      <p:sp>
        <p:nvSpPr>
          <p:cNvPr id="3" name="Rounded Rectangle 2"/>
          <p:cNvSpPr/>
          <p:nvPr/>
        </p:nvSpPr>
        <p:spPr>
          <a:xfrm>
            <a:off x="8897112" y="457200"/>
            <a:ext cx="27432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1 · Activities</a:t>
            </a:r>
          </a:p>
        </p:txBody>
      </p:sp>
      <p:sp>
        <p:nvSpPr>
          <p:cNvPr id="4" name="Rounded Rectangle 3"/>
          <p:cNvSpPr/>
          <p:nvPr/>
        </p:nvSpPr>
        <p:spPr>
          <a:xfrm>
            <a:off x="548640" y="1280160"/>
            <a:ext cx="5449824" cy="3520440"/>
          </a:xfrm>
          <a:prstGeom prst="roundRect">
            <a:avLst>
              <a:gd name="adj" fmla="val 5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1463040"/>
            <a:ext cx="640080" cy="64008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A1</a:t>
            </a:r>
          </a:p>
        </p:txBody>
      </p:sp>
      <p:sp>
        <p:nvSpPr>
          <p:cNvPr id="6" name="TextBox 5"/>
          <p:cNvSpPr txBox="1"/>
          <p:nvPr/>
        </p:nvSpPr>
        <p:spPr>
          <a:xfrm>
            <a:off x="1463040" y="1371600"/>
            <a:ext cx="4434840" cy="822960"/>
          </a:xfrm>
          <a:prstGeom prst="rect">
            <a:avLst/>
          </a:prstGeom>
          <a:noFill/>
        </p:spPr>
        <p:txBody>
          <a:bodyPr wrap="square" anchor="ctr">
            <a:spAutoFit/>
          </a:bodyPr>
          <a:lstStyle/>
          <a:p>
            <a:r>
              <a:rPr sz="1700" b="1">
                <a:solidFill>
                  <a:srgbClr val="085797"/>
                </a:solidFill>
                <a:latin typeface="Calibri"/>
              </a:rPr>
              <a:t>Lecturer-led: predict-run-explain (25 min)</a:t>
            </a:r>
          </a:p>
        </p:txBody>
      </p:sp>
      <p:sp>
        <p:nvSpPr>
          <p:cNvPr id="7" name="TextBox 6"/>
          <p:cNvSpPr txBox="1"/>
          <p:nvPr/>
        </p:nvSpPr>
        <p:spPr>
          <a:xfrm>
            <a:off x="777240" y="2286000"/>
            <a:ext cx="4983480" cy="2468880"/>
          </a:xfrm>
          <a:prstGeom prst="rect">
            <a:avLst/>
          </a:prstGeom>
          <a:noFill/>
        </p:spPr>
        <p:txBody>
          <a:bodyPr wrap="square">
            <a:spAutoFit/>
          </a:bodyPr>
          <a:lstStyle/>
          <a:p>
            <a:pPr>
              <a:spcAft>
                <a:spcPts val="700"/>
              </a:spcAft>
            </a:pPr>
            <a:r>
              <a:rPr sz="1600">
                <a:solidFill>
                  <a:srgbClr val="1B2A41"/>
                </a:solidFill>
                <a:latin typeface="Calibri"/>
              </a:rPr>
              <a:t>1. Predict the output on paper</a:t>
            </a:r>
          </a:p>
          <a:p>
            <a:pPr>
              <a:spcAft>
                <a:spcPts val="700"/>
              </a:spcAft>
            </a:pPr>
            <a:r>
              <a:rPr sz="1600">
                <a:solidFill>
                  <a:srgbClr val="1B2A41"/>
                </a:solidFill>
                <a:latin typeface="Calibri"/>
              </a:rPr>
              <a:t>2. Run the snippet in Thonny</a:t>
            </a:r>
          </a:p>
          <a:p>
            <a:pPr>
              <a:spcAft>
                <a:spcPts val="700"/>
              </a:spcAft>
            </a:pPr>
            <a:r>
              <a:rPr sz="1600">
                <a:solidFill>
                  <a:srgbClr val="1B2A41"/>
                </a:solidFill>
                <a:latin typeface="Calibri"/>
              </a:rPr>
              <a:t>3. Explain any difference aloud</a:t>
            </a:r>
          </a:p>
          <a:p>
            <a:pPr>
              <a:spcAft>
                <a:spcPts val="700"/>
              </a:spcAft>
            </a:pPr>
            <a:r>
              <a:rPr sz="1600">
                <a:solidFill>
                  <a:srgbClr val="1B2A41"/>
                </a:solidFill>
                <a:latin typeface="Calibri"/>
              </a:rPr>
              <a:t>Snippets: 7 / 2, 7 // 2, 7 % 2, "7" + "2", "ab" * 3, x = x + 1, type(3.0), 10 - 4 - 3, 2 + 3 * 4</a:t>
            </a:r>
          </a:p>
        </p:txBody>
      </p:sp>
      <p:sp>
        <p:nvSpPr>
          <p:cNvPr id="8" name="Rounded Rectangle 7"/>
          <p:cNvSpPr/>
          <p:nvPr/>
        </p:nvSpPr>
        <p:spPr>
          <a:xfrm>
            <a:off x="6190488" y="1280160"/>
            <a:ext cx="5449824" cy="3520440"/>
          </a:xfrm>
          <a:prstGeom prst="roundRect">
            <a:avLst>
              <a:gd name="adj" fmla="val 5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327648" y="1463040"/>
            <a:ext cx="640080" cy="640080"/>
          </a:xfrm>
          <a:prstGeom prst="ellipse">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A2</a:t>
            </a:r>
          </a:p>
        </p:txBody>
      </p:sp>
      <p:sp>
        <p:nvSpPr>
          <p:cNvPr id="10" name="TextBox 9"/>
          <p:cNvSpPr txBox="1"/>
          <p:nvPr/>
        </p:nvSpPr>
        <p:spPr>
          <a:xfrm>
            <a:off x="7104888" y="1371600"/>
            <a:ext cx="4434840" cy="822960"/>
          </a:xfrm>
          <a:prstGeom prst="rect">
            <a:avLst/>
          </a:prstGeom>
          <a:noFill/>
        </p:spPr>
        <p:txBody>
          <a:bodyPr wrap="square" anchor="ctr">
            <a:spAutoFit/>
          </a:bodyPr>
          <a:lstStyle/>
          <a:p>
            <a:r>
              <a:rPr sz="1700" b="1">
                <a:solidFill>
                  <a:srgbClr val="E31E3B"/>
                </a:solidFill>
                <a:latin typeface="Calibri"/>
              </a:rPr>
              <a:t>Independent: fix errors, then weighted mark (30 min)</a:t>
            </a:r>
          </a:p>
        </p:txBody>
      </p:sp>
      <p:sp>
        <p:nvSpPr>
          <p:cNvPr id="11" name="TextBox 10"/>
          <p:cNvSpPr txBox="1"/>
          <p:nvPr/>
        </p:nvSpPr>
        <p:spPr>
          <a:xfrm>
            <a:off x="6419088" y="2286000"/>
            <a:ext cx="4983480" cy="2468880"/>
          </a:xfrm>
          <a:prstGeom prst="rect">
            <a:avLst/>
          </a:prstGeom>
          <a:noFill/>
        </p:spPr>
        <p:txBody>
          <a:bodyPr wrap="square">
            <a:spAutoFit/>
          </a:bodyPr>
          <a:lstStyle/>
          <a:p>
            <a:pPr>
              <a:spcAft>
                <a:spcPts val="700"/>
              </a:spcAft>
            </a:pPr>
            <a:r>
              <a:rPr sz="1600">
                <a:solidFill>
                  <a:srgbClr val="1B2A41"/>
                </a:solidFill>
                <a:latin typeface="Calibri"/>
              </a:rPr>
              <a:t>Part 1: fix three seeded errors (a name with a space, "72" + 5, 10 = bonus)</a:t>
            </a:r>
          </a:p>
          <a:p>
            <a:pPr>
              <a:spcAft>
                <a:spcPts val="700"/>
              </a:spcAft>
            </a:pPr>
            <a:r>
              <a:rPr sz="1600">
                <a:solidFill>
                  <a:srgbClr val="1B2A41"/>
                </a:solidFill>
                <a:latin typeface="Calibri"/>
              </a:rPr>
              <a:t>Part 2: weighted mark = test 30%, assignment 30%, exam 40%. Marks 72, 65, 58. State whether the result is within 0 to 100.</a:t>
            </a:r>
          </a:p>
          <a:p>
            <a:pPr>
              <a:spcAft>
                <a:spcPts val="700"/>
              </a:spcAft>
            </a:pPr>
            <a:r>
              <a:rPr sz="1600">
                <a:solidFill>
                  <a:srgbClr val="1B2A41"/>
                </a:solidFill>
                <a:latin typeface="Calibri"/>
              </a:rPr>
              <a:t>Expected: 64.3 and True</a:t>
            </a:r>
          </a:p>
        </p:txBody>
      </p:sp>
      <p:sp>
        <p:nvSpPr>
          <p:cNvPr id="12" name="Rounded Rectangle 11"/>
          <p:cNvSpPr/>
          <p:nvPr/>
        </p:nvSpPr>
        <p:spPr>
          <a:xfrm>
            <a:off x="548640" y="5029200"/>
            <a:ext cx="11091672" cy="640080"/>
          </a:xfrm>
          <a:prstGeom prst="roundRect">
            <a:avLst>
              <a:gd name="adj" fmla="val 12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ctr"/>
            <a:r>
              <a:rPr sz="1700" b="1">
                <a:solidFill>
                  <a:srgbClr val="085797"/>
                </a:solidFill>
                <a:latin typeface="Calibri"/>
              </a:rPr>
              <a:t>Commit to day3: 01_predict_run_explain.py, 02_weighted_mark.py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714232" cy="822960"/>
          </a:xfrm>
        </p:spPr>
        <p:txBody>
          <a:bodyPr wrap="square" anchor="ctr"/>
          <a:lstStyle/>
          <a:p>
            <a:pPr algn="l"/>
            <a:r>
              <a:rPr sz="3200" b="1">
                <a:solidFill>
                  <a:srgbClr val="085797"/>
                </a:solidFill>
                <a:latin typeface="Calibri"/>
              </a:rPr>
              <a:t>Input is always text</a:t>
            </a:r>
          </a:p>
        </p:txBody>
      </p:sp>
      <p:sp>
        <p:nvSpPr>
          <p:cNvPr id="3" name="Rounded Rectangle 2"/>
          <p:cNvSpPr/>
          <p:nvPr/>
        </p:nvSpPr>
        <p:spPr>
          <a:xfrm>
            <a:off x="9445752" y="457200"/>
            <a:ext cx="219456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2A · Input</a:t>
            </a:r>
          </a:p>
        </p:txBody>
      </p:sp>
      <p:sp>
        <p:nvSpPr>
          <p:cNvPr id="4" name="Rounded Rectangle 3"/>
          <p:cNvSpPr/>
          <p:nvPr/>
        </p:nvSpPr>
        <p:spPr>
          <a:xfrm>
            <a:off x="548640" y="1371600"/>
            <a:ext cx="2430018" cy="1097280"/>
          </a:xfrm>
          <a:prstGeom prst="roundRect">
            <a:avLst>
              <a:gd name="adj" fmla="val 10000"/>
            </a:avLst>
          </a:prstGeom>
          <a:solidFill>
            <a:srgbClr val="FFFFFF"/>
          </a:solidFill>
          <a:ln w="25400">
            <a:solidFill>
              <a:srgbClr val="085797"/>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200"/>
              </a:spcAft>
            </a:pPr>
            <a:r>
              <a:rPr sz="1200" b="0" i="0">
                <a:solidFill>
                  <a:srgbClr val="5B6770"/>
                </a:solidFill>
                <a:latin typeface="Calibri"/>
              </a:rPr>
              <a:t>User types</a:t>
            </a:r>
          </a:p>
          <a:p>
            <a:pPr algn="ctr">
              <a:spcAft>
                <a:spcPts val="200"/>
              </a:spcAft>
            </a:pPr>
            <a:r>
              <a:rPr sz="2200" b="1" i="0">
                <a:solidFill>
                  <a:srgbClr val="085797"/>
                </a:solidFill>
                <a:latin typeface="Courier New"/>
              </a:rPr>
              <a:t>72</a:t>
            </a:r>
          </a:p>
        </p:txBody>
      </p:sp>
      <p:sp>
        <p:nvSpPr>
          <p:cNvPr id="5" name="Right Arrow 4"/>
          <p:cNvSpPr/>
          <p:nvPr/>
        </p:nvSpPr>
        <p:spPr>
          <a:xfrm>
            <a:off x="3024378" y="1783080"/>
            <a:ext cx="365760" cy="274320"/>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435858" y="1371600"/>
            <a:ext cx="2430018" cy="1097280"/>
          </a:xfrm>
          <a:prstGeom prst="roundRect">
            <a:avLst>
              <a:gd name="adj" fmla="val 10000"/>
            </a:avLst>
          </a:prstGeom>
          <a:solidFill>
            <a:srgbClr val="FFFFFF"/>
          </a:solidFill>
          <a:ln w="25400">
            <a:solidFill>
              <a:srgbClr val="C9780A"/>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200"/>
              </a:spcAft>
            </a:pPr>
            <a:r>
              <a:rPr sz="1600" b="1" i="0">
                <a:solidFill>
                  <a:srgbClr val="C9780A"/>
                </a:solidFill>
                <a:latin typeface="Courier New"/>
              </a:rPr>
              <a:t>input()</a:t>
            </a:r>
          </a:p>
          <a:p>
            <a:pPr algn="ctr">
              <a:spcAft>
                <a:spcPts val="200"/>
              </a:spcAft>
            </a:pPr>
            <a:r>
              <a:rPr sz="1200" b="0" i="0">
                <a:solidFill>
                  <a:srgbClr val="1B2A41"/>
                </a:solidFill>
                <a:latin typeface="Calibri"/>
              </a:rPr>
              <a:t>returns a str  </a:t>
            </a:r>
            <a:r>
              <a:rPr sz="1400" b="1" i="0">
                <a:solidFill>
                  <a:srgbClr val="E31E3B"/>
                </a:solidFill>
                <a:latin typeface="Courier New"/>
              </a:rPr>
              <a:t>"72"</a:t>
            </a:r>
          </a:p>
        </p:txBody>
      </p:sp>
      <p:sp>
        <p:nvSpPr>
          <p:cNvPr id="7" name="Right Arrow 6"/>
          <p:cNvSpPr/>
          <p:nvPr/>
        </p:nvSpPr>
        <p:spPr>
          <a:xfrm>
            <a:off x="5911596" y="1783080"/>
            <a:ext cx="365760" cy="274320"/>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23076" y="1371600"/>
            <a:ext cx="2430018" cy="1097280"/>
          </a:xfrm>
          <a:prstGeom prst="roundRect">
            <a:avLst>
              <a:gd name="adj" fmla="val 10000"/>
            </a:avLst>
          </a:prstGeom>
          <a:solidFill>
            <a:srgbClr val="FFFFFF"/>
          </a:solidFill>
          <a:ln w="25400">
            <a:solidFill>
              <a:srgbClr val="E31E3B"/>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200"/>
              </a:spcAft>
            </a:pPr>
            <a:r>
              <a:rPr sz="1600" b="1" i="0">
                <a:solidFill>
                  <a:srgbClr val="2E8B57"/>
                </a:solidFill>
                <a:latin typeface="Courier New"/>
              </a:rPr>
              <a:t>int(...)</a:t>
            </a:r>
          </a:p>
          <a:p>
            <a:pPr algn="ctr">
              <a:spcAft>
                <a:spcPts val="200"/>
              </a:spcAft>
            </a:pPr>
            <a:r>
              <a:rPr sz="1200" b="0" i="0">
                <a:solidFill>
                  <a:srgbClr val="1B2A41"/>
                </a:solidFill>
                <a:latin typeface="Calibri"/>
              </a:rPr>
              <a:t>converts it</a:t>
            </a:r>
          </a:p>
        </p:txBody>
      </p:sp>
      <p:sp>
        <p:nvSpPr>
          <p:cNvPr id="9" name="Right Arrow 8"/>
          <p:cNvSpPr/>
          <p:nvPr/>
        </p:nvSpPr>
        <p:spPr>
          <a:xfrm>
            <a:off x="8798814" y="1783080"/>
            <a:ext cx="365760" cy="274320"/>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210294" y="1371600"/>
            <a:ext cx="2430018" cy="1097280"/>
          </a:xfrm>
          <a:prstGeom prst="roundRect">
            <a:avLst>
              <a:gd name="adj" fmla="val 10000"/>
            </a:avLst>
          </a:prstGeom>
          <a:solidFill>
            <a:srgbClr val="FFFFFF"/>
          </a:solidFill>
          <a:ln w="25400">
            <a:solidFill>
              <a:srgbClr val="2E8B57"/>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200"/>
              </a:spcAft>
            </a:pPr>
            <a:r>
              <a:rPr sz="1200" b="0" i="0">
                <a:solidFill>
                  <a:srgbClr val="5B6770"/>
                </a:solidFill>
                <a:latin typeface="Calibri"/>
              </a:rPr>
              <a:t>Number you can use</a:t>
            </a:r>
          </a:p>
          <a:p>
            <a:pPr algn="ctr">
              <a:spcAft>
                <a:spcPts val="200"/>
              </a:spcAft>
            </a:pPr>
            <a:r>
              <a:rPr sz="2200" b="1" i="0">
                <a:solidFill>
                  <a:srgbClr val="2E8B57"/>
                </a:solidFill>
                <a:latin typeface="Courier New"/>
              </a:rPr>
              <a:t>72</a:t>
            </a:r>
          </a:p>
        </p:txBody>
      </p:sp>
      <p:graphicFrame>
        <p:nvGraphicFramePr>
          <p:cNvPr id="11" name="Table 10"/>
          <p:cNvGraphicFramePr>
            <a:graphicFrameLocks noGrp="1"/>
          </p:cNvGraphicFramePr>
          <p:nvPr/>
        </p:nvGraphicFramePr>
        <p:xfrm>
          <a:off x="548640" y="2743200"/>
          <a:ext cx="7315200" cy="2852928"/>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75488">
                <a:tc>
                  <a:txBody>
                    <a:bodyPr/>
                    <a:lstStyle/>
                    <a:p>
                      <a:pPr algn="l">
                        <a:spcAft>
                          <a:spcPts val="0"/>
                        </a:spcAft>
                      </a:pPr>
                      <a:r>
                        <a:rPr sz="1400" b="1" i="0">
                          <a:solidFill>
                            <a:srgbClr val="FFFFFF"/>
                          </a:solidFill>
                          <a:latin typeface="Calibri"/>
                        </a:rPr>
                        <a:t>Call</a:t>
                      </a:r>
                    </a:p>
                  </a:txBody>
                  <a:tcPr anchor="ctr">
                    <a:solidFill>
                      <a:srgbClr val="085797"/>
                    </a:solidFill>
                  </a:tcPr>
                </a:tc>
                <a:tc>
                  <a:txBody>
                    <a:bodyPr/>
                    <a:lstStyle/>
                    <a:p>
                      <a:pPr algn="l">
                        <a:spcAft>
                          <a:spcPts val="0"/>
                        </a:spcAft>
                      </a:pPr>
                      <a:r>
                        <a:rPr sz="1400" b="1" i="0">
                          <a:solidFill>
                            <a:srgbClr val="FFFFFF"/>
                          </a:solidFill>
                          <a:latin typeface="Calibri"/>
                        </a:rPr>
                        <a:t>Result</a:t>
                      </a:r>
                    </a:p>
                  </a:txBody>
                  <a:tcPr anchor="ctr">
                    <a:solidFill>
                      <a:srgbClr val="085797"/>
                    </a:solidFill>
                  </a:tcPr>
                </a:tc>
                <a:tc>
                  <a:txBody>
                    <a:bodyPr/>
                    <a:lstStyle/>
                    <a:p>
                      <a:pPr algn="l">
                        <a:spcAft>
                          <a:spcPts val="0"/>
                        </a:spcAft>
                      </a:pPr>
                      <a:r>
                        <a:rPr sz="1400" b="1" i="0">
                          <a:solidFill>
                            <a:srgbClr val="FFFFFF"/>
                          </a:solidFill>
                          <a:latin typeface="Calibri"/>
                        </a:rPr>
                        <a:t>Note</a:t>
                      </a:r>
                    </a:p>
                  </a:txBody>
                  <a:tcPr anchor="ctr">
                    <a:solidFill>
                      <a:srgbClr val="085797"/>
                    </a:solidFill>
                  </a:tcPr>
                </a:tc>
                <a:extLst>
                  <a:ext uri="{0D108BD9-81ED-4DB2-BD59-A6C34878D82A}">
                    <a16:rowId xmlns:a16="http://schemas.microsoft.com/office/drawing/2014/main" val="10000"/>
                  </a:ext>
                </a:extLst>
              </a:tr>
              <a:tr h="475488">
                <a:tc>
                  <a:txBody>
                    <a:bodyPr/>
                    <a:lstStyle/>
                    <a:p>
                      <a:pPr algn="l">
                        <a:spcAft>
                          <a:spcPts val="0"/>
                        </a:spcAft>
                      </a:pPr>
                      <a:r>
                        <a:rPr sz="1400" b="0" i="0">
                          <a:solidFill>
                            <a:srgbClr val="1B2A41"/>
                          </a:solidFill>
                          <a:latin typeface="Courier New"/>
                        </a:rPr>
                        <a:t>int("72")</a:t>
                      </a:r>
                    </a:p>
                  </a:txBody>
                  <a:tcPr anchor="ctr">
                    <a:solidFill>
                      <a:srgbClr val="E8F0F8"/>
                    </a:solidFill>
                  </a:tcPr>
                </a:tc>
                <a:tc>
                  <a:txBody>
                    <a:bodyPr/>
                    <a:lstStyle/>
                    <a:p>
                      <a:pPr algn="l">
                        <a:spcAft>
                          <a:spcPts val="0"/>
                        </a:spcAft>
                      </a:pPr>
                      <a:r>
                        <a:rPr sz="1400" b="0" i="0">
                          <a:solidFill>
                            <a:srgbClr val="1B2A41"/>
                          </a:solidFill>
                          <a:latin typeface="Courier New"/>
                        </a:rPr>
                        <a:t>72</a:t>
                      </a:r>
                    </a:p>
                  </a:txBody>
                  <a:tcPr anchor="ctr">
                    <a:solidFill>
                      <a:srgbClr val="E8F0F8"/>
                    </a:solidFill>
                  </a:tcPr>
                </a:tc>
                <a:tc>
                  <a:txBody>
                    <a:bodyPr/>
                    <a:lstStyle/>
                    <a:p>
                      <a:pPr algn="l">
                        <a:spcAft>
                          <a:spcPts val="0"/>
                        </a:spcAft>
                      </a:pPr>
                      <a:r>
                        <a:rPr sz="1400" b="0" i="0">
                          <a:solidFill>
                            <a:srgbClr val="1B2A41"/>
                          </a:solidFill>
                          <a:latin typeface="Calibri"/>
                        </a:rPr>
                        <a:t>Text to whole number</a:t>
                      </a:r>
                    </a:p>
                  </a:txBody>
                  <a:tcPr anchor="ctr">
                    <a:solidFill>
                      <a:srgbClr val="E8F0F8"/>
                    </a:solidFill>
                  </a:tcPr>
                </a:tc>
                <a:extLst>
                  <a:ext uri="{0D108BD9-81ED-4DB2-BD59-A6C34878D82A}">
                    <a16:rowId xmlns:a16="http://schemas.microsoft.com/office/drawing/2014/main" val="10001"/>
                  </a:ext>
                </a:extLst>
              </a:tr>
              <a:tr h="475488">
                <a:tc>
                  <a:txBody>
                    <a:bodyPr/>
                    <a:lstStyle/>
                    <a:p>
                      <a:pPr algn="l">
                        <a:spcAft>
                          <a:spcPts val="0"/>
                        </a:spcAft>
                      </a:pPr>
                      <a:r>
                        <a:rPr sz="1400" b="0" i="0">
                          <a:solidFill>
                            <a:srgbClr val="1B2A41"/>
                          </a:solidFill>
                          <a:latin typeface="Courier New"/>
                        </a:rPr>
                        <a:t>int(3.9)</a:t>
                      </a:r>
                    </a:p>
                  </a:txBody>
                  <a:tcPr anchor="ctr">
                    <a:solidFill>
                      <a:srgbClr val="FFFFFF"/>
                    </a:solidFill>
                  </a:tcPr>
                </a:tc>
                <a:tc>
                  <a:txBody>
                    <a:bodyPr/>
                    <a:lstStyle/>
                    <a:p>
                      <a:pPr algn="l">
                        <a:spcAft>
                          <a:spcPts val="0"/>
                        </a:spcAft>
                      </a:pPr>
                      <a:r>
                        <a:rPr sz="1400" b="0" i="0">
                          <a:solidFill>
                            <a:srgbClr val="1B2A41"/>
                          </a:solidFill>
                          <a:latin typeface="Courier New"/>
                        </a:rPr>
                        <a:t>3</a:t>
                      </a:r>
                    </a:p>
                  </a:txBody>
                  <a:tcPr anchor="ctr">
                    <a:solidFill>
                      <a:srgbClr val="FFFFFF"/>
                    </a:solidFill>
                  </a:tcPr>
                </a:tc>
                <a:tc>
                  <a:txBody>
                    <a:bodyPr/>
                    <a:lstStyle/>
                    <a:p>
                      <a:pPr algn="l">
                        <a:spcAft>
                          <a:spcPts val="0"/>
                        </a:spcAft>
                      </a:pPr>
                      <a:r>
                        <a:rPr sz="1400" b="0" i="0">
                          <a:solidFill>
                            <a:srgbClr val="1B2A41"/>
                          </a:solidFill>
                          <a:latin typeface="Calibri"/>
                        </a:rPr>
                        <a:t>Cuts off decimals, does not round</a:t>
                      </a:r>
                    </a:p>
                  </a:txBody>
                  <a:tcPr anchor="ctr">
                    <a:solidFill>
                      <a:srgbClr val="FFFFFF"/>
                    </a:solidFill>
                  </a:tcPr>
                </a:tc>
                <a:extLst>
                  <a:ext uri="{0D108BD9-81ED-4DB2-BD59-A6C34878D82A}">
                    <a16:rowId xmlns:a16="http://schemas.microsoft.com/office/drawing/2014/main" val="10002"/>
                  </a:ext>
                </a:extLst>
              </a:tr>
              <a:tr h="475488">
                <a:tc>
                  <a:txBody>
                    <a:bodyPr/>
                    <a:lstStyle/>
                    <a:p>
                      <a:pPr algn="l">
                        <a:spcAft>
                          <a:spcPts val="0"/>
                        </a:spcAft>
                      </a:pPr>
                      <a:r>
                        <a:rPr sz="1400" b="0" i="0">
                          <a:solidFill>
                            <a:srgbClr val="1B2A41"/>
                          </a:solidFill>
                          <a:latin typeface="Courier New"/>
                        </a:rPr>
                        <a:t>float("2.5")</a:t>
                      </a:r>
                    </a:p>
                  </a:txBody>
                  <a:tcPr anchor="ctr">
                    <a:solidFill>
                      <a:srgbClr val="E8F0F8"/>
                    </a:solidFill>
                  </a:tcPr>
                </a:tc>
                <a:tc>
                  <a:txBody>
                    <a:bodyPr/>
                    <a:lstStyle/>
                    <a:p>
                      <a:pPr algn="l">
                        <a:spcAft>
                          <a:spcPts val="0"/>
                        </a:spcAft>
                      </a:pPr>
                      <a:r>
                        <a:rPr sz="1400" b="0" i="0">
                          <a:solidFill>
                            <a:srgbClr val="1B2A41"/>
                          </a:solidFill>
                          <a:latin typeface="Courier New"/>
                        </a:rPr>
                        <a:t>2.5</a:t>
                      </a:r>
                    </a:p>
                  </a:txBody>
                  <a:tcPr anchor="ctr">
                    <a:solidFill>
                      <a:srgbClr val="E8F0F8"/>
                    </a:solidFill>
                  </a:tcPr>
                </a:tc>
                <a:tc>
                  <a:txBody>
                    <a:bodyPr/>
                    <a:lstStyle/>
                    <a:p>
                      <a:pPr algn="l">
                        <a:spcAft>
                          <a:spcPts val="0"/>
                        </a:spcAft>
                      </a:pPr>
                      <a:r>
                        <a:rPr sz="1400" b="0" i="0">
                          <a:solidFill>
                            <a:srgbClr val="1B2A41"/>
                          </a:solidFill>
                          <a:latin typeface="Calibri"/>
                        </a:rPr>
                        <a:t>Text to decimal</a:t>
                      </a:r>
                    </a:p>
                  </a:txBody>
                  <a:tcPr anchor="ctr">
                    <a:solidFill>
                      <a:srgbClr val="E8F0F8"/>
                    </a:solidFill>
                  </a:tcPr>
                </a:tc>
                <a:extLst>
                  <a:ext uri="{0D108BD9-81ED-4DB2-BD59-A6C34878D82A}">
                    <a16:rowId xmlns:a16="http://schemas.microsoft.com/office/drawing/2014/main" val="10003"/>
                  </a:ext>
                </a:extLst>
              </a:tr>
              <a:tr h="475488">
                <a:tc>
                  <a:txBody>
                    <a:bodyPr/>
                    <a:lstStyle/>
                    <a:p>
                      <a:pPr algn="l">
                        <a:spcAft>
                          <a:spcPts val="0"/>
                        </a:spcAft>
                      </a:pPr>
                      <a:r>
                        <a:rPr sz="1400" b="0" i="0">
                          <a:solidFill>
                            <a:srgbClr val="1B2A41"/>
                          </a:solidFill>
                          <a:latin typeface="Courier New"/>
                        </a:rPr>
                        <a:t>str(7)</a:t>
                      </a:r>
                    </a:p>
                  </a:txBody>
                  <a:tcPr anchor="ctr">
                    <a:solidFill>
                      <a:srgbClr val="FFFFFF"/>
                    </a:solidFill>
                  </a:tcPr>
                </a:tc>
                <a:tc>
                  <a:txBody>
                    <a:bodyPr/>
                    <a:lstStyle/>
                    <a:p>
                      <a:pPr algn="l">
                        <a:spcAft>
                          <a:spcPts val="0"/>
                        </a:spcAft>
                      </a:pPr>
                      <a:r>
                        <a:rPr sz="1400" b="0" i="0">
                          <a:solidFill>
                            <a:srgbClr val="1B2A41"/>
                          </a:solidFill>
                          <a:latin typeface="Courier New"/>
                        </a:rPr>
                        <a:t>"7"</a:t>
                      </a:r>
                    </a:p>
                  </a:txBody>
                  <a:tcPr anchor="ctr">
                    <a:solidFill>
                      <a:srgbClr val="FFFFFF"/>
                    </a:solidFill>
                  </a:tcPr>
                </a:tc>
                <a:tc>
                  <a:txBody>
                    <a:bodyPr/>
                    <a:lstStyle/>
                    <a:p>
                      <a:pPr algn="l">
                        <a:spcAft>
                          <a:spcPts val="0"/>
                        </a:spcAft>
                      </a:pPr>
                      <a:r>
                        <a:rPr sz="1400" b="0" i="0">
                          <a:solidFill>
                            <a:srgbClr val="1B2A41"/>
                          </a:solidFill>
                          <a:latin typeface="Calibri"/>
                        </a:rPr>
                        <a:t>Number to text</a:t>
                      </a:r>
                    </a:p>
                  </a:txBody>
                  <a:tcPr anchor="ctr">
                    <a:solidFill>
                      <a:srgbClr val="FFFFFF"/>
                    </a:solidFill>
                  </a:tcPr>
                </a:tc>
                <a:extLst>
                  <a:ext uri="{0D108BD9-81ED-4DB2-BD59-A6C34878D82A}">
                    <a16:rowId xmlns:a16="http://schemas.microsoft.com/office/drawing/2014/main" val="10004"/>
                  </a:ext>
                </a:extLst>
              </a:tr>
              <a:tr h="475488">
                <a:tc>
                  <a:txBody>
                    <a:bodyPr/>
                    <a:lstStyle/>
                    <a:p>
                      <a:pPr algn="l">
                        <a:spcAft>
                          <a:spcPts val="0"/>
                        </a:spcAft>
                      </a:pPr>
                      <a:r>
                        <a:rPr sz="1400" b="0" i="0">
                          <a:solidFill>
                            <a:srgbClr val="1B2A41"/>
                          </a:solidFill>
                          <a:latin typeface="Courier New"/>
                        </a:rPr>
                        <a:t>int("12a")</a:t>
                      </a:r>
                    </a:p>
                  </a:txBody>
                  <a:tcPr anchor="ctr">
                    <a:solidFill>
                      <a:srgbClr val="E8F0F8"/>
                    </a:solidFill>
                  </a:tcPr>
                </a:tc>
                <a:tc>
                  <a:txBody>
                    <a:bodyPr/>
                    <a:lstStyle/>
                    <a:p>
                      <a:pPr algn="l">
                        <a:spcAft>
                          <a:spcPts val="0"/>
                        </a:spcAft>
                      </a:pPr>
                      <a:r>
                        <a:rPr sz="1400" b="0" i="0">
                          <a:solidFill>
                            <a:srgbClr val="E31E3B"/>
                          </a:solidFill>
                          <a:latin typeface="Courier New"/>
                        </a:rPr>
                        <a:t>ValueError</a:t>
                      </a:r>
                    </a:p>
                  </a:txBody>
                  <a:tcPr anchor="ctr">
                    <a:solidFill>
                      <a:srgbClr val="E8F0F8"/>
                    </a:solidFill>
                  </a:tcPr>
                </a:tc>
                <a:tc>
                  <a:txBody>
                    <a:bodyPr/>
                    <a:lstStyle/>
                    <a:p>
                      <a:pPr algn="l">
                        <a:spcAft>
                          <a:spcPts val="0"/>
                        </a:spcAft>
                      </a:pPr>
                      <a:r>
                        <a:rPr sz="1400" b="0" i="0">
                          <a:solidFill>
                            <a:srgbClr val="1B2A41"/>
                          </a:solidFill>
                          <a:latin typeface="Calibri"/>
                        </a:rPr>
                        <a:t>Text is not a whole number</a:t>
                      </a:r>
                    </a:p>
                  </a:txBody>
                  <a:tcPr anchor="ctr">
                    <a:solidFill>
                      <a:srgbClr val="E8F0F8"/>
                    </a:solidFill>
                  </a:tcPr>
                </a:tc>
                <a:extLst>
                  <a:ext uri="{0D108BD9-81ED-4DB2-BD59-A6C34878D82A}">
                    <a16:rowId xmlns:a16="http://schemas.microsoft.com/office/drawing/2014/main" val="10005"/>
                  </a:ext>
                </a:extLst>
              </a:tr>
            </a:tbl>
          </a:graphicData>
        </a:graphic>
      </p:graphicFrame>
      <p:sp>
        <p:nvSpPr>
          <p:cNvPr id="12" name="Oval 11"/>
          <p:cNvSpPr/>
          <p:nvPr/>
        </p:nvSpPr>
        <p:spPr>
          <a:xfrm>
            <a:off x="8595359" y="2834640"/>
            <a:ext cx="365760" cy="365760"/>
          </a:xfrm>
          <a:prstGeom prst="ellipse">
            <a:avLst/>
          </a:prstGeom>
          <a:solidFill>
            <a:srgbClr val="F2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 Same Side Corner Rectangle 12"/>
          <p:cNvSpPr/>
          <p:nvPr/>
        </p:nvSpPr>
        <p:spPr>
          <a:xfrm>
            <a:off x="8412480" y="3246120"/>
            <a:ext cx="731520" cy="640080"/>
          </a:xfrm>
          <a:prstGeom prst="round2SameRect">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555480" y="2743200"/>
            <a:ext cx="2084831" cy="1097280"/>
          </a:xfrm>
          <a:prstGeom prst="roundRect">
            <a:avLst>
              <a:gd name="adj" fmla="val 16666"/>
            </a:avLst>
          </a:prstGeom>
          <a:solidFill>
            <a:srgbClr val="FFF4D6"/>
          </a:solidFill>
          <a:ln w="1270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400" b="1" i="0">
                <a:solidFill>
                  <a:srgbClr val="085797"/>
                </a:solidFill>
                <a:latin typeface="Calibri"/>
              </a:rPr>
              <a:t>Type 2.5,</a:t>
            </a:r>
          </a:p>
          <a:p>
            <a:pPr algn="ctr">
              <a:spcAft>
                <a:spcPts val="200"/>
              </a:spcAft>
            </a:pPr>
            <a:r>
              <a:rPr sz="1400" b="1" i="0">
                <a:solidFill>
                  <a:srgbClr val="E31E3B"/>
                </a:solidFill>
                <a:latin typeface="Calibri"/>
              </a:rPr>
              <a:t>not 2,5</a:t>
            </a:r>
          </a:p>
        </p:txBody>
      </p:sp>
      <p:sp>
        <p:nvSpPr>
          <p:cNvPr id="15" name="TextBox 14"/>
          <p:cNvSpPr txBox="1"/>
          <p:nvPr/>
        </p:nvSpPr>
        <p:spPr>
          <a:xfrm>
            <a:off x="8321040" y="4251960"/>
            <a:ext cx="3337560" cy="1188720"/>
          </a:xfrm>
          <a:prstGeom prst="rect">
            <a:avLst/>
          </a:prstGeom>
          <a:noFill/>
        </p:spPr>
        <p:txBody>
          <a:bodyPr wrap="square" lIns="45720" rIns="45720" anchor="t">
            <a:spAutoFit/>
          </a:bodyPr>
          <a:lstStyle/>
          <a:p>
            <a:pPr algn="l">
              <a:spcAft>
                <a:spcPts val="400"/>
              </a:spcAft>
            </a:pPr>
            <a:r>
              <a:rPr sz="1400" b="0" i="1">
                <a:solidFill>
                  <a:srgbClr val="5B6770"/>
                </a:solidFill>
                <a:latin typeface="Calibri"/>
              </a:rPr>
              <a:t>Python needs a decimal point. South African delegates take note.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257032" cy="822960"/>
          </a:xfrm>
        </p:spPr>
        <p:txBody>
          <a:bodyPr wrap="square" anchor="ctr"/>
          <a:lstStyle/>
          <a:p>
            <a:pPr algn="l"/>
            <a:r>
              <a:rPr sz="3200" b="1">
                <a:solidFill>
                  <a:srgbClr val="085797"/>
                </a:solidFill>
                <a:latin typeface="Calibri"/>
              </a:rPr>
              <a:t>Precedence: who goes first?</a:t>
            </a:r>
          </a:p>
        </p:txBody>
      </p:sp>
      <p:sp>
        <p:nvSpPr>
          <p:cNvPr id="3" name="Rounded Rectangle 2"/>
          <p:cNvSpPr/>
          <p:nvPr/>
        </p:nvSpPr>
        <p:spPr>
          <a:xfrm>
            <a:off x="8988552" y="457200"/>
            <a:ext cx="265176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2A · Precedence</a:t>
            </a:r>
          </a:p>
        </p:txBody>
      </p:sp>
      <p:sp>
        <p:nvSpPr>
          <p:cNvPr id="4" name="Rounded Rectangle 3"/>
          <p:cNvSpPr/>
          <p:nvPr/>
        </p:nvSpPr>
        <p:spPr>
          <a:xfrm>
            <a:off x="548640" y="1280160"/>
            <a:ext cx="6035040" cy="685800"/>
          </a:xfrm>
          <a:prstGeom prst="roundRect">
            <a:avLst>
              <a:gd name="adj" fmla="val 13333"/>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80160"/>
            <a:ext cx="457200" cy="685800"/>
          </a:xfrm>
          <a:prstGeom prst="rect">
            <a:avLst/>
          </a:prstGeom>
          <a:noFill/>
        </p:spPr>
        <p:txBody>
          <a:bodyPr wrap="square" lIns="45720" rIns="45720" anchor="ctr">
            <a:spAutoFit/>
          </a:bodyPr>
          <a:lstStyle/>
          <a:p>
            <a:pPr algn="l">
              <a:spcAft>
                <a:spcPts val="400"/>
              </a:spcAft>
            </a:pPr>
            <a:r>
              <a:rPr sz="2400" b="1" i="0">
                <a:solidFill>
                  <a:srgbClr val="FFFFFF"/>
                </a:solidFill>
                <a:latin typeface="Calibri"/>
              </a:rPr>
              <a:t>1</a:t>
            </a:r>
          </a:p>
        </p:txBody>
      </p:sp>
      <p:sp>
        <p:nvSpPr>
          <p:cNvPr id="6" name="TextBox 5"/>
          <p:cNvSpPr txBox="1"/>
          <p:nvPr/>
        </p:nvSpPr>
        <p:spPr>
          <a:xfrm>
            <a:off x="1143000" y="1280160"/>
            <a:ext cx="3840479" cy="685800"/>
          </a:xfrm>
          <a:prstGeom prst="rect">
            <a:avLst/>
          </a:prstGeom>
          <a:noFill/>
        </p:spPr>
        <p:txBody>
          <a:bodyPr wrap="square" lIns="45720" rIns="45720" anchor="ctr">
            <a:spAutoFit/>
          </a:bodyPr>
          <a:lstStyle/>
          <a:p>
            <a:pPr algn="l">
              <a:spcAft>
                <a:spcPts val="400"/>
              </a:spcAft>
            </a:pPr>
            <a:r>
              <a:rPr sz="1500" b="1" i="0">
                <a:solidFill>
                  <a:srgbClr val="FFFFFF"/>
                </a:solidFill>
                <a:latin typeface="Calibri"/>
              </a:rPr>
              <a:t>Brackets</a:t>
            </a:r>
          </a:p>
        </p:txBody>
      </p:sp>
      <p:sp>
        <p:nvSpPr>
          <p:cNvPr id="7" name="TextBox 6"/>
          <p:cNvSpPr txBox="1"/>
          <p:nvPr/>
        </p:nvSpPr>
        <p:spPr>
          <a:xfrm>
            <a:off x="4983479" y="1280160"/>
            <a:ext cx="1508760" cy="685800"/>
          </a:xfrm>
          <a:prstGeom prst="rect">
            <a:avLst/>
          </a:prstGeom>
          <a:noFill/>
        </p:spPr>
        <p:txBody>
          <a:bodyPr wrap="square" lIns="45720" rIns="45720" anchor="ctr">
            <a:spAutoFit/>
          </a:bodyPr>
          <a:lstStyle/>
          <a:p>
            <a:pPr algn="r">
              <a:spcAft>
                <a:spcPts val="400"/>
              </a:spcAft>
            </a:pPr>
            <a:r>
              <a:rPr sz="1600" b="1" i="0">
                <a:solidFill>
                  <a:srgbClr val="FFFFFF"/>
                </a:solidFill>
                <a:latin typeface="Courier New"/>
              </a:rPr>
              <a:t>( )</a:t>
            </a:r>
          </a:p>
        </p:txBody>
      </p:sp>
      <p:sp>
        <p:nvSpPr>
          <p:cNvPr id="8" name="Rounded Rectangle 7"/>
          <p:cNvSpPr/>
          <p:nvPr/>
        </p:nvSpPr>
        <p:spPr>
          <a:xfrm>
            <a:off x="868680" y="2057400"/>
            <a:ext cx="5715000" cy="685800"/>
          </a:xfrm>
          <a:prstGeom prst="roundRect">
            <a:avLst>
              <a:gd name="adj" fmla="val 13333"/>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39" y="2057400"/>
            <a:ext cx="457200" cy="685800"/>
          </a:xfrm>
          <a:prstGeom prst="rect">
            <a:avLst/>
          </a:prstGeom>
          <a:noFill/>
        </p:spPr>
        <p:txBody>
          <a:bodyPr wrap="square" lIns="45720" rIns="45720" anchor="ctr">
            <a:spAutoFit/>
          </a:bodyPr>
          <a:lstStyle/>
          <a:p>
            <a:pPr algn="l">
              <a:spcAft>
                <a:spcPts val="400"/>
              </a:spcAft>
            </a:pPr>
            <a:r>
              <a:rPr sz="2400" b="1" i="0">
                <a:solidFill>
                  <a:srgbClr val="FFFFFF"/>
                </a:solidFill>
                <a:latin typeface="Calibri"/>
              </a:rPr>
              <a:t>2</a:t>
            </a:r>
          </a:p>
        </p:txBody>
      </p:sp>
      <p:sp>
        <p:nvSpPr>
          <p:cNvPr id="10" name="TextBox 9"/>
          <p:cNvSpPr txBox="1"/>
          <p:nvPr/>
        </p:nvSpPr>
        <p:spPr>
          <a:xfrm>
            <a:off x="1463040" y="2057400"/>
            <a:ext cx="3520440" cy="685800"/>
          </a:xfrm>
          <a:prstGeom prst="rect">
            <a:avLst/>
          </a:prstGeom>
          <a:noFill/>
        </p:spPr>
        <p:txBody>
          <a:bodyPr wrap="square" lIns="45720" rIns="45720" anchor="ctr">
            <a:spAutoFit/>
          </a:bodyPr>
          <a:lstStyle/>
          <a:p>
            <a:pPr algn="l">
              <a:spcAft>
                <a:spcPts val="400"/>
              </a:spcAft>
            </a:pPr>
            <a:r>
              <a:rPr sz="1500" b="1" i="0">
                <a:solidFill>
                  <a:srgbClr val="FFFFFF"/>
                </a:solidFill>
                <a:latin typeface="Calibri"/>
              </a:rPr>
              <a:t>Power</a:t>
            </a:r>
          </a:p>
        </p:txBody>
      </p:sp>
      <p:sp>
        <p:nvSpPr>
          <p:cNvPr id="11" name="TextBox 10"/>
          <p:cNvSpPr txBox="1"/>
          <p:nvPr/>
        </p:nvSpPr>
        <p:spPr>
          <a:xfrm>
            <a:off x="4983480" y="2057400"/>
            <a:ext cx="1508760" cy="685800"/>
          </a:xfrm>
          <a:prstGeom prst="rect">
            <a:avLst/>
          </a:prstGeom>
          <a:noFill/>
        </p:spPr>
        <p:txBody>
          <a:bodyPr wrap="square" lIns="45720" rIns="45720" anchor="ctr">
            <a:spAutoFit/>
          </a:bodyPr>
          <a:lstStyle/>
          <a:p>
            <a:pPr algn="r">
              <a:spcAft>
                <a:spcPts val="400"/>
              </a:spcAft>
            </a:pPr>
            <a:r>
              <a:rPr sz="1600" b="1" i="0">
                <a:solidFill>
                  <a:srgbClr val="FFFFFF"/>
                </a:solidFill>
                <a:latin typeface="Courier New"/>
              </a:rPr>
              <a:t>**</a:t>
            </a:r>
          </a:p>
        </p:txBody>
      </p:sp>
      <p:sp>
        <p:nvSpPr>
          <p:cNvPr id="12" name="Rounded Rectangle 11"/>
          <p:cNvSpPr/>
          <p:nvPr/>
        </p:nvSpPr>
        <p:spPr>
          <a:xfrm>
            <a:off x="1188719" y="2834639"/>
            <a:ext cx="5394959" cy="685800"/>
          </a:xfrm>
          <a:prstGeom prst="roundRect">
            <a:avLst>
              <a:gd name="adj" fmla="val 13333"/>
            </a:avLst>
          </a:prstGeom>
          <a:solidFill>
            <a:srgbClr val="C9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25879" y="2834639"/>
            <a:ext cx="457200" cy="685800"/>
          </a:xfrm>
          <a:prstGeom prst="rect">
            <a:avLst/>
          </a:prstGeom>
          <a:noFill/>
        </p:spPr>
        <p:txBody>
          <a:bodyPr wrap="square" lIns="45720" rIns="45720" anchor="ctr">
            <a:spAutoFit/>
          </a:bodyPr>
          <a:lstStyle/>
          <a:p>
            <a:pPr algn="l">
              <a:spcAft>
                <a:spcPts val="400"/>
              </a:spcAft>
            </a:pPr>
            <a:r>
              <a:rPr sz="2400" b="1" i="0">
                <a:solidFill>
                  <a:srgbClr val="FFFFFF"/>
                </a:solidFill>
                <a:latin typeface="Calibri"/>
              </a:rPr>
              <a:t>3</a:t>
            </a:r>
          </a:p>
        </p:txBody>
      </p:sp>
      <p:sp>
        <p:nvSpPr>
          <p:cNvPr id="14" name="TextBox 13"/>
          <p:cNvSpPr txBox="1"/>
          <p:nvPr/>
        </p:nvSpPr>
        <p:spPr>
          <a:xfrm>
            <a:off x="1783079" y="2834639"/>
            <a:ext cx="3200399" cy="685800"/>
          </a:xfrm>
          <a:prstGeom prst="rect">
            <a:avLst/>
          </a:prstGeom>
          <a:noFill/>
        </p:spPr>
        <p:txBody>
          <a:bodyPr wrap="square" lIns="45720" rIns="45720" anchor="ctr">
            <a:spAutoFit/>
          </a:bodyPr>
          <a:lstStyle/>
          <a:p>
            <a:pPr algn="l">
              <a:spcAft>
                <a:spcPts val="400"/>
              </a:spcAft>
            </a:pPr>
            <a:r>
              <a:rPr sz="1500" b="1" i="0">
                <a:solidFill>
                  <a:srgbClr val="FFFFFF"/>
                </a:solidFill>
                <a:latin typeface="Calibri"/>
              </a:rPr>
              <a:t>Multiply, divide, floor, remainder</a:t>
            </a:r>
          </a:p>
        </p:txBody>
      </p:sp>
      <p:sp>
        <p:nvSpPr>
          <p:cNvPr id="15" name="TextBox 14"/>
          <p:cNvSpPr txBox="1"/>
          <p:nvPr/>
        </p:nvSpPr>
        <p:spPr>
          <a:xfrm>
            <a:off x="4983479" y="2834639"/>
            <a:ext cx="1508760" cy="685800"/>
          </a:xfrm>
          <a:prstGeom prst="rect">
            <a:avLst/>
          </a:prstGeom>
          <a:noFill/>
        </p:spPr>
        <p:txBody>
          <a:bodyPr wrap="square" lIns="45720" rIns="45720" anchor="ctr">
            <a:spAutoFit/>
          </a:bodyPr>
          <a:lstStyle/>
          <a:p>
            <a:pPr algn="r">
              <a:spcAft>
                <a:spcPts val="400"/>
              </a:spcAft>
            </a:pPr>
            <a:r>
              <a:rPr sz="1600" b="1" i="0">
                <a:solidFill>
                  <a:srgbClr val="FFFFFF"/>
                </a:solidFill>
                <a:latin typeface="Courier New"/>
              </a:rPr>
              <a:t>*  /  //  %</a:t>
            </a:r>
          </a:p>
        </p:txBody>
      </p:sp>
      <p:sp>
        <p:nvSpPr>
          <p:cNvPr id="16" name="Rounded Rectangle 15"/>
          <p:cNvSpPr/>
          <p:nvPr/>
        </p:nvSpPr>
        <p:spPr>
          <a:xfrm>
            <a:off x="1508760" y="3611879"/>
            <a:ext cx="5074920" cy="685800"/>
          </a:xfrm>
          <a:prstGeom prst="roundRect">
            <a:avLst>
              <a:gd name="adj" fmla="val 13333"/>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45919" y="3611879"/>
            <a:ext cx="457200" cy="685800"/>
          </a:xfrm>
          <a:prstGeom prst="rect">
            <a:avLst/>
          </a:prstGeom>
          <a:noFill/>
        </p:spPr>
        <p:txBody>
          <a:bodyPr wrap="square" lIns="45720" rIns="45720" anchor="ctr">
            <a:spAutoFit/>
          </a:bodyPr>
          <a:lstStyle/>
          <a:p>
            <a:pPr algn="l">
              <a:spcAft>
                <a:spcPts val="400"/>
              </a:spcAft>
            </a:pPr>
            <a:r>
              <a:rPr sz="2400" b="1" i="0">
                <a:solidFill>
                  <a:srgbClr val="FFFFFF"/>
                </a:solidFill>
                <a:latin typeface="Calibri"/>
              </a:rPr>
              <a:t>4</a:t>
            </a:r>
          </a:p>
        </p:txBody>
      </p:sp>
      <p:sp>
        <p:nvSpPr>
          <p:cNvPr id="18" name="TextBox 17"/>
          <p:cNvSpPr txBox="1"/>
          <p:nvPr/>
        </p:nvSpPr>
        <p:spPr>
          <a:xfrm>
            <a:off x="2103120" y="3611879"/>
            <a:ext cx="2880360" cy="685800"/>
          </a:xfrm>
          <a:prstGeom prst="rect">
            <a:avLst/>
          </a:prstGeom>
          <a:noFill/>
        </p:spPr>
        <p:txBody>
          <a:bodyPr wrap="square" lIns="45720" rIns="45720" anchor="ctr">
            <a:spAutoFit/>
          </a:bodyPr>
          <a:lstStyle/>
          <a:p>
            <a:pPr algn="l">
              <a:spcAft>
                <a:spcPts val="400"/>
              </a:spcAft>
            </a:pPr>
            <a:r>
              <a:rPr sz="1500" b="1" i="0">
                <a:solidFill>
                  <a:srgbClr val="FFFFFF"/>
                </a:solidFill>
                <a:latin typeface="Calibri"/>
              </a:rPr>
              <a:t>Add and subtract</a:t>
            </a:r>
          </a:p>
        </p:txBody>
      </p:sp>
      <p:sp>
        <p:nvSpPr>
          <p:cNvPr id="19" name="TextBox 18"/>
          <p:cNvSpPr txBox="1"/>
          <p:nvPr/>
        </p:nvSpPr>
        <p:spPr>
          <a:xfrm>
            <a:off x="4983479" y="3611879"/>
            <a:ext cx="1508760" cy="685800"/>
          </a:xfrm>
          <a:prstGeom prst="rect">
            <a:avLst/>
          </a:prstGeom>
          <a:noFill/>
        </p:spPr>
        <p:txBody>
          <a:bodyPr wrap="square" lIns="45720" rIns="45720" anchor="ctr">
            <a:spAutoFit/>
          </a:bodyPr>
          <a:lstStyle/>
          <a:p>
            <a:pPr algn="r">
              <a:spcAft>
                <a:spcPts val="400"/>
              </a:spcAft>
            </a:pPr>
            <a:r>
              <a:rPr sz="1600" b="1" i="0">
                <a:solidFill>
                  <a:srgbClr val="FFFFFF"/>
                </a:solidFill>
                <a:latin typeface="Courier New"/>
              </a:rPr>
              <a:t>+  -</a:t>
            </a:r>
          </a:p>
        </p:txBody>
      </p:sp>
      <p:sp>
        <p:nvSpPr>
          <p:cNvPr id="20" name="TextBox 19"/>
          <p:cNvSpPr txBox="1"/>
          <p:nvPr/>
        </p:nvSpPr>
        <p:spPr>
          <a:xfrm>
            <a:off x="548640" y="4480560"/>
            <a:ext cx="6035040" cy="548640"/>
          </a:xfrm>
          <a:prstGeom prst="rect">
            <a:avLst/>
          </a:prstGeom>
          <a:noFill/>
        </p:spPr>
        <p:txBody>
          <a:bodyPr wrap="square" lIns="45720" rIns="45720" anchor="t">
            <a:spAutoFit/>
          </a:bodyPr>
          <a:lstStyle/>
          <a:p>
            <a:pPr algn="l">
              <a:spcAft>
                <a:spcPts val="400"/>
              </a:spcAft>
            </a:pPr>
            <a:r>
              <a:rPr sz="1600" b="1" i="0">
                <a:solidFill>
                  <a:srgbClr val="085797"/>
                </a:solidFill>
                <a:latin typeface="Calibri"/>
              </a:rPr>
              <a:t>Same level: left to right. </a:t>
            </a:r>
            <a:r>
              <a:rPr sz="1600" b="1" i="0">
                <a:solidFill>
                  <a:srgbClr val="1B2A41"/>
                </a:solidFill>
                <a:latin typeface="Courier New"/>
              </a:rPr>
              <a:t>10 - 4 - 3</a:t>
            </a:r>
            <a:r>
              <a:rPr sz="1600" b="0" i="0">
                <a:solidFill>
                  <a:srgbClr val="1B2A41"/>
                </a:solidFill>
                <a:latin typeface="Calibri"/>
              </a:rPr>
              <a:t> is </a:t>
            </a:r>
            <a:r>
              <a:rPr sz="1600" b="1" i="0">
                <a:solidFill>
                  <a:srgbClr val="2E8B57"/>
                </a:solidFill>
                <a:latin typeface="Courier New"/>
              </a:rPr>
              <a:t>3</a:t>
            </a:r>
          </a:p>
        </p:txBody>
      </p:sp>
      <p:sp>
        <p:nvSpPr>
          <p:cNvPr id="21" name="TextBox 20"/>
          <p:cNvSpPr txBox="1"/>
          <p:nvPr/>
        </p:nvSpPr>
        <p:spPr>
          <a:xfrm>
            <a:off x="548640" y="4983480"/>
            <a:ext cx="6035040" cy="548640"/>
          </a:xfrm>
          <a:prstGeom prst="rect">
            <a:avLst/>
          </a:prstGeom>
          <a:noFill/>
        </p:spPr>
        <p:txBody>
          <a:bodyPr wrap="square" lIns="45720" rIns="45720" anchor="t">
            <a:spAutoFit/>
          </a:bodyPr>
          <a:lstStyle/>
          <a:p>
            <a:pPr algn="l">
              <a:spcAft>
                <a:spcPts val="400"/>
              </a:spcAft>
            </a:pPr>
            <a:r>
              <a:rPr sz="1600" b="1" i="0">
                <a:solidFill>
                  <a:srgbClr val="E31E3B"/>
                </a:solidFill>
                <a:latin typeface="Calibri"/>
              </a:rPr>
              <a:t>When in doubt, add brackets.</a:t>
            </a:r>
          </a:p>
        </p:txBody>
      </p:sp>
      <p:sp>
        <p:nvSpPr>
          <p:cNvPr id="22" name="Rounded Rectangle 21"/>
          <p:cNvSpPr/>
          <p:nvPr/>
        </p:nvSpPr>
        <p:spPr>
          <a:xfrm>
            <a:off x="6949440" y="1280160"/>
            <a:ext cx="4690872" cy="4343400"/>
          </a:xfrm>
          <a:prstGeom prst="roundRect">
            <a:avLst>
              <a:gd name="adj" fmla="val 2947"/>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20" y="1371600"/>
            <a:ext cx="4389120" cy="411480"/>
          </a:xfrm>
          <a:prstGeom prst="rect">
            <a:avLst/>
          </a:prstGeom>
          <a:noFill/>
        </p:spPr>
        <p:txBody>
          <a:bodyPr wrap="square" lIns="45720" rIns="45720" anchor="t">
            <a:spAutoFit/>
          </a:bodyPr>
          <a:lstStyle/>
          <a:p>
            <a:pPr algn="l">
              <a:spcAft>
                <a:spcPts val="400"/>
              </a:spcAft>
            </a:pPr>
            <a:r>
              <a:rPr sz="1700" b="1" i="0">
                <a:solidFill>
                  <a:srgbClr val="085797"/>
                </a:solidFill>
                <a:latin typeface="Calibri"/>
              </a:rPr>
              <a:t>Trace it: </a:t>
            </a:r>
            <a:r>
              <a:rPr sz="1700" b="1" i="0">
                <a:solidFill>
                  <a:srgbClr val="1B2A41"/>
                </a:solidFill>
                <a:latin typeface="Courier New"/>
              </a:rPr>
              <a:t>6 + 8 / 4 * 2 - 3</a:t>
            </a:r>
          </a:p>
        </p:txBody>
      </p:sp>
      <p:sp>
        <p:nvSpPr>
          <p:cNvPr id="24" name="Rounded Rectangle 23"/>
          <p:cNvSpPr/>
          <p:nvPr/>
        </p:nvSpPr>
        <p:spPr>
          <a:xfrm>
            <a:off x="7178040" y="2011680"/>
            <a:ext cx="2286000" cy="594360"/>
          </a:xfrm>
          <a:prstGeom prst="roundRect">
            <a:avLst>
              <a:gd name="adj" fmla="val 15384"/>
            </a:avLst>
          </a:prstGeom>
          <a:solidFill>
            <a:srgbClr val="FFFFFF"/>
          </a:solidFill>
          <a:ln w="12700">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700" b="1" i="0">
                <a:solidFill>
                  <a:srgbClr val="1B2A41"/>
                </a:solidFill>
                <a:latin typeface="Courier New"/>
              </a:rPr>
              <a:t>8 / 4</a:t>
            </a:r>
          </a:p>
        </p:txBody>
      </p:sp>
      <p:sp>
        <p:nvSpPr>
          <p:cNvPr id="25" name="Right Arrow 24"/>
          <p:cNvSpPr/>
          <p:nvPr/>
        </p:nvSpPr>
        <p:spPr>
          <a:xfrm>
            <a:off x="9555480" y="2148840"/>
            <a:ext cx="457200"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0104120" y="2011680"/>
            <a:ext cx="1280160" cy="594360"/>
          </a:xfrm>
          <a:prstGeom prst="roundRect">
            <a:avLst>
              <a:gd name="adj" fmla="val 15384"/>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700" b="1" i="0">
                <a:solidFill>
                  <a:srgbClr val="1B2A41"/>
                </a:solidFill>
                <a:latin typeface="Courier New"/>
              </a:rPr>
              <a:t>2.0</a:t>
            </a:r>
          </a:p>
        </p:txBody>
      </p:sp>
      <p:sp>
        <p:nvSpPr>
          <p:cNvPr id="27" name="Rounded Rectangle 26"/>
          <p:cNvSpPr/>
          <p:nvPr/>
        </p:nvSpPr>
        <p:spPr>
          <a:xfrm>
            <a:off x="7178040" y="2788920"/>
            <a:ext cx="2286000" cy="594360"/>
          </a:xfrm>
          <a:prstGeom prst="roundRect">
            <a:avLst>
              <a:gd name="adj" fmla="val 15384"/>
            </a:avLst>
          </a:prstGeom>
          <a:solidFill>
            <a:srgbClr val="FFFFFF"/>
          </a:solidFill>
          <a:ln w="12700">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700" b="1" i="0">
                <a:solidFill>
                  <a:srgbClr val="1B2A41"/>
                </a:solidFill>
                <a:latin typeface="Courier New"/>
              </a:rPr>
              <a:t>2.0 * 2</a:t>
            </a:r>
          </a:p>
        </p:txBody>
      </p:sp>
      <p:sp>
        <p:nvSpPr>
          <p:cNvPr id="28" name="Right Arrow 27"/>
          <p:cNvSpPr/>
          <p:nvPr/>
        </p:nvSpPr>
        <p:spPr>
          <a:xfrm>
            <a:off x="9555480" y="2926080"/>
            <a:ext cx="457200"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0104120" y="2788920"/>
            <a:ext cx="1280160" cy="594360"/>
          </a:xfrm>
          <a:prstGeom prst="roundRect">
            <a:avLst>
              <a:gd name="adj" fmla="val 15384"/>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700" b="1" i="0">
                <a:solidFill>
                  <a:srgbClr val="1B2A41"/>
                </a:solidFill>
                <a:latin typeface="Courier New"/>
              </a:rPr>
              <a:t>4.0</a:t>
            </a:r>
          </a:p>
        </p:txBody>
      </p:sp>
      <p:sp>
        <p:nvSpPr>
          <p:cNvPr id="30" name="Rounded Rectangle 29"/>
          <p:cNvSpPr/>
          <p:nvPr/>
        </p:nvSpPr>
        <p:spPr>
          <a:xfrm>
            <a:off x="7178040" y="3566160"/>
            <a:ext cx="2286000" cy="594360"/>
          </a:xfrm>
          <a:prstGeom prst="roundRect">
            <a:avLst>
              <a:gd name="adj" fmla="val 15384"/>
            </a:avLst>
          </a:prstGeom>
          <a:solidFill>
            <a:srgbClr val="FFFFFF"/>
          </a:solidFill>
          <a:ln w="12700">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700" b="1" i="0">
                <a:solidFill>
                  <a:srgbClr val="1B2A41"/>
                </a:solidFill>
                <a:latin typeface="Courier New"/>
              </a:rPr>
              <a:t>6 + 4.0</a:t>
            </a:r>
          </a:p>
        </p:txBody>
      </p:sp>
      <p:sp>
        <p:nvSpPr>
          <p:cNvPr id="31" name="Right Arrow 30"/>
          <p:cNvSpPr/>
          <p:nvPr/>
        </p:nvSpPr>
        <p:spPr>
          <a:xfrm>
            <a:off x="9555480" y="3703320"/>
            <a:ext cx="457200"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0104120" y="3566160"/>
            <a:ext cx="1280160" cy="594360"/>
          </a:xfrm>
          <a:prstGeom prst="roundRect">
            <a:avLst>
              <a:gd name="adj" fmla="val 15384"/>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700" b="1" i="0">
                <a:solidFill>
                  <a:srgbClr val="1B2A41"/>
                </a:solidFill>
                <a:latin typeface="Courier New"/>
              </a:rPr>
              <a:t>10.0</a:t>
            </a:r>
          </a:p>
        </p:txBody>
      </p:sp>
      <p:sp>
        <p:nvSpPr>
          <p:cNvPr id="33" name="Rounded Rectangle 32"/>
          <p:cNvSpPr/>
          <p:nvPr/>
        </p:nvSpPr>
        <p:spPr>
          <a:xfrm>
            <a:off x="7178040" y="4343400"/>
            <a:ext cx="2286000" cy="594360"/>
          </a:xfrm>
          <a:prstGeom prst="roundRect">
            <a:avLst>
              <a:gd name="adj" fmla="val 15384"/>
            </a:avLst>
          </a:prstGeom>
          <a:solidFill>
            <a:srgbClr val="FFFFFF"/>
          </a:solidFill>
          <a:ln w="12700">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700" b="1" i="0">
                <a:solidFill>
                  <a:srgbClr val="1B2A41"/>
                </a:solidFill>
                <a:latin typeface="Courier New"/>
              </a:rPr>
              <a:t>10.0 - 3</a:t>
            </a:r>
          </a:p>
        </p:txBody>
      </p:sp>
      <p:sp>
        <p:nvSpPr>
          <p:cNvPr id="34" name="Right Arrow 33"/>
          <p:cNvSpPr/>
          <p:nvPr/>
        </p:nvSpPr>
        <p:spPr>
          <a:xfrm>
            <a:off x="9555480" y="4480560"/>
            <a:ext cx="457200"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0104120" y="4343400"/>
            <a:ext cx="1280160" cy="594360"/>
          </a:xfrm>
          <a:prstGeom prst="roundRect">
            <a:avLst>
              <a:gd name="adj" fmla="val 15384"/>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700" b="1" i="0">
                <a:solidFill>
                  <a:srgbClr val="FFFFFF"/>
                </a:solidFill>
                <a:latin typeface="Courier New"/>
              </a:rPr>
              <a:t>7.0</a:t>
            </a:r>
          </a:p>
        </p:txBody>
      </p:sp>
      <p:sp>
        <p:nvSpPr>
          <p:cNvPr id="36" name="TextBox 35"/>
          <p:cNvSpPr txBox="1"/>
          <p:nvPr/>
        </p:nvSpPr>
        <p:spPr>
          <a:xfrm>
            <a:off x="7132320" y="5120640"/>
            <a:ext cx="4389120" cy="457200"/>
          </a:xfrm>
          <a:prstGeom prst="rect">
            <a:avLst/>
          </a:prstGeom>
          <a:noFill/>
        </p:spPr>
        <p:txBody>
          <a:bodyPr wrap="square" lIns="45720" rIns="45720" anchor="t">
            <a:spAutoFit/>
          </a:bodyPr>
          <a:lstStyle/>
          <a:p>
            <a:pPr algn="l">
              <a:spcAft>
                <a:spcPts val="400"/>
              </a:spcAft>
            </a:pPr>
            <a:r>
              <a:rPr sz="1200" b="0" i="1">
                <a:solidFill>
                  <a:srgbClr val="5B6770"/>
                </a:solidFill>
                <a:latin typeface="Calibri"/>
              </a:rPr>
              <a:t>Step 1 is the division, because / comes first from the left.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165592" cy="822960"/>
          </a:xfrm>
        </p:spPr>
        <p:txBody>
          <a:bodyPr wrap="square" anchor="ctr"/>
          <a:lstStyle/>
          <a:p>
            <a:pPr algn="l"/>
            <a:r>
              <a:rPr sz="3200" b="1">
                <a:solidFill>
                  <a:srgbClr val="085797"/>
                </a:solidFill>
                <a:latin typeface="Calibri"/>
              </a:rPr>
              <a:t>Worked example: average of three marks</a:t>
            </a:r>
          </a:p>
        </p:txBody>
      </p:sp>
      <p:sp>
        <p:nvSpPr>
          <p:cNvPr id="3" name="Rounded Rectangle 2"/>
          <p:cNvSpPr/>
          <p:nvPr/>
        </p:nvSpPr>
        <p:spPr>
          <a:xfrm>
            <a:off x="8897112" y="457200"/>
            <a:ext cx="27432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2A · IPO to code</a:t>
            </a:r>
          </a:p>
        </p:txBody>
      </p:sp>
      <p:sp>
        <p:nvSpPr>
          <p:cNvPr id="4" name="Rounded Rectangle 3"/>
          <p:cNvSpPr/>
          <p:nvPr/>
        </p:nvSpPr>
        <p:spPr>
          <a:xfrm>
            <a:off x="548640" y="1280160"/>
            <a:ext cx="3422904" cy="1325880"/>
          </a:xfrm>
          <a:prstGeom prst="roundRect">
            <a:avLst>
              <a:gd name="adj" fmla="val 6896"/>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280160"/>
            <a:ext cx="3422904" cy="384048"/>
          </a:xfrm>
          <a:prstGeom prst="roundRect">
            <a:avLst>
              <a:gd name="adj" fmla="val 23809"/>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500" b="1" i="0">
                <a:solidFill>
                  <a:srgbClr val="FFFFFF"/>
                </a:solidFill>
                <a:latin typeface="Calibri"/>
              </a:rPr>
              <a:t>INPUT</a:t>
            </a:r>
          </a:p>
        </p:txBody>
      </p:sp>
      <p:sp>
        <p:nvSpPr>
          <p:cNvPr id="6" name="TextBox 5"/>
          <p:cNvSpPr txBox="1"/>
          <p:nvPr/>
        </p:nvSpPr>
        <p:spPr>
          <a:xfrm>
            <a:off x="640080" y="1709928"/>
            <a:ext cx="3240024" cy="850392"/>
          </a:xfrm>
          <a:prstGeom prst="rect">
            <a:avLst/>
          </a:prstGeom>
          <a:noFill/>
        </p:spPr>
        <p:txBody>
          <a:bodyPr wrap="square" lIns="45720" rIns="45720" anchor="ctr">
            <a:spAutoFit/>
          </a:bodyPr>
          <a:lstStyle/>
          <a:p>
            <a:pPr algn="ctr">
              <a:spcAft>
                <a:spcPts val="400"/>
              </a:spcAft>
            </a:pPr>
            <a:r>
              <a:rPr sz="1400" b="1" i="0">
                <a:solidFill>
                  <a:srgbClr val="085797"/>
                </a:solidFill>
                <a:latin typeface="Courier New"/>
              </a:rPr>
              <a:t>mark1, mark2, mark3</a:t>
            </a:r>
            <a:r>
              <a:rPr sz="1300" b="0" i="0">
                <a:solidFill>
                  <a:srgbClr val="5B6770"/>
                </a:solidFill>
                <a:latin typeface="Calibri"/>
              </a:rPr>
              <a:t>  float</a:t>
            </a:r>
          </a:p>
        </p:txBody>
      </p:sp>
      <p:sp>
        <p:nvSpPr>
          <p:cNvPr id="7" name="Right Arrow 6"/>
          <p:cNvSpPr/>
          <p:nvPr/>
        </p:nvSpPr>
        <p:spPr>
          <a:xfrm>
            <a:off x="4035552" y="1787652"/>
            <a:ext cx="283464"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83024" y="1280160"/>
            <a:ext cx="3422904" cy="1325880"/>
          </a:xfrm>
          <a:prstGeom prst="roundRect">
            <a:avLst>
              <a:gd name="adj" fmla="val 6896"/>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83024" y="1280160"/>
            <a:ext cx="3422904" cy="384048"/>
          </a:xfrm>
          <a:prstGeom prst="roundRect">
            <a:avLst>
              <a:gd name="adj" fmla="val 23809"/>
            </a:avLst>
          </a:prstGeom>
          <a:solidFill>
            <a:srgbClr val="C9780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500" b="1" i="0">
                <a:solidFill>
                  <a:srgbClr val="FFFFFF"/>
                </a:solidFill>
                <a:latin typeface="Calibri"/>
              </a:rPr>
              <a:t>PROCESS</a:t>
            </a:r>
          </a:p>
        </p:txBody>
      </p:sp>
      <p:sp>
        <p:nvSpPr>
          <p:cNvPr id="10" name="TextBox 9"/>
          <p:cNvSpPr txBox="1"/>
          <p:nvPr/>
        </p:nvSpPr>
        <p:spPr>
          <a:xfrm>
            <a:off x="4474463" y="1709928"/>
            <a:ext cx="3240024" cy="850392"/>
          </a:xfrm>
          <a:prstGeom prst="rect">
            <a:avLst/>
          </a:prstGeom>
          <a:noFill/>
        </p:spPr>
        <p:txBody>
          <a:bodyPr wrap="square" lIns="45720" rIns="45720" anchor="ctr">
            <a:spAutoFit/>
          </a:bodyPr>
          <a:lstStyle/>
          <a:p>
            <a:pPr algn="ctr">
              <a:spcAft>
                <a:spcPts val="400"/>
              </a:spcAft>
            </a:pPr>
            <a:r>
              <a:rPr sz="1300" b="1" i="0">
                <a:solidFill>
                  <a:srgbClr val="1B2A41"/>
                </a:solidFill>
                <a:latin typeface="Courier New"/>
              </a:rPr>
              <a:t>(mark1 + mark2 + mark3) / 3</a:t>
            </a:r>
          </a:p>
        </p:txBody>
      </p:sp>
      <p:sp>
        <p:nvSpPr>
          <p:cNvPr id="11" name="Right Arrow 10"/>
          <p:cNvSpPr/>
          <p:nvPr/>
        </p:nvSpPr>
        <p:spPr>
          <a:xfrm>
            <a:off x="7869936" y="1787652"/>
            <a:ext cx="283464"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217408" y="1280160"/>
            <a:ext cx="3422904" cy="1325880"/>
          </a:xfrm>
          <a:prstGeom prst="roundRect">
            <a:avLst>
              <a:gd name="adj" fmla="val 6896"/>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17408" y="1280160"/>
            <a:ext cx="3422904" cy="384048"/>
          </a:xfrm>
          <a:prstGeom prst="roundRect">
            <a:avLst>
              <a:gd name="adj" fmla="val 23809"/>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500" b="1" i="0">
                <a:solidFill>
                  <a:srgbClr val="FFFFFF"/>
                </a:solidFill>
                <a:latin typeface="Calibri"/>
              </a:rPr>
              <a:t>OUTPUT</a:t>
            </a:r>
          </a:p>
        </p:txBody>
      </p:sp>
      <p:sp>
        <p:nvSpPr>
          <p:cNvPr id="14" name="TextBox 13"/>
          <p:cNvSpPr txBox="1"/>
          <p:nvPr/>
        </p:nvSpPr>
        <p:spPr>
          <a:xfrm>
            <a:off x="8308847" y="1709928"/>
            <a:ext cx="3240024" cy="850392"/>
          </a:xfrm>
          <a:prstGeom prst="rect">
            <a:avLst/>
          </a:prstGeom>
          <a:noFill/>
        </p:spPr>
        <p:txBody>
          <a:bodyPr wrap="square" lIns="45720" rIns="45720" anchor="ctr">
            <a:spAutoFit/>
          </a:bodyPr>
          <a:lstStyle/>
          <a:p>
            <a:pPr algn="ctr">
              <a:spcAft>
                <a:spcPts val="400"/>
              </a:spcAft>
            </a:pPr>
            <a:r>
              <a:rPr sz="1400" b="0" i="0">
                <a:solidFill>
                  <a:srgbClr val="1B2A41"/>
                </a:solidFill>
                <a:latin typeface="Calibri"/>
              </a:rPr>
              <a:t>Average to two decimals</a:t>
            </a:r>
          </a:p>
        </p:txBody>
      </p:sp>
      <p:sp>
        <p:nvSpPr>
          <p:cNvPr id="15" name="Rounded Rectangle 14"/>
          <p:cNvSpPr/>
          <p:nvPr/>
        </p:nvSpPr>
        <p:spPr>
          <a:xfrm>
            <a:off x="548640" y="2788920"/>
            <a:ext cx="6766560" cy="2834640"/>
          </a:xfrm>
          <a:prstGeom prst="roundRect">
            <a:avLst>
              <a:gd name="adj" fmla="val 3225"/>
            </a:avLst>
          </a:prstGeom>
          <a:solidFill>
            <a:srgbClr val="1E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13232" y="2916936"/>
            <a:ext cx="128016" cy="128016"/>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4400" y="2916936"/>
            <a:ext cx="128016" cy="128016"/>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15568" y="2916936"/>
            <a:ext cx="128016" cy="128016"/>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71600" y="2843784"/>
            <a:ext cx="5760720" cy="274320"/>
          </a:xfrm>
          <a:prstGeom prst="rect">
            <a:avLst/>
          </a:prstGeom>
          <a:noFill/>
        </p:spPr>
        <p:txBody>
          <a:bodyPr wrap="square" lIns="45720" rIns="45720" anchor="ctr">
            <a:spAutoFit/>
          </a:bodyPr>
          <a:lstStyle/>
          <a:p>
            <a:pPr algn="l">
              <a:spcAft>
                <a:spcPts val="400"/>
              </a:spcAft>
            </a:pPr>
            <a:r>
              <a:rPr sz="1100" b="0" i="0">
                <a:solidFill>
                  <a:srgbClr val="9AA7B5"/>
                </a:solidFill>
                <a:latin typeface="Courier New"/>
              </a:rPr>
              <a:t>average.py</a:t>
            </a:r>
          </a:p>
        </p:txBody>
      </p:sp>
      <p:sp>
        <p:nvSpPr>
          <p:cNvPr id="20" name="TextBox 19"/>
          <p:cNvSpPr txBox="1"/>
          <p:nvPr/>
        </p:nvSpPr>
        <p:spPr>
          <a:xfrm>
            <a:off x="685800" y="3172968"/>
            <a:ext cx="6492240" cy="2377440"/>
          </a:xfrm>
          <a:prstGeom prst="rect">
            <a:avLst/>
          </a:prstGeom>
          <a:noFill/>
        </p:spPr>
        <p:txBody>
          <a:bodyPr wrap="square" lIns="45720" rIns="45720" anchor="t">
            <a:spAutoFit/>
          </a:bodyPr>
          <a:lstStyle/>
          <a:p>
            <a:pPr algn="l">
              <a:spcAft>
                <a:spcPts val="700"/>
              </a:spcAft>
            </a:pPr>
            <a:r>
              <a:rPr sz="1300" b="0" i="0">
                <a:solidFill>
                  <a:srgbClr val="9AA7B5"/>
                </a:solidFill>
                <a:latin typeface="Courier New"/>
              </a:rPr>
              <a:t># Average of three marks</a:t>
            </a:r>
          </a:p>
          <a:p>
            <a:pPr algn="l">
              <a:spcAft>
                <a:spcPts val="700"/>
              </a:spcAft>
            </a:pPr>
            <a:r>
              <a:rPr sz="1300" b="0" i="0">
                <a:solidFill>
                  <a:srgbClr val="E6EDF3"/>
                </a:solidFill>
                <a:latin typeface="Courier New"/>
              </a:rPr>
              <a:t>mark1 = float(input(</a:t>
            </a:r>
            <a:r>
              <a:rPr sz="1300" b="0" i="0">
                <a:solidFill>
                  <a:srgbClr val="A5D6FF"/>
                </a:solidFill>
                <a:latin typeface="Courier New"/>
              </a:rPr>
              <a:t>"Mark 1: "</a:t>
            </a:r>
            <a:r>
              <a:rPr sz="1300" b="0" i="0">
                <a:solidFill>
                  <a:srgbClr val="E6EDF3"/>
                </a:solidFill>
                <a:latin typeface="Courier New"/>
              </a:rPr>
              <a:t>))</a:t>
            </a:r>
          </a:p>
          <a:p>
            <a:pPr algn="l">
              <a:spcAft>
                <a:spcPts val="700"/>
              </a:spcAft>
            </a:pPr>
            <a:r>
              <a:rPr sz="1300" b="0" i="0">
                <a:solidFill>
                  <a:srgbClr val="E6EDF3"/>
                </a:solidFill>
                <a:latin typeface="Courier New"/>
              </a:rPr>
              <a:t>mark2 = float(input(</a:t>
            </a:r>
            <a:r>
              <a:rPr sz="1300" b="0" i="0">
                <a:solidFill>
                  <a:srgbClr val="A5D6FF"/>
                </a:solidFill>
                <a:latin typeface="Courier New"/>
              </a:rPr>
              <a:t>"Mark 2: "</a:t>
            </a:r>
            <a:r>
              <a:rPr sz="1300" b="0" i="0">
                <a:solidFill>
                  <a:srgbClr val="E6EDF3"/>
                </a:solidFill>
                <a:latin typeface="Courier New"/>
              </a:rPr>
              <a:t>))</a:t>
            </a:r>
          </a:p>
          <a:p>
            <a:pPr algn="l">
              <a:spcAft>
                <a:spcPts val="700"/>
              </a:spcAft>
            </a:pPr>
            <a:r>
              <a:rPr sz="1300" b="0" i="0">
                <a:solidFill>
                  <a:srgbClr val="E6EDF3"/>
                </a:solidFill>
                <a:latin typeface="Courier New"/>
              </a:rPr>
              <a:t>mark3 = float(input(</a:t>
            </a:r>
            <a:r>
              <a:rPr sz="1300" b="0" i="0">
                <a:solidFill>
                  <a:srgbClr val="A5D6FF"/>
                </a:solidFill>
                <a:latin typeface="Courier New"/>
              </a:rPr>
              <a:t>"Mark 3: "</a:t>
            </a:r>
            <a:r>
              <a:rPr sz="1300" b="0" i="0">
                <a:solidFill>
                  <a:srgbClr val="E6EDF3"/>
                </a:solidFill>
                <a:latin typeface="Courier New"/>
              </a:rPr>
              <a:t>))</a:t>
            </a:r>
          </a:p>
          <a:p>
            <a:pPr algn="l">
              <a:spcAft>
                <a:spcPts val="700"/>
              </a:spcAft>
            </a:pPr>
            <a:r>
              <a:rPr sz="1300" b="0" i="0">
                <a:solidFill>
                  <a:srgbClr val="F2CC60"/>
                </a:solidFill>
                <a:latin typeface="Courier New"/>
              </a:rPr>
              <a:t>average = (mark1 + mark2 + mark3) / 3</a:t>
            </a:r>
          </a:p>
          <a:p>
            <a:pPr algn="l">
              <a:spcAft>
                <a:spcPts val="700"/>
              </a:spcAft>
            </a:pPr>
            <a:r>
              <a:rPr sz="1300" b="0" i="0">
                <a:solidFill>
                  <a:srgbClr val="E6EDF3"/>
                </a:solidFill>
                <a:latin typeface="Courier New"/>
              </a:rPr>
              <a:t>print(</a:t>
            </a:r>
            <a:r>
              <a:rPr sz="1300" b="0" i="0">
                <a:solidFill>
                  <a:srgbClr val="A5D6FF"/>
                </a:solidFill>
                <a:latin typeface="Courier New"/>
              </a:rPr>
              <a:t>"Average:"</a:t>
            </a:r>
            <a:r>
              <a:rPr sz="1300" b="0" i="0">
                <a:solidFill>
                  <a:srgbClr val="E6EDF3"/>
                </a:solidFill>
                <a:latin typeface="Courier New"/>
              </a:rPr>
              <a:t>, f</a:t>
            </a:r>
            <a:r>
              <a:rPr sz="1300" b="0" i="0">
                <a:solidFill>
                  <a:srgbClr val="A5D6FF"/>
                </a:solidFill>
                <a:latin typeface="Courier New"/>
              </a:rPr>
              <a:t>"{average:.2f}"</a:t>
            </a:r>
            <a:r>
              <a:rPr sz="1300" b="0" i="0">
                <a:solidFill>
                  <a:srgbClr val="E6EDF3"/>
                </a:solidFill>
                <a:latin typeface="Courier New"/>
              </a:rPr>
              <a:t>)</a:t>
            </a:r>
          </a:p>
        </p:txBody>
      </p:sp>
      <p:sp>
        <p:nvSpPr>
          <p:cNvPr id="21" name="Rounded Rectangle 20"/>
          <p:cNvSpPr/>
          <p:nvPr/>
        </p:nvSpPr>
        <p:spPr>
          <a:xfrm>
            <a:off x="7589520" y="2788920"/>
            <a:ext cx="4050791" cy="1234440"/>
          </a:xfrm>
          <a:prstGeom prst="roundRect">
            <a:avLst>
              <a:gd name="adj" fmla="val 8888"/>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26679" y="2816352"/>
            <a:ext cx="3794760" cy="1188720"/>
          </a:xfrm>
          <a:prstGeom prst="rect">
            <a:avLst/>
          </a:prstGeom>
          <a:noFill/>
        </p:spPr>
        <p:txBody>
          <a:bodyPr wrap="square" lIns="45720" rIns="45720" anchor="ctr">
            <a:spAutoFit/>
          </a:bodyPr>
          <a:lstStyle/>
          <a:p>
            <a:pPr algn="l">
              <a:spcAft>
                <a:spcPts val="200"/>
              </a:spcAft>
            </a:pPr>
            <a:r>
              <a:rPr sz="1400" b="0" i="0">
                <a:solidFill>
                  <a:srgbClr val="5B6770"/>
                </a:solidFill>
                <a:latin typeface="Calibri"/>
              </a:rPr>
              <a:t>68, 74, 81 gives</a:t>
            </a:r>
          </a:p>
          <a:p>
            <a:pPr algn="l">
              <a:spcAft>
                <a:spcPts val="400"/>
              </a:spcAft>
            </a:pPr>
            <a:r>
              <a:rPr sz="2200" b="1" i="0">
                <a:solidFill>
                  <a:srgbClr val="2E8B57"/>
                </a:solidFill>
                <a:latin typeface="Courier New"/>
              </a:rPr>
              <a:t>Average: 74.33</a:t>
            </a:r>
          </a:p>
        </p:txBody>
      </p:sp>
      <p:sp>
        <p:nvSpPr>
          <p:cNvPr id="23" name="Rounded Rectangle 22"/>
          <p:cNvSpPr/>
          <p:nvPr/>
        </p:nvSpPr>
        <p:spPr>
          <a:xfrm>
            <a:off x="7589520" y="4206240"/>
            <a:ext cx="4050791" cy="1417320"/>
          </a:xfrm>
          <a:prstGeom prst="roundRect">
            <a:avLst>
              <a:gd name="adj" fmla="val 7741"/>
            </a:avLst>
          </a:prstGeom>
          <a:solidFill>
            <a:srgbClr val="FC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26679" y="4224528"/>
            <a:ext cx="3794760" cy="1371600"/>
          </a:xfrm>
          <a:prstGeom prst="rect">
            <a:avLst/>
          </a:prstGeom>
          <a:noFill/>
        </p:spPr>
        <p:txBody>
          <a:bodyPr wrap="square" lIns="45720" rIns="45720" anchor="ctr">
            <a:spAutoFit/>
          </a:bodyPr>
          <a:lstStyle/>
          <a:p>
            <a:pPr algn="l">
              <a:spcAft>
                <a:spcPts val="200"/>
              </a:spcAft>
            </a:pPr>
            <a:r>
              <a:rPr sz="1500" b="1" i="0">
                <a:solidFill>
                  <a:srgbClr val="E31E3B"/>
                </a:solidFill>
                <a:latin typeface="Calibri"/>
              </a:rPr>
              <a:t>Leave out the brackets</a:t>
            </a:r>
          </a:p>
          <a:p>
            <a:pPr algn="l">
              <a:spcAft>
                <a:spcPts val="400"/>
              </a:spcAft>
            </a:pPr>
            <a:r>
              <a:rPr sz="1300" b="0" i="0">
                <a:solidFill>
                  <a:srgbClr val="1B2A41"/>
                </a:solidFill>
                <a:latin typeface="Calibri"/>
              </a:rPr>
              <a:t>and Python calculates </a:t>
            </a:r>
            <a:r>
              <a:rPr sz="1200" b="1" i="0">
                <a:solidFill>
                  <a:srgbClr val="1B2A41"/>
                </a:solidFill>
                <a:latin typeface="Courier New"/>
              </a:rPr>
              <a:t>mark1 + mark2 + (mark3 / 3)</a:t>
            </a:r>
            <a:r>
              <a:rPr sz="1300" b="0" i="0">
                <a:solidFill>
                  <a:srgbClr val="1B2A41"/>
                </a:solidFill>
                <a:latin typeface="Calibri"/>
              </a:rPr>
              <a:t>, which gives 169.0.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165592" cy="822960"/>
          </a:xfrm>
        </p:spPr>
        <p:txBody>
          <a:bodyPr wrap="square" anchor="ctr"/>
          <a:lstStyle/>
          <a:p>
            <a:pPr algn="l"/>
            <a:r>
              <a:rPr sz="3200" b="1">
                <a:solidFill>
                  <a:srgbClr val="085797"/>
                </a:solidFill>
                <a:latin typeface="Calibri"/>
              </a:rPr>
              <a:t>A3 and A4: input and calculation</a:t>
            </a:r>
          </a:p>
        </p:txBody>
      </p:sp>
      <p:sp>
        <p:nvSpPr>
          <p:cNvPr id="3" name="Rounded Rectangle 2"/>
          <p:cNvSpPr/>
          <p:nvPr/>
        </p:nvSpPr>
        <p:spPr>
          <a:xfrm>
            <a:off x="8897112" y="457200"/>
            <a:ext cx="27432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2A · Activities</a:t>
            </a:r>
          </a:p>
        </p:txBody>
      </p:sp>
      <p:sp>
        <p:nvSpPr>
          <p:cNvPr id="4" name="Rounded Rectangle 3"/>
          <p:cNvSpPr/>
          <p:nvPr/>
        </p:nvSpPr>
        <p:spPr>
          <a:xfrm>
            <a:off x="548640" y="1280160"/>
            <a:ext cx="5449824" cy="3520440"/>
          </a:xfrm>
          <a:prstGeom prst="roundRect">
            <a:avLst>
              <a:gd name="adj" fmla="val 5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1463040"/>
            <a:ext cx="640080" cy="64008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A3</a:t>
            </a:r>
          </a:p>
        </p:txBody>
      </p:sp>
      <p:sp>
        <p:nvSpPr>
          <p:cNvPr id="6" name="TextBox 5"/>
          <p:cNvSpPr txBox="1"/>
          <p:nvPr/>
        </p:nvSpPr>
        <p:spPr>
          <a:xfrm>
            <a:off x="1463040" y="1371600"/>
            <a:ext cx="4434840" cy="822960"/>
          </a:xfrm>
          <a:prstGeom prst="rect">
            <a:avLst/>
          </a:prstGeom>
          <a:noFill/>
        </p:spPr>
        <p:txBody>
          <a:bodyPr wrap="square" anchor="ctr">
            <a:spAutoFit/>
          </a:bodyPr>
          <a:lstStyle/>
          <a:p>
            <a:r>
              <a:rPr sz="1700" b="1">
                <a:solidFill>
                  <a:srgbClr val="085797"/>
                </a:solidFill>
                <a:latin typeface="Calibri"/>
              </a:rPr>
              <a:t>Lecturer-led: build and trace (25 min)</a:t>
            </a:r>
          </a:p>
        </p:txBody>
      </p:sp>
      <p:sp>
        <p:nvSpPr>
          <p:cNvPr id="7" name="TextBox 6"/>
          <p:cNvSpPr txBox="1"/>
          <p:nvPr/>
        </p:nvSpPr>
        <p:spPr>
          <a:xfrm>
            <a:off x="777240" y="2286000"/>
            <a:ext cx="4983480" cy="2468880"/>
          </a:xfrm>
          <a:prstGeom prst="rect">
            <a:avLst/>
          </a:prstGeom>
          <a:noFill/>
        </p:spPr>
        <p:txBody>
          <a:bodyPr wrap="square">
            <a:spAutoFit/>
          </a:bodyPr>
          <a:lstStyle/>
          <a:p>
            <a:pPr>
              <a:spcAft>
                <a:spcPts val="700"/>
              </a:spcAft>
            </a:pPr>
            <a:r>
              <a:rPr sz="1600">
                <a:solidFill>
                  <a:srgbClr val="1B2A41"/>
                </a:solidFill>
                <a:latin typeface="Calibri"/>
              </a:rPr>
              <a:t>1. Capture a name with input()</a:t>
            </a:r>
          </a:p>
          <a:p>
            <a:pPr>
              <a:spcAft>
                <a:spcPts val="700"/>
              </a:spcAft>
            </a:pPr>
            <a:r>
              <a:rPr sz="1600">
                <a:solidFill>
                  <a:srgbClr val="1B2A41"/>
                </a:solidFill>
                <a:latin typeface="Calibri"/>
              </a:rPr>
              <a:t>2. Capture a year without converting; read the TypeError</a:t>
            </a:r>
          </a:p>
          <a:p>
            <a:pPr>
              <a:spcAft>
                <a:spcPts val="700"/>
              </a:spcAft>
            </a:pPr>
            <a:r>
              <a:rPr sz="1600">
                <a:solidFill>
                  <a:srgbClr val="1B2A41"/>
                </a:solidFill>
                <a:latin typeface="Calibri"/>
              </a:rPr>
              <a:t>3. Convert with int(input(...))</a:t>
            </a:r>
          </a:p>
          <a:p>
            <a:pPr>
              <a:spcAft>
                <a:spcPts val="700"/>
              </a:spcAft>
            </a:pPr>
            <a:r>
              <a:rPr sz="1600">
                <a:solidFill>
                  <a:srgbClr val="1B2A41"/>
                </a:solidFill>
                <a:latin typeface="Calibri"/>
              </a:rPr>
              <a:t>4. Trace the program in a table, then compare 60 + 80 / 2 with (60 + 80) / 2</a:t>
            </a:r>
          </a:p>
        </p:txBody>
      </p:sp>
      <p:sp>
        <p:nvSpPr>
          <p:cNvPr id="8" name="Rounded Rectangle 7"/>
          <p:cNvSpPr/>
          <p:nvPr/>
        </p:nvSpPr>
        <p:spPr>
          <a:xfrm>
            <a:off x="6190488" y="1280160"/>
            <a:ext cx="5449824" cy="3520440"/>
          </a:xfrm>
          <a:prstGeom prst="roundRect">
            <a:avLst>
              <a:gd name="adj" fmla="val 5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327648" y="1463040"/>
            <a:ext cx="640080" cy="640080"/>
          </a:xfrm>
          <a:prstGeom prst="ellipse">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A4</a:t>
            </a:r>
          </a:p>
        </p:txBody>
      </p:sp>
      <p:sp>
        <p:nvSpPr>
          <p:cNvPr id="10" name="TextBox 9"/>
          <p:cNvSpPr txBox="1"/>
          <p:nvPr/>
        </p:nvSpPr>
        <p:spPr>
          <a:xfrm>
            <a:off x="7104888" y="1371600"/>
            <a:ext cx="4434840" cy="822960"/>
          </a:xfrm>
          <a:prstGeom prst="rect">
            <a:avLst/>
          </a:prstGeom>
          <a:noFill/>
        </p:spPr>
        <p:txBody>
          <a:bodyPr wrap="square" anchor="ctr">
            <a:spAutoFit/>
          </a:bodyPr>
          <a:lstStyle/>
          <a:p>
            <a:r>
              <a:rPr sz="1700" b="1">
                <a:solidFill>
                  <a:srgbClr val="E31E3B"/>
                </a:solidFill>
                <a:latin typeface="Calibri"/>
              </a:rPr>
              <a:t>Independent: area, then average (25 min)</a:t>
            </a:r>
          </a:p>
        </p:txBody>
      </p:sp>
      <p:sp>
        <p:nvSpPr>
          <p:cNvPr id="11" name="TextBox 10"/>
          <p:cNvSpPr txBox="1"/>
          <p:nvPr/>
        </p:nvSpPr>
        <p:spPr>
          <a:xfrm>
            <a:off x="6419088" y="2286000"/>
            <a:ext cx="4983480" cy="2468880"/>
          </a:xfrm>
          <a:prstGeom prst="rect">
            <a:avLst/>
          </a:prstGeom>
          <a:noFill/>
        </p:spPr>
        <p:txBody>
          <a:bodyPr wrap="square">
            <a:spAutoFit/>
          </a:bodyPr>
          <a:lstStyle/>
          <a:p>
            <a:pPr>
              <a:spcAft>
                <a:spcPts val="700"/>
              </a:spcAft>
            </a:pPr>
            <a:r>
              <a:rPr sz="1600">
                <a:solidFill>
                  <a:srgbClr val="1B2A41"/>
                </a:solidFill>
                <a:latin typeface="Calibri"/>
              </a:rPr>
              <a:t>Part 1 (about 12 min): capture length and width in metres and display the area to two decimals with the unit. Tests: 5.5 x 4 gives 22.00; 2.35 x 1.2 gives 2.82</a:t>
            </a:r>
          </a:p>
          <a:p>
            <a:pPr>
              <a:spcAft>
                <a:spcPts val="700"/>
              </a:spcAft>
            </a:pPr>
            <a:r>
              <a:rPr sz="1600">
                <a:solidFill>
                  <a:srgbClr val="1B2A41"/>
                </a:solidFill>
                <a:latin typeface="Calibri"/>
              </a:rPr>
              <a:t>Part 2 (about 13 min): capture four quiz marks and display the average to two decimals. Tests: 60, 70, 80, 90 gives 75.00; 55, 65, 72, 88 gives 70.00</a:t>
            </a:r>
          </a:p>
        </p:txBody>
      </p:sp>
      <p:sp>
        <p:nvSpPr>
          <p:cNvPr id="12" name="Rounded Rectangle 11"/>
          <p:cNvSpPr/>
          <p:nvPr/>
        </p:nvSpPr>
        <p:spPr>
          <a:xfrm>
            <a:off x="548640" y="5029200"/>
            <a:ext cx="11091672" cy="640080"/>
          </a:xfrm>
          <a:prstGeom prst="roundRect">
            <a:avLst>
              <a:gd name="adj" fmla="val 12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ctr"/>
            <a:r>
              <a:rPr sz="1700" b="1">
                <a:solidFill>
                  <a:srgbClr val="085797"/>
                </a:solidFill>
                <a:latin typeface="Calibri"/>
              </a:rPr>
              <a:t>Commit to day3: 03_area_m2.py, 03_average.py, 03_trace_table.md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439912" cy="822960"/>
          </a:xfrm>
        </p:spPr>
        <p:txBody>
          <a:bodyPr wrap="square" anchor="ctr"/>
          <a:lstStyle/>
          <a:p>
            <a:pPr algn="l"/>
            <a:r>
              <a:rPr sz="3200" b="1">
                <a:solidFill>
                  <a:srgbClr val="085797"/>
                </a:solidFill>
                <a:latin typeface="Calibri"/>
              </a:rPr>
              <a:t>Methods that clean and check text</a:t>
            </a:r>
          </a:p>
        </p:txBody>
      </p:sp>
      <p:sp>
        <p:nvSpPr>
          <p:cNvPr id="3" name="Rounded Rectangle 2"/>
          <p:cNvSpPr/>
          <p:nvPr/>
        </p:nvSpPr>
        <p:spPr>
          <a:xfrm>
            <a:off x="9171432" y="457200"/>
            <a:ext cx="246888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2B · Strings</a:t>
            </a:r>
          </a:p>
        </p:txBody>
      </p:sp>
      <p:graphicFrame>
        <p:nvGraphicFramePr>
          <p:cNvPr id="4" name="Table 3"/>
          <p:cNvGraphicFramePr>
            <a:graphicFrameLocks noGrp="1"/>
          </p:cNvGraphicFramePr>
          <p:nvPr/>
        </p:nvGraphicFramePr>
        <p:xfrm>
          <a:off x="548640" y="1280160"/>
          <a:ext cx="7498080" cy="4242816"/>
        </p:xfrm>
        <a:graphic>
          <a:graphicData uri="http://schemas.openxmlformats.org/drawingml/2006/table">
            <a:tbl>
              <a:tblPr>
                <a:tableStyleId>{5C22544A-7EE6-4342-B048-85BDC9FD1C3A}</a:tableStyleId>
              </a:tblPr>
              <a:tblGrid>
                <a:gridCol w="4206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530352">
                <a:tc>
                  <a:txBody>
                    <a:bodyPr/>
                    <a:lstStyle/>
                    <a:p>
                      <a:pPr algn="l">
                        <a:spcAft>
                          <a:spcPts val="0"/>
                        </a:spcAft>
                      </a:pPr>
                      <a:r>
                        <a:rPr sz="1400" b="1" i="0">
                          <a:solidFill>
                            <a:srgbClr val="FFFFFF"/>
                          </a:solidFill>
                          <a:latin typeface="Calibri"/>
                        </a:rPr>
                        <a:t>Expression</a:t>
                      </a:r>
                    </a:p>
                  </a:txBody>
                  <a:tcPr anchor="ctr">
                    <a:solidFill>
                      <a:srgbClr val="085797"/>
                    </a:solidFill>
                  </a:tcPr>
                </a:tc>
                <a:tc>
                  <a:txBody>
                    <a:bodyPr/>
                    <a:lstStyle/>
                    <a:p>
                      <a:pPr algn="l">
                        <a:spcAft>
                          <a:spcPts val="0"/>
                        </a:spcAft>
                      </a:pPr>
                      <a:r>
                        <a:rPr sz="1400" b="1" i="0">
                          <a:solidFill>
                            <a:srgbClr val="FFFFFF"/>
                          </a:solidFill>
                          <a:latin typeface="Calibri"/>
                        </a:rPr>
                        <a:t>Result</a:t>
                      </a:r>
                    </a:p>
                  </a:txBody>
                  <a:tcPr anchor="ctr">
                    <a:solidFill>
                      <a:srgbClr val="085797"/>
                    </a:solidFill>
                  </a:tcPr>
                </a:tc>
                <a:extLst>
                  <a:ext uri="{0D108BD9-81ED-4DB2-BD59-A6C34878D82A}">
                    <a16:rowId xmlns:a16="http://schemas.microsoft.com/office/drawing/2014/main" val="10000"/>
                  </a:ext>
                </a:extLst>
              </a:tr>
              <a:tr h="530352">
                <a:tc>
                  <a:txBody>
                    <a:bodyPr/>
                    <a:lstStyle/>
                    <a:p>
                      <a:pPr algn="l">
                        <a:spcAft>
                          <a:spcPts val="0"/>
                        </a:spcAft>
                      </a:pPr>
                      <a:r>
                        <a:rPr sz="1300" b="0" i="0">
                          <a:solidFill>
                            <a:srgbClr val="1B2A41"/>
                          </a:solidFill>
                          <a:latin typeface="Courier New"/>
                        </a:rPr>
                        <a:t>"  thabo  ".strip()</a:t>
                      </a:r>
                    </a:p>
                  </a:txBody>
                  <a:tcPr anchor="ctr">
                    <a:solidFill>
                      <a:srgbClr val="E8F0F8"/>
                    </a:solidFill>
                  </a:tcPr>
                </a:tc>
                <a:tc>
                  <a:txBody>
                    <a:bodyPr/>
                    <a:lstStyle/>
                    <a:p>
                      <a:pPr algn="l">
                        <a:spcAft>
                          <a:spcPts val="0"/>
                        </a:spcAft>
                      </a:pPr>
                      <a:r>
                        <a:rPr sz="1300" b="0" i="0">
                          <a:solidFill>
                            <a:srgbClr val="1B2A41"/>
                          </a:solidFill>
                          <a:latin typeface="Courier New"/>
                        </a:rPr>
                        <a:t>'thabo'</a:t>
                      </a:r>
                    </a:p>
                  </a:txBody>
                  <a:tcPr anchor="ctr">
                    <a:solidFill>
                      <a:srgbClr val="E8F0F8"/>
                    </a:solidFill>
                  </a:tcPr>
                </a:tc>
                <a:extLst>
                  <a:ext uri="{0D108BD9-81ED-4DB2-BD59-A6C34878D82A}">
                    <a16:rowId xmlns:a16="http://schemas.microsoft.com/office/drawing/2014/main" val="10001"/>
                  </a:ext>
                </a:extLst>
              </a:tr>
              <a:tr h="530352">
                <a:tc>
                  <a:txBody>
                    <a:bodyPr/>
                    <a:lstStyle/>
                    <a:p>
                      <a:pPr algn="l">
                        <a:spcAft>
                          <a:spcPts val="0"/>
                        </a:spcAft>
                      </a:pPr>
                      <a:r>
                        <a:rPr sz="1300" b="0" i="0">
                          <a:solidFill>
                            <a:srgbClr val="1B2A41"/>
                          </a:solidFill>
                          <a:latin typeface="Courier New"/>
                        </a:rPr>
                        <a:t>"Thabo".upper()  /  "THABO".lower()</a:t>
                      </a:r>
                    </a:p>
                  </a:txBody>
                  <a:tcPr anchor="ctr">
                    <a:solidFill>
                      <a:srgbClr val="FFFFFF"/>
                    </a:solidFill>
                  </a:tcPr>
                </a:tc>
                <a:tc>
                  <a:txBody>
                    <a:bodyPr/>
                    <a:lstStyle/>
                    <a:p>
                      <a:pPr algn="l">
                        <a:spcAft>
                          <a:spcPts val="0"/>
                        </a:spcAft>
                      </a:pPr>
                      <a:r>
                        <a:rPr sz="1300" b="0" i="0">
                          <a:solidFill>
                            <a:srgbClr val="1B2A41"/>
                          </a:solidFill>
                          <a:latin typeface="Courier New"/>
                        </a:rPr>
                        <a:t>'THABO'  /  'thabo'</a:t>
                      </a:r>
                    </a:p>
                  </a:txBody>
                  <a:tcPr anchor="ctr">
                    <a:solidFill>
                      <a:srgbClr val="FFFFFF"/>
                    </a:solidFill>
                  </a:tcPr>
                </a:tc>
                <a:extLst>
                  <a:ext uri="{0D108BD9-81ED-4DB2-BD59-A6C34878D82A}">
                    <a16:rowId xmlns:a16="http://schemas.microsoft.com/office/drawing/2014/main" val="10002"/>
                  </a:ext>
                </a:extLst>
              </a:tr>
              <a:tr h="530352">
                <a:tc>
                  <a:txBody>
                    <a:bodyPr/>
                    <a:lstStyle/>
                    <a:p>
                      <a:pPr algn="l">
                        <a:spcAft>
                          <a:spcPts val="0"/>
                        </a:spcAft>
                      </a:pPr>
                      <a:r>
                        <a:rPr sz="1300" b="0" i="0">
                          <a:solidFill>
                            <a:srgbClr val="1B2A41"/>
                          </a:solidFill>
                          <a:latin typeface="Courier New"/>
                        </a:rPr>
                        <a:t>"nomsa dlamini".title()</a:t>
                      </a:r>
                    </a:p>
                  </a:txBody>
                  <a:tcPr anchor="ctr">
                    <a:solidFill>
                      <a:srgbClr val="E8F0F8"/>
                    </a:solidFill>
                  </a:tcPr>
                </a:tc>
                <a:tc>
                  <a:txBody>
                    <a:bodyPr/>
                    <a:lstStyle/>
                    <a:p>
                      <a:pPr algn="l">
                        <a:spcAft>
                          <a:spcPts val="0"/>
                        </a:spcAft>
                      </a:pPr>
                      <a:r>
                        <a:rPr sz="1300" b="0" i="0">
                          <a:solidFill>
                            <a:srgbClr val="1B2A41"/>
                          </a:solidFill>
                          <a:latin typeface="Courier New"/>
                        </a:rPr>
                        <a:t>'Nomsa Dlamini'</a:t>
                      </a:r>
                    </a:p>
                  </a:txBody>
                  <a:tcPr anchor="ctr">
                    <a:solidFill>
                      <a:srgbClr val="E8F0F8"/>
                    </a:solidFill>
                  </a:tcPr>
                </a:tc>
                <a:extLst>
                  <a:ext uri="{0D108BD9-81ED-4DB2-BD59-A6C34878D82A}">
                    <a16:rowId xmlns:a16="http://schemas.microsoft.com/office/drawing/2014/main" val="10003"/>
                  </a:ext>
                </a:extLst>
              </a:tr>
              <a:tr h="530352">
                <a:tc>
                  <a:txBody>
                    <a:bodyPr/>
                    <a:lstStyle/>
                    <a:p>
                      <a:pPr algn="l">
                        <a:spcAft>
                          <a:spcPts val="0"/>
                        </a:spcAft>
                      </a:pPr>
                      <a:r>
                        <a:rPr sz="1300" b="0" i="0">
                          <a:solidFill>
                            <a:srgbClr val="1B2A41"/>
                          </a:solidFill>
                          <a:latin typeface="Courier New"/>
                        </a:rPr>
                        <a:t>"Pretoria".find("t")</a:t>
                      </a:r>
                    </a:p>
                  </a:txBody>
                  <a:tcPr anchor="ctr">
                    <a:solidFill>
                      <a:srgbClr val="FFFFFF"/>
                    </a:solidFill>
                  </a:tcPr>
                </a:tc>
                <a:tc>
                  <a:txBody>
                    <a:bodyPr/>
                    <a:lstStyle/>
                    <a:p>
                      <a:pPr algn="l">
                        <a:spcAft>
                          <a:spcPts val="0"/>
                        </a:spcAft>
                      </a:pPr>
                      <a:r>
                        <a:rPr sz="1300" b="0" i="0">
                          <a:solidFill>
                            <a:srgbClr val="1B2A41"/>
                          </a:solidFill>
                          <a:latin typeface="Courier New"/>
                        </a:rPr>
                        <a:t>3  (-1 if not found)</a:t>
                      </a:r>
                    </a:p>
                  </a:txBody>
                  <a:tcPr anchor="ctr">
                    <a:solidFill>
                      <a:srgbClr val="FFFFFF"/>
                    </a:solidFill>
                  </a:tcPr>
                </a:tc>
                <a:extLst>
                  <a:ext uri="{0D108BD9-81ED-4DB2-BD59-A6C34878D82A}">
                    <a16:rowId xmlns:a16="http://schemas.microsoft.com/office/drawing/2014/main" val="10004"/>
                  </a:ext>
                </a:extLst>
              </a:tr>
              <a:tr h="530352">
                <a:tc>
                  <a:txBody>
                    <a:bodyPr/>
                    <a:lstStyle/>
                    <a:p>
                      <a:pPr algn="l">
                        <a:spcAft>
                          <a:spcPts val="0"/>
                        </a:spcAft>
                      </a:pPr>
                      <a:r>
                        <a:rPr sz="1300" b="0" i="0">
                          <a:solidFill>
                            <a:srgbClr val="1B2A41"/>
                          </a:solidFill>
                          <a:latin typeface="Courier New"/>
                        </a:rPr>
                        <a:t>"Pretoria".index("z")</a:t>
                      </a:r>
                    </a:p>
                  </a:txBody>
                  <a:tcPr anchor="ctr">
                    <a:solidFill>
                      <a:srgbClr val="E8F0F8"/>
                    </a:solidFill>
                  </a:tcPr>
                </a:tc>
                <a:tc>
                  <a:txBody>
                    <a:bodyPr/>
                    <a:lstStyle/>
                    <a:p>
                      <a:pPr algn="l">
                        <a:spcAft>
                          <a:spcPts val="0"/>
                        </a:spcAft>
                      </a:pPr>
                      <a:r>
                        <a:rPr sz="1300" b="0" i="0">
                          <a:solidFill>
                            <a:srgbClr val="1B2A41"/>
                          </a:solidFill>
                          <a:latin typeface="Courier New"/>
                        </a:rPr>
                        <a:t>ValueError</a:t>
                      </a:r>
                    </a:p>
                  </a:txBody>
                  <a:tcPr anchor="ctr">
                    <a:solidFill>
                      <a:srgbClr val="E8F0F8"/>
                    </a:solidFill>
                  </a:tcPr>
                </a:tc>
                <a:extLst>
                  <a:ext uri="{0D108BD9-81ED-4DB2-BD59-A6C34878D82A}">
                    <a16:rowId xmlns:a16="http://schemas.microsoft.com/office/drawing/2014/main" val="10005"/>
                  </a:ext>
                </a:extLst>
              </a:tr>
              <a:tr h="530352">
                <a:tc>
                  <a:txBody>
                    <a:bodyPr/>
                    <a:lstStyle/>
                    <a:p>
                      <a:pPr algn="l">
                        <a:spcAft>
                          <a:spcPts val="0"/>
                        </a:spcAft>
                      </a:pPr>
                      <a:r>
                        <a:rPr sz="1300" b="0" i="0">
                          <a:solidFill>
                            <a:srgbClr val="1B2A41"/>
                          </a:solidFill>
                          <a:latin typeface="Courier New"/>
                        </a:rPr>
                        <a:t>"nomsa dlamini".split()</a:t>
                      </a:r>
                    </a:p>
                  </a:txBody>
                  <a:tcPr anchor="ctr">
                    <a:solidFill>
                      <a:srgbClr val="FFFFFF"/>
                    </a:solidFill>
                  </a:tcPr>
                </a:tc>
                <a:tc>
                  <a:txBody>
                    <a:bodyPr/>
                    <a:lstStyle/>
                    <a:p>
                      <a:pPr algn="l">
                        <a:spcAft>
                          <a:spcPts val="0"/>
                        </a:spcAft>
                      </a:pPr>
                      <a:r>
                        <a:rPr sz="1300" b="0" i="0">
                          <a:solidFill>
                            <a:srgbClr val="1B2A41"/>
                          </a:solidFill>
                          <a:latin typeface="Courier New"/>
                        </a:rPr>
                        <a:t>['nomsa', 'dlamini']</a:t>
                      </a:r>
                    </a:p>
                  </a:txBody>
                  <a:tcPr anchor="ctr">
                    <a:solidFill>
                      <a:srgbClr val="FFFFFF"/>
                    </a:solidFill>
                  </a:tcPr>
                </a:tc>
                <a:extLst>
                  <a:ext uri="{0D108BD9-81ED-4DB2-BD59-A6C34878D82A}">
                    <a16:rowId xmlns:a16="http://schemas.microsoft.com/office/drawing/2014/main" val="10006"/>
                  </a:ext>
                </a:extLst>
              </a:tr>
              <a:tr h="530352">
                <a:tc>
                  <a:txBody>
                    <a:bodyPr/>
                    <a:lstStyle/>
                    <a:p>
                      <a:pPr algn="l">
                        <a:spcAft>
                          <a:spcPts val="0"/>
                        </a:spcAft>
                      </a:pPr>
                      <a:r>
                        <a:rPr sz="1300" b="0" i="0">
                          <a:solidFill>
                            <a:srgbClr val="1B2A41"/>
                          </a:solidFill>
                          <a:latin typeface="Courier New"/>
                        </a:rPr>
                        <a:t>"2026".isdigit()  /  "Nomsa".isalpha()</a:t>
                      </a:r>
                    </a:p>
                  </a:txBody>
                  <a:tcPr anchor="ctr">
                    <a:solidFill>
                      <a:srgbClr val="E8F0F8"/>
                    </a:solidFill>
                  </a:tcPr>
                </a:tc>
                <a:tc>
                  <a:txBody>
                    <a:bodyPr/>
                    <a:lstStyle/>
                    <a:p>
                      <a:pPr algn="l">
                        <a:spcAft>
                          <a:spcPts val="0"/>
                        </a:spcAft>
                      </a:pPr>
                      <a:r>
                        <a:rPr sz="1300" b="0" i="0">
                          <a:solidFill>
                            <a:srgbClr val="1B2A41"/>
                          </a:solidFill>
                          <a:latin typeface="Courier New"/>
                        </a:rPr>
                        <a:t>True  /  True</a:t>
                      </a:r>
                    </a:p>
                  </a:txBody>
                  <a:tcPr anchor="ctr">
                    <a:solidFill>
                      <a:srgbClr val="E8F0F8"/>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8321040" y="1280160"/>
            <a:ext cx="3319272" cy="2011680"/>
          </a:xfrm>
          <a:prstGeom prst="roundRect">
            <a:avLst>
              <a:gd name="adj" fmla="val 6363"/>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58200" y="1325880"/>
            <a:ext cx="3063240" cy="1920240"/>
          </a:xfrm>
          <a:prstGeom prst="rect">
            <a:avLst/>
          </a:prstGeom>
          <a:noFill/>
        </p:spPr>
        <p:txBody>
          <a:bodyPr wrap="square" lIns="45720" rIns="45720" anchor="t">
            <a:spAutoFit/>
          </a:bodyPr>
          <a:lstStyle/>
          <a:p>
            <a:pPr algn="l">
              <a:spcAft>
                <a:spcPts val="400"/>
              </a:spcAft>
            </a:pPr>
            <a:r>
              <a:rPr sz="1500" b="1" i="0">
                <a:solidFill>
                  <a:srgbClr val="085797"/>
                </a:solidFill>
                <a:latin typeface="Calibri"/>
              </a:rPr>
              <a:t>Methods return a new string</a:t>
            </a:r>
          </a:p>
          <a:p>
            <a:pPr algn="l">
              <a:spcAft>
                <a:spcPts val="600"/>
              </a:spcAft>
            </a:pPr>
            <a:r>
              <a:rPr sz="1400" b="0" i="0">
                <a:solidFill>
                  <a:srgbClr val="1B2A41"/>
                </a:solidFill>
                <a:latin typeface="Calibri"/>
              </a:rPr>
              <a:t>The original does not change, so assign the result:</a:t>
            </a:r>
          </a:p>
          <a:p>
            <a:pPr algn="l">
              <a:spcAft>
                <a:spcPts val="400"/>
              </a:spcAft>
            </a:pPr>
            <a:r>
              <a:rPr sz="1400" b="1" i="0">
                <a:solidFill>
                  <a:srgbClr val="2E8B57"/>
                </a:solidFill>
                <a:latin typeface="Courier New"/>
              </a:rPr>
              <a:t>name = name.strip()</a:t>
            </a:r>
          </a:p>
        </p:txBody>
      </p:sp>
      <p:sp>
        <p:nvSpPr>
          <p:cNvPr id="7" name="Rounded Rectangle 6"/>
          <p:cNvSpPr/>
          <p:nvPr/>
        </p:nvSpPr>
        <p:spPr>
          <a:xfrm>
            <a:off x="8321040" y="3520440"/>
            <a:ext cx="3319272" cy="2103120"/>
          </a:xfrm>
          <a:prstGeom prst="roundRect">
            <a:avLst>
              <a:gd name="adj" fmla="val 5217"/>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l">
              <a:spcAft>
                <a:spcPts val="200"/>
              </a:spcAft>
            </a:pPr>
            <a:r>
              <a:rPr sz="1400" b="1" i="0">
                <a:solidFill>
                  <a:srgbClr val="085797"/>
                </a:solidFill>
                <a:latin typeface="Courier New"/>
              </a:rPr>
              <a:t>isdigit() </a:t>
            </a:r>
            <a:r>
              <a:rPr sz="1400" b="0" i="0">
                <a:solidFill>
                  <a:srgbClr val="1B2A41"/>
                </a:solidFill>
                <a:latin typeface="Calibri"/>
              </a:rPr>
              <a:t>is False for </a:t>
            </a:r>
            <a:r>
              <a:rPr sz="1400" b="1" i="0">
                <a:solidFill>
                  <a:srgbClr val="1B2A41"/>
                </a:solidFill>
                <a:latin typeface="Courier New"/>
              </a:rPr>
              <a:t>"-5"</a:t>
            </a:r>
            <a:r>
              <a:rPr sz="1400" b="0" i="0">
                <a:solidFill>
                  <a:srgbClr val="1B2A41"/>
                </a:solidFill>
                <a:latin typeface="Calibri"/>
              </a:rPr>
              <a:t>, </a:t>
            </a:r>
            <a:r>
              <a:rPr sz="1400" b="1" i="0">
                <a:solidFill>
                  <a:srgbClr val="1B2A41"/>
                </a:solidFill>
                <a:latin typeface="Courier New"/>
              </a:rPr>
              <a:t>"3.5"</a:t>
            </a:r>
            <a:r>
              <a:rPr sz="1400" b="0" i="0">
                <a:solidFill>
                  <a:srgbClr val="1B2A41"/>
                </a:solidFill>
                <a:latin typeface="Calibri"/>
              </a:rPr>
              <a:t> and the empty string. Use it for whole-number codes such as staff numbers.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257032" cy="822960"/>
          </a:xfrm>
        </p:spPr>
        <p:txBody>
          <a:bodyPr wrap="square" anchor="ctr"/>
          <a:lstStyle/>
          <a:p>
            <a:pPr algn="l"/>
            <a:r>
              <a:rPr sz="3200" b="1">
                <a:solidFill>
                  <a:srgbClr val="085797"/>
                </a:solidFill>
                <a:latin typeface="Calibri"/>
              </a:rPr>
              <a:t>Worked example: standardise a name</a:t>
            </a:r>
          </a:p>
        </p:txBody>
      </p:sp>
      <p:sp>
        <p:nvSpPr>
          <p:cNvPr id="3" name="Rounded Rectangle 2"/>
          <p:cNvSpPr/>
          <p:nvPr/>
        </p:nvSpPr>
        <p:spPr>
          <a:xfrm>
            <a:off x="8988552" y="457200"/>
            <a:ext cx="265176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2B · Strings</a:t>
            </a:r>
          </a:p>
        </p:txBody>
      </p:sp>
      <p:sp>
        <p:nvSpPr>
          <p:cNvPr id="4" name="Rounded Rectangle 3"/>
          <p:cNvSpPr/>
          <p:nvPr/>
        </p:nvSpPr>
        <p:spPr>
          <a:xfrm>
            <a:off x="548640" y="1280160"/>
            <a:ext cx="5669280" cy="2011680"/>
          </a:xfrm>
          <a:prstGeom prst="roundRect">
            <a:avLst>
              <a:gd name="adj" fmla="val 4545"/>
            </a:avLst>
          </a:prstGeom>
          <a:solidFill>
            <a:srgbClr val="1E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13232" y="1408176"/>
            <a:ext cx="128016" cy="128016"/>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4400" y="1408176"/>
            <a:ext cx="128016" cy="128016"/>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15568" y="1408176"/>
            <a:ext cx="128016" cy="128016"/>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1335024"/>
            <a:ext cx="4663440" cy="274320"/>
          </a:xfrm>
          <a:prstGeom prst="rect">
            <a:avLst/>
          </a:prstGeom>
          <a:noFill/>
        </p:spPr>
        <p:txBody>
          <a:bodyPr wrap="square" lIns="45720" rIns="45720" anchor="ctr">
            <a:spAutoFit/>
          </a:bodyPr>
          <a:lstStyle/>
          <a:p>
            <a:pPr algn="l">
              <a:spcAft>
                <a:spcPts val="400"/>
              </a:spcAft>
            </a:pPr>
            <a:r>
              <a:rPr sz="1100" b="0" i="0">
                <a:solidFill>
                  <a:srgbClr val="9AA7B5"/>
                </a:solidFill>
                <a:latin typeface="Courier New"/>
              </a:rPr>
              <a:t>name.py</a:t>
            </a:r>
          </a:p>
        </p:txBody>
      </p:sp>
      <p:sp>
        <p:nvSpPr>
          <p:cNvPr id="9" name="TextBox 8"/>
          <p:cNvSpPr txBox="1"/>
          <p:nvPr/>
        </p:nvSpPr>
        <p:spPr>
          <a:xfrm>
            <a:off x="685800" y="1664207"/>
            <a:ext cx="5394960" cy="1554480"/>
          </a:xfrm>
          <a:prstGeom prst="rect">
            <a:avLst/>
          </a:prstGeom>
          <a:noFill/>
        </p:spPr>
        <p:txBody>
          <a:bodyPr wrap="square" lIns="45720" rIns="45720" anchor="t">
            <a:spAutoFit/>
          </a:bodyPr>
          <a:lstStyle/>
          <a:p>
            <a:pPr algn="l">
              <a:spcAft>
                <a:spcPts val="700"/>
              </a:spcAft>
            </a:pPr>
            <a:r>
              <a:rPr sz="1200" b="0" i="0">
                <a:solidFill>
                  <a:srgbClr val="E6EDF3"/>
                </a:solidFill>
                <a:latin typeface="Courier New"/>
              </a:rPr>
              <a:t>raw = </a:t>
            </a:r>
            <a:r>
              <a:rPr sz="1200" b="0" i="0">
                <a:solidFill>
                  <a:srgbClr val="A5D6FF"/>
                </a:solidFill>
                <a:latin typeface="Courier New"/>
              </a:rPr>
              <a:t>"  nomsa DLAMINI "</a:t>
            </a:r>
          </a:p>
          <a:p>
            <a:pPr algn="l">
              <a:spcAft>
                <a:spcPts val="700"/>
              </a:spcAft>
            </a:pPr>
            <a:r>
              <a:rPr sz="1200" b="0" i="0">
                <a:solidFill>
                  <a:srgbClr val="E6EDF3"/>
                </a:solidFill>
                <a:latin typeface="Courier New"/>
              </a:rPr>
              <a:t>name = raw.strip().title()</a:t>
            </a:r>
          </a:p>
          <a:p>
            <a:pPr algn="l">
              <a:spcAft>
                <a:spcPts val="700"/>
              </a:spcAft>
            </a:pPr>
            <a:r>
              <a:rPr sz="1200" b="0" i="0">
                <a:solidFill>
                  <a:srgbClr val="E6EDF3"/>
                </a:solidFill>
                <a:latin typeface="Courier New"/>
              </a:rPr>
              <a:t>parts = name.split()</a:t>
            </a:r>
          </a:p>
          <a:p>
            <a:pPr algn="l">
              <a:spcAft>
                <a:spcPts val="700"/>
              </a:spcAft>
            </a:pPr>
            <a:r>
              <a:rPr sz="1200" b="0" i="0">
                <a:solidFill>
                  <a:srgbClr val="E6EDF3"/>
                </a:solidFill>
                <a:latin typeface="Courier New"/>
              </a:rPr>
              <a:t>print(</a:t>
            </a:r>
            <a:r>
              <a:rPr sz="1200" b="0" i="0">
                <a:solidFill>
                  <a:srgbClr val="A5D6FF"/>
                </a:solidFill>
                <a:latin typeface="Courier New"/>
              </a:rPr>
              <a:t>"Name:   "</a:t>
            </a:r>
            <a:r>
              <a:rPr sz="1200" b="0" i="0">
                <a:solidFill>
                  <a:srgbClr val="E6EDF3"/>
                </a:solidFill>
                <a:latin typeface="Courier New"/>
              </a:rPr>
              <a:t>, name)</a:t>
            </a:r>
          </a:p>
          <a:p>
            <a:pPr algn="l">
              <a:spcAft>
                <a:spcPts val="700"/>
              </a:spcAft>
            </a:pPr>
            <a:r>
              <a:rPr sz="1200" b="0" i="0">
                <a:solidFill>
                  <a:srgbClr val="E6EDF3"/>
                </a:solidFill>
                <a:latin typeface="Courier New"/>
              </a:rPr>
              <a:t>print(</a:t>
            </a:r>
            <a:r>
              <a:rPr sz="1200" b="0" i="0">
                <a:solidFill>
                  <a:srgbClr val="A5D6FF"/>
                </a:solidFill>
                <a:latin typeface="Courier New"/>
              </a:rPr>
              <a:t>"Surname:"</a:t>
            </a:r>
            <a:r>
              <a:rPr sz="1200" b="0" i="0">
                <a:solidFill>
                  <a:srgbClr val="E6EDF3"/>
                </a:solidFill>
                <a:latin typeface="Courier New"/>
              </a:rPr>
              <a:t>, parts[-1].upper())</a:t>
            </a:r>
          </a:p>
        </p:txBody>
      </p:sp>
      <p:sp>
        <p:nvSpPr>
          <p:cNvPr id="10" name="Rounded Rectangle 9"/>
          <p:cNvSpPr/>
          <p:nvPr/>
        </p:nvSpPr>
        <p:spPr>
          <a:xfrm>
            <a:off x="6492240" y="1280160"/>
            <a:ext cx="5148072" cy="2011680"/>
          </a:xfrm>
          <a:prstGeom prst="roundRect">
            <a:avLst>
              <a:gd name="adj" fmla="val 4545"/>
            </a:avLst>
          </a:prstGeom>
          <a:solidFill>
            <a:srgbClr val="1E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656831" y="1408176"/>
            <a:ext cx="128016" cy="128016"/>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857999" y="1408176"/>
            <a:ext cx="128016" cy="128016"/>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059168" y="1408176"/>
            <a:ext cx="128016" cy="128016"/>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0" y="1335024"/>
            <a:ext cx="4142231" cy="274320"/>
          </a:xfrm>
          <a:prstGeom prst="rect">
            <a:avLst/>
          </a:prstGeom>
          <a:noFill/>
        </p:spPr>
        <p:txBody>
          <a:bodyPr wrap="square" lIns="45720" rIns="45720" anchor="ctr">
            <a:spAutoFit/>
          </a:bodyPr>
          <a:lstStyle/>
          <a:p>
            <a:pPr algn="l">
              <a:spcAft>
                <a:spcPts val="400"/>
              </a:spcAft>
            </a:pPr>
            <a:r>
              <a:rPr sz="1100" b="0" i="0">
                <a:solidFill>
                  <a:srgbClr val="9AA7B5"/>
                </a:solidFill>
                <a:latin typeface="Courier New"/>
              </a:rPr>
              <a:t>output</a:t>
            </a:r>
          </a:p>
        </p:txBody>
      </p:sp>
      <p:sp>
        <p:nvSpPr>
          <p:cNvPr id="15" name="TextBox 14"/>
          <p:cNvSpPr txBox="1"/>
          <p:nvPr/>
        </p:nvSpPr>
        <p:spPr>
          <a:xfrm>
            <a:off x="6629400" y="1664207"/>
            <a:ext cx="4873752" cy="1554480"/>
          </a:xfrm>
          <a:prstGeom prst="rect">
            <a:avLst/>
          </a:prstGeom>
          <a:noFill/>
        </p:spPr>
        <p:txBody>
          <a:bodyPr wrap="square" lIns="45720" rIns="45720" anchor="t">
            <a:spAutoFit/>
          </a:bodyPr>
          <a:lstStyle/>
          <a:p>
            <a:pPr algn="l">
              <a:spcAft>
                <a:spcPts val="700"/>
              </a:spcAft>
            </a:pPr>
            <a:r>
              <a:rPr sz="1600" b="0" i="0">
                <a:solidFill>
                  <a:srgbClr val="9AA7B5"/>
                </a:solidFill>
                <a:latin typeface="Courier New"/>
              </a:rPr>
              <a:t>Name:    Nomsa Dlamini</a:t>
            </a:r>
          </a:p>
          <a:p>
            <a:pPr algn="l">
              <a:spcAft>
                <a:spcPts val="700"/>
              </a:spcAft>
            </a:pPr>
            <a:r>
              <a:rPr sz="1600" b="0" i="0">
                <a:solidFill>
                  <a:srgbClr val="9AA7B5"/>
                </a:solidFill>
                <a:latin typeface="Courier New"/>
              </a:rPr>
              <a:t>Surname: DLAMINI</a:t>
            </a:r>
          </a:p>
        </p:txBody>
      </p:sp>
      <p:sp>
        <p:nvSpPr>
          <p:cNvPr id="16" name="TextBox 15"/>
          <p:cNvSpPr txBox="1"/>
          <p:nvPr/>
        </p:nvSpPr>
        <p:spPr>
          <a:xfrm>
            <a:off x="548640" y="3474720"/>
            <a:ext cx="11091672" cy="365760"/>
          </a:xfrm>
          <a:prstGeom prst="rect">
            <a:avLst/>
          </a:prstGeom>
          <a:noFill/>
        </p:spPr>
        <p:txBody>
          <a:bodyPr wrap="square" lIns="45720" rIns="45720" anchor="t">
            <a:spAutoFit/>
          </a:bodyPr>
          <a:lstStyle/>
          <a:p>
            <a:pPr algn="l">
              <a:spcAft>
                <a:spcPts val="400"/>
              </a:spcAft>
            </a:pPr>
            <a:r>
              <a:rPr sz="1700" b="1" i="0">
                <a:solidFill>
                  <a:srgbClr val="085797"/>
                </a:solidFill>
                <a:latin typeface="Calibri"/>
              </a:rPr>
              <a:t>What happens to the text</a:t>
            </a:r>
          </a:p>
        </p:txBody>
      </p:sp>
      <p:sp>
        <p:nvSpPr>
          <p:cNvPr id="17" name="Rounded Rectangle 16"/>
          <p:cNvSpPr/>
          <p:nvPr/>
        </p:nvSpPr>
        <p:spPr>
          <a:xfrm>
            <a:off x="548640" y="3931920"/>
            <a:ext cx="2498598" cy="960120"/>
          </a:xfrm>
          <a:prstGeom prst="roundRect">
            <a:avLst>
              <a:gd name="adj" fmla="val 11428"/>
            </a:avLst>
          </a:prstGeom>
          <a:solidFill>
            <a:srgbClr val="FFFFFF"/>
          </a:solidFill>
          <a:ln w="25400">
            <a:solidFill>
              <a:srgbClr val="085797"/>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200"/>
              </a:spcAft>
            </a:pPr>
            <a:r>
              <a:rPr sz="1100" b="1" i="0">
                <a:solidFill>
                  <a:srgbClr val="1B2A41"/>
                </a:solidFill>
                <a:latin typeface="Courier New"/>
              </a:rPr>
              <a:t>"  nomsa DLAMINI "</a:t>
            </a:r>
          </a:p>
          <a:p>
            <a:pPr algn="ctr">
              <a:spcAft>
                <a:spcPts val="200"/>
              </a:spcAft>
            </a:pPr>
            <a:r>
              <a:rPr sz="1100" b="0" i="0">
                <a:solidFill>
                  <a:srgbClr val="5B6770"/>
                </a:solidFill>
                <a:latin typeface="Calibri"/>
              </a:rPr>
              <a:t>raw</a:t>
            </a:r>
          </a:p>
        </p:txBody>
      </p:sp>
      <p:sp>
        <p:nvSpPr>
          <p:cNvPr id="18" name="Right Arrow 17"/>
          <p:cNvSpPr/>
          <p:nvPr/>
        </p:nvSpPr>
        <p:spPr>
          <a:xfrm>
            <a:off x="3092958" y="4274820"/>
            <a:ext cx="274320" cy="274320"/>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412998" y="3931920"/>
            <a:ext cx="2498598" cy="960120"/>
          </a:xfrm>
          <a:prstGeom prst="roundRect">
            <a:avLst>
              <a:gd name="adj" fmla="val 11428"/>
            </a:avLst>
          </a:prstGeom>
          <a:solidFill>
            <a:srgbClr val="FFFFFF"/>
          </a:solidFill>
          <a:ln w="25400">
            <a:solidFill>
              <a:srgbClr val="C9780A"/>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200"/>
              </a:spcAft>
            </a:pPr>
            <a:r>
              <a:rPr sz="1200" b="1" i="0">
                <a:solidFill>
                  <a:srgbClr val="1B2A41"/>
                </a:solidFill>
                <a:latin typeface="Courier New"/>
              </a:rPr>
              <a:t>"nomsa DLAMINI"</a:t>
            </a:r>
          </a:p>
          <a:p>
            <a:pPr algn="ctr">
              <a:spcAft>
                <a:spcPts val="200"/>
              </a:spcAft>
            </a:pPr>
            <a:r>
              <a:rPr sz="1100" b="1" i="0">
                <a:solidFill>
                  <a:srgbClr val="C9780A"/>
                </a:solidFill>
                <a:latin typeface="Calibri"/>
              </a:rPr>
              <a:t>strip()</a:t>
            </a:r>
          </a:p>
        </p:txBody>
      </p:sp>
      <p:sp>
        <p:nvSpPr>
          <p:cNvPr id="20" name="Right Arrow 19"/>
          <p:cNvSpPr/>
          <p:nvPr/>
        </p:nvSpPr>
        <p:spPr>
          <a:xfrm>
            <a:off x="5957316" y="4274820"/>
            <a:ext cx="274320" cy="274320"/>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77355" y="3931920"/>
            <a:ext cx="2498598" cy="960120"/>
          </a:xfrm>
          <a:prstGeom prst="roundRect">
            <a:avLst>
              <a:gd name="adj" fmla="val 11428"/>
            </a:avLst>
          </a:prstGeom>
          <a:solidFill>
            <a:srgbClr val="FFFFFF"/>
          </a:solidFill>
          <a:ln w="25400">
            <a:solidFill>
              <a:srgbClr val="E31E3B"/>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200"/>
              </a:spcAft>
            </a:pPr>
            <a:r>
              <a:rPr sz="1200" b="1" i="0">
                <a:solidFill>
                  <a:srgbClr val="1B2A41"/>
                </a:solidFill>
                <a:latin typeface="Courier New"/>
              </a:rPr>
              <a:t>"Nomsa Dlamini"</a:t>
            </a:r>
          </a:p>
          <a:p>
            <a:pPr algn="ctr">
              <a:spcAft>
                <a:spcPts val="200"/>
              </a:spcAft>
            </a:pPr>
            <a:r>
              <a:rPr sz="1100" b="1" i="0">
                <a:solidFill>
                  <a:srgbClr val="E31E3B"/>
                </a:solidFill>
                <a:latin typeface="Calibri"/>
              </a:rPr>
              <a:t>title()</a:t>
            </a:r>
          </a:p>
        </p:txBody>
      </p:sp>
      <p:sp>
        <p:nvSpPr>
          <p:cNvPr id="22" name="Right Arrow 21"/>
          <p:cNvSpPr/>
          <p:nvPr/>
        </p:nvSpPr>
        <p:spPr>
          <a:xfrm>
            <a:off x="8821674" y="4274820"/>
            <a:ext cx="274320" cy="274320"/>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141713" y="3931920"/>
            <a:ext cx="2498598" cy="960120"/>
          </a:xfrm>
          <a:prstGeom prst="roundRect">
            <a:avLst>
              <a:gd name="adj" fmla="val 11428"/>
            </a:avLst>
          </a:prstGeom>
          <a:solidFill>
            <a:srgbClr val="FFFFFF"/>
          </a:solidFill>
          <a:ln w="25400">
            <a:solidFill>
              <a:srgbClr val="2E8B57"/>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200"/>
              </a:spcAft>
            </a:pPr>
            <a:r>
              <a:rPr sz="1100" b="1" i="0">
                <a:solidFill>
                  <a:srgbClr val="1B2A41"/>
                </a:solidFill>
                <a:latin typeface="Courier New"/>
              </a:rPr>
              <a:t>['Nomsa','Dlamini']</a:t>
            </a:r>
          </a:p>
          <a:p>
            <a:pPr algn="ctr">
              <a:spcAft>
                <a:spcPts val="200"/>
              </a:spcAft>
            </a:pPr>
            <a:r>
              <a:rPr sz="1100" b="1" i="0">
                <a:solidFill>
                  <a:srgbClr val="2E8B57"/>
                </a:solidFill>
                <a:latin typeface="Calibri"/>
              </a:rPr>
              <a:t>split()</a:t>
            </a:r>
          </a:p>
        </p:txBody>
      </p:sp>
      <p:sp>
        <p:nvSpPr>
          <p:cNvPr id="24" name="TextBox 23"/>
          <p:cNvSpPr txBox="1"/>
          <p:nvPr/>
        </p:nvSpPr>
        <p:spPr>
          <a:xfrm>
            <a:off x="548640" y="5029200"/>
            <a:ext cx="11091672" cy="640080"/>
          </a:xfrm>
          <a:prstGeom prst="rect">
            <a:avLst/>
          </a:prstGeom>
          <a:noFill/>
        </p:spPr>
        <p:txBody>
          <a:bodyPr wrap="square" lIns="45720" rIns="45720" anchor="t">
            <a:spAutoFit/>
          </a:bodyPr>
          <a:lstStyle/>
          <a:p>
            <a:pPr algn="l">
              <a:spcAft>
                <a:spcPts val="400"/>
              </a:spcAft>
            </a:pPr>
            <a:r>
              <a:rPr sz="1400" b="0" i="0">
                <a:solidFill>
                  <a:srgbClr val="1B2A41"/>
                </a:solidFill>
                <a:latin typeface="Calibri"/>
              </a:rPr>
              <a:t>In </a:t>
            </a:r>
            <a:r>
              <a:rPr sz="1300" b="1" i="0">
                <a:solidFill>
                  <a:srgbClr val="1B2A41"/>
                </a:solidFill>
                <a:latin typeface="Courier New"/>
              </a:rPr>
              <a:t>parts</a:t>
            </a:r>
            <a:r>
              <a:rPr sz="1400" b="0" i="0">
                <a:solidFill>
                  <a:srgbClr val="1B2A41"/>
                </a:solidFill>
                <a:latin typeface="Calibri"/>
              </a:rPr>
              <a:t>, position 0 is the first item and -1 is the last (lists are Day 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7982712" cy="822960"/>
          </a:xfrm>
        </p:spPr>
        <p:txBody>
          <a:bodyPr wrap="square" anchor="ctr"/>
          <a:lstStyle/>
          <a:p>
            <a:pPr algn="l"/>
            <a:r>
              <a:rPr sz="3200" b="1">
                <a:solidFill>
                  <a:srgbClr val="085797"/>
                </a:solidFill>
                <a:latin typeface="Calibri"/>
              </a:rPr>
              <a:t>Formatted output and a first look at if</a:t>
            </a:r>
          </a:p>
        </p:txBody>
      </p:sp>
      <p:sp>
        <p:nvSpPr>
          <p:cNvPr id="3" name="Rounded Rectangle 2"/>
          <p:cNvSpPr/>
          <p:nvPr/>
        </p:nvSpPr>
        <p:spPr>
          <a:xfrm>
            <a:off x="8714232" y="457200"/>
            <a:ext cx="292608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2B · f-strings</a:t>
            </a:r>
          </a:p>
        </p:txBody>
      </p:sp>
      <p:sp>
        <p:nvSpPr>
          <p:cNvPr id="4" name="Rounded Rectangle 3"/>
          <p:cNvSpPr/>
          <p:nvPr/>
        </p:nvSpPr>
        <p:spPr>
          <a:xfrm>
            <a:off x="548640" y="1280160"/>
            <a:ext cx="6400800" cy="3200400"/>
          </a:xfrm>
          <a:prstGeom prst="roundRect">
            <a:avLst>
              <a:gd name="adj" fmla="val 4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25880"/>
            <a:ext cx="6035040" cy="411480"/>
          </a:xfrm>
          <a:prstGeom prst="rect">
            <a:avLst/>
          </a:prstGeom>
          <a:noFill/>
        </p:spPr>
        <p:txBody>
          <a:bodyPr wrap="square" lIns="45720" rIns="45720" anchor="t">
            <a:spAutoFit/>
          </a:bodyPr>
          <a:lstStyle/>
          <a:p>
            <a:pPr algn="l">
              <a:spcAft>
                <a:spcPts val="400"/>
              </a:spcAft>
            </a:pPr>
            <a:r>
              <a:rPr sz="1800" b="1" i="0">
                <a:solidFill>
                  <a:srgbClr val="085797"/>
                </a:solidFill>
                <a:latin typeface="Calibri"/>
              </a:rPr>
              <a:t>Inside an f-string</a:t>
            </a:r>
          </a:p>
        </p:txBody>
      </p:sp>
      <p:graphicFrame>
        <p:nvGraphicFramePr>
          <p:cNvPr id="6" name="Table 5"/>
          <p:cNvGraphicFramePr>
            <a:graphicFrameLocks noGrp="1"/>
          </p:cNvGraphicFramePr>
          <p:nvPr/>
        </p:nvGraphicFramePr>
        <p:xfrm>
          <a:off x="731520" y="1828800"/>
          <a:ext cx="6035040" cy="2011680"/>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502920">
                <a:tc>
                  <a:txBody>
                    <a:bodyPr/>
                    <a:lstStyle/>
                    <a:p>
                      <a:pPr algn="l">
                        <a:spcAft>
                          <a:spcPts val="0"/>
                        </a:spcAft>
                      </a:pPr>
                      <a:r>
                        <a:rPr sz="1400" b="1" i="0">
                          <a:solidFill>
                            <a:srgbClr val="FFFFFF"/>
                          </a:solidFill>
                          <a:latin typeface="Calibri"/>
                        </a:rPr>
                        <a:t>Format</a:t>
                      </a:r>
                    </a:p>
                  </a:txBody>
                  <a:tcPr anchor="ctr">
                    <a:solidFill>
                      <a:srgbClr val="085797"/>
                    </a:solidFill>
                  </a:tcPr>
                </a:tc>
                <a:tc>
                  <a:txBody>
                    <a:bodyPr/>
                    <a:lstStyle/>
                    <a:p>
                      <a:pPr algn="l">
                        <a:spcAft>
                          <a:spcPts val="0"/>
                        </a:spcAft>
                      </a:pPr>
                      <a:r>
                        <a:rPr sz="1400" b="1" i="0">
                          <a:solidFill>
                            <a:srgbClr val="FFFFFF"/>
                          </a:solidFill>
                          <a:latin typeface="Calibri"/>
                        </a:rPr>
                        <a:t>Effect</a:t>
                      </a:r>
                    </a:p>
                  </a:txBody>
                  <a:tcPr anchor="ctr">
                    <a:solidFill>
                      <a:srgbClr val="085797"/>
                    </a:solidFill>
                  </a:tcPr>
                </a:tc>
                <a:tc>
                  <a:txBody>
                    <a:bodyPr/>
                    <a:lstStyle/>
                    <a:p>
                      <a:pPr algn="l">
                        <a:spcAft>
                          <a:spcPts val="0"/>
                        </a:spcAft>
                      </a:pPr>
                      <a:r>
                        <a:rPr sz="1400" b="1" i="0">
                          <a:solidFill>
                            <a:srgbClr val="FFFFFF"/>
                          </a:solidFill>
                          <a:latin typeface="Calibri"/>
                        </a:rPr>
                        <a:t>Result</a:t>
                      </a:r>
                    </a:p>
                  </a:txBody>
                  <a:tcPr anchor="ctr">
                    <a:solidFill>
                      <a:srgbClr val="085797"/>
                    </a:solidFill>
                  </a:tcPr>
                </a:tc>
                <a:extLst>
                  <a:ext uri="{0D108BD9-81ED-4DB2-BD59-A6C34878D82A}">
                    <a16:rowId xmlns:a16="http://schemas.microsoft.com/office/drawing/2014/main" val="10000"/>
                  </a:ext>
                </a:extLst>
              </a:tr>
              <a:tr h="502920">
                <a:tc>
                  <a:txBody>
                    <a:bodyPr/>
                    <a:lstStyle/>
                    <a:p>
                      <a:pPr algn="l">
                        <a:spcAft>
                          <a:spcPts val="0"/>
                        </a:spcAft>
                      </a:pPr>
                      <a:r>
                        <a:rPr sz="1400" b="0" i="0">
                          <a:solidFill>
                            <a:srgbClr val="1B2A41"/>
                          </a:solidFill>
                          <a:latin typeface="Courier New"/>
                        </a:rPr>
                        <a:t>{x:.2f}</a:t>
                      </a:r>
                    </a:p>
                  </a:txBody>
                  <a:tcPr anchor="ctr">
                    <a:solidFill>
                      <a:srgbClr val="E8F0F8"/>
                    </a:solidFill>
                  </a:tcPr>
                </a:tc>
                <a:tc>
                  <a:txBody>
                    <a:bodyPr/>
                    <a:lstStyle/>
                    <a:p>
                      <a:pPr algn="l">
                        <a:spcAft>
                          <a:spcPts val="0"/>
                        </a:spcAft>
                      </a:pPr>
                      <a:r>
                        <a:rPr sz="1400" b="0" i="0">
                          <a:solidFill>
                            <a:srgbClr val="1B2A41"/>
                          </a:solidFill>
                          <a:latin typeface="Calibri"/>
                        </a:rPr>
                        <a:t>Two decimals</a:t>
                      </a:r>
                    </a:p>
                  </a:txBody>
                  <a:tcPr anchor="ctr">
                    <a:solidFill>
                      <a:srgbClr val="E8F0F8"/>
                    </a:solidFill>
                  </a:tcPr>
                </a:tc>
                <a:tc>
                  <a:txBody>
                    <a:bodyPr/>
                    <a:lstStyle/>
                    <a:p>
                      <a:pPr algn="l">
                        <a:spcAft>
                          <a:spcPts val="0"/>
                        </a:spcAft>
                      </a:pPr>
                      <a:r>
                        <a:rPr sz="1400" b="0" i="0">
                          <a:solidFill>
                            <a:srgbClr val="1B2A41"/>
                          </a:solidFill>
                          <a:latin typeface="Courier New"/>
                        </a:rPr>
                        <a:t>'12.35'</a:t>
                      </a:r>
                    </a:p>
                  </a:txBody>
                  <a:tcPr anchor="ctr">
                    <a:solidFill>
                      <a:srgbClr val="E8F0F8"/>
                    </a:solidFill>
                  </a:tcPr>
                </a:tc>
                <a:extLst>
                  <a:ext uri="{0D108BD9-81ED-4DB2-BD59-A6C34878D82A}">
                    <a16:rowId xmlns:a16="http://schemas.microsoft.com/office/drawing/2014/main" val="10001"/>
                  </a:ext>
                </a:extLst>
              </a:tr>
              <a:tr h="502920">
                <a:tc>
                  <a:txBody>
                    <a:bodyPr/>
                    <a:lstStyle/>
                    <a:p>
                      <a:pPr algn="l">
                        <a:spcAft>
                          <a:spcPts val="0"/>
                        </a:spcAft>
                      </a:pPr>
                      <a:r>
                        <a:rPr sz="1400" b="0" i="0">
                          <a:solidFill>
                            <a:srgbClr val="1B2A41"/>
                          </a:solidFill>
                          <a:latin typeface="Courier New"/>
                        </a:rPr>
                        <a:t>{t:&lt;10}</a:t>
                      </a:r>
                    </a:p>
                  </a:txBody>
                  <a:tcPr anchor="ctr">
                    <a:solidFill>
                      <a:srgbClr val="FFFFFF"/>
                    </a:solidFill>
                  </a:tcPr>
                </a:tc>
                <a:tc>
                  <a:txBody>
                    <a:bodyPr/>
                    <a:lstStyle/>
                    <a:p>
                      <a:pPr algn="l">
                        <a:spcAft>
                          <a:spcPts val="0"/>
                        </a:spcAft>
                      </a:pPr>
                      <a:r>
                        <a:rPr sz="1400" b="0" i="0">
                          <a:solidFill>
                            <a:srgbClr val="1B2A41"/>
                          </a:solidFill>
                          <a:latin typeface="Calibri"/>
                        </a:rPr>
                        <a:t>Left-align in 10</a:t>
                      </a:r>
                    </a:p>
                  </a:txBody>
                  <a:tcPr anchor="ctr">
                    <a:solidFill>
                      <a:srgbClr val="FFFFFF"/>
                    </a:solidFill>
                  </a:tcPr>
                </a:tc>
                <a:tc>
                  <a:txBody>
                    <a:bodyPr/>
                    <a:lstStyle/>
                    <a:p>
                      <a:pPr algn="l">
                        <a:spcAft>
                          <a:spcPts val="0"/>
                        </a:spcAft>
                      </a:pPr>
                      <a:r>
                        <a:rPr sz="1400" b="0" i="0">
                          <a:solidFill>
                            <a:srgbClr val="1B2A41"/>
                          </a:solidFill>
                          <a:latin typeface="Courier New"/>
                        </a:rPr>
                        <a:t>'Item      '</a:t>
                      </a:r>
                    </a:p>
                  </a:txBody>
                  <a:tcPr anchor="ctr">
                    <a:solidFill>
                      <a:srgbClr val="FFFFFF"/>
                    </a:solidFill>
                  </a:tcPr>
                </a:tc>
                <a:extLst>
                  <a:ext uri="{0D108BD9-81ED-4DB2-BD59-A6C34878D82A}">
                    <a16:rowId xmlns:a16="http://schemas.microsoft.com/office/drawing/2014/main" val="10002"/>
                  </a:ext>
                </a:extLst>
              </a:tr>
              <a:tr h="502920">
                <a:tc>
                  <a:txBody>
                    <a:bodyPr/>
                    <a:lstStyle/>
                    <a:p>
                      <a:pPr algn="l">
                        <a:spcAft>
                          <a:spcPts val="0"/>
                        </a:spcAft>
                      </a:pPr>
                      <a:r>
                        <a:rPr sz="1400" b="0" i="0">
                          <a:solidFill>
                            <a:srgbClr val="1B2A41"/>
                          </a:solidFill>
                          <a:latin typeface="Courier New"/>
                        </a:rPr>
                        <a:t>{n:&gt;8.2f}</a:t>
                      </a:r>
                    </a:p>
                  </a:txBody>
                  <a:tcPr anchor="ctr">
                    <a:solidFill>
                      <a:srgbClr val="E8F0F8"/>
                    </a:solidFill>
                  </a:tcPr>
                </a:tc>
                <a:tc>
                  <a:txBody>
                    <a:bodyPr/>
                    <a:lstStyle/>
                    <a:p>
                      <a:pPr algn="l">
                        <a:spcAft>
                          <a:spcPts val="0"/>
                        </a:spcAft>
                      </a:pPr>
                      <a:r>
                        <a:rPr sz="1400" b="0" i="0">
                          <a:solidFill>
                            <a:srgbClr val="1B2A41"/>
                          </a:solidFill>
                          <a:latin typeface="Calibri"/>
                        </a:rPr>
                        <a:t>Right-align in 8</a:t>
                      </a:r>
                    </a:p>
                  </a:txBody>
                  <a:tcPr anchor="ctr">
                    <a:solidFill>
                      <a:srgbClr val="E8F0F8"/>
                    </a:solidFill>
                  </a:tcPr>
                </a:tc>
                <a:tc>
                  <a:txBody>
                    <a:bodyPr/>
                    <a:lstStyle/>
                    <a:p>
                      <a:pPr algn="l">
                        <a:spcAft>
                          <a:spcPts val="0"/>
                        </a:spcAft>
                      </a:pPr>
                      <a:r>
                        <a:rPr sz="1400" b="0" i="0">
                          <a:solidFill>
                            <a:srgbClr val="1B2A41"/>
                          </a:solidFill>
                          <a:latin typeface="Courier New"/>
                        </a:rPr>
                        <a:t>'    3.50'</a:t>
                      </a:r>
                    </a:p>
                  </a:txBody>
                  <a:tcPr anchor="ctr">
                    <a:solidFill>
                      <a:srgbClr val="E8F0F8"/>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731520" y="3931920"/>
            <a:ext cx="6035040" cy="502920"/>
          </a:xfrm>
          <a:prstGeom prst="rect">
            <a:avLst/>
          </a:prstGeom>
          <a:noFill/>
        </p:spPr>
        <p:txBody>
          <a:bodyPr wrap="square" lIns="45720" rIns="45720" anchor="t">
            <a:spAutoFit/>
          </a:bodyPr>
          <a:lstStyle/>
          <a:p>
            <a:pPr algn="l">
              <a:spcAft>
                <a:spcPts val="400"/>
              </a:spcAft>
            </a:pPr>
            <a:r>
              <a:rPr sz="1400" b="0" i="1">
                <a:solidFill>
                  <a:srgbClr val="5B6770"/>
                </a:solidFill>
                <a:latin typeface="Calibri"/>
              </a:rPr>
              <a:t>Calculate first, format only when you print. An f-string gives text.</a:t>
            </a:r>
          </a:p>
        </p:txBody>
      </p:sp>
      <p:sp>
        <p:nvSpPr>
          <p:cNvPr id="8" name="Rounded Rectangle 7"/>
          <p:cNvSpPr/>
          <p:nvPr/>
        </p:nvSpPr>
        <p:spPr>
          <a:xfrm>
            <a:off x="7223760" y="1280160"/>
            <a:ext cx="4416552" cy="3200400"/>
          </a:xfrm>
          <a:prstGeom prst="roundRect">
            <a:avLst>
              <a:gd name="adj" fmla="val 2857"/>
            </a:avLst>
          </a:prstGeom>
          <a:solidFill>
            <a:srgbClr val="1E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88352" y="1408176"/>
            <a:ext cx="128016" cy="128016"/>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589520" y="1408176"/>
            <a:ext cx="128016" cy="128016"/>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790688" y="1408176"/>
            <a:ext cx="128016" cy="128016"/>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0" y="1335024"/>
            <a:ext cx="3410712" cy="274320"/>
          </a:xfrm>
          <a:prstGeom prst="rect">
            <a:avLst/>
          </a:prstGeom>
          <a:noFill/>
        </p:spPr>
        <p:txBody>
          <a:bodyPr wrap="square" lIns="45720" rIns="45720" anchor="ctr">
            <a:spAutoFit/>
          </a:bodyPr>
          <a:lstStyle/>
          <a:p>
            <a:pPr algn="l">
              <a:spcAft>
                <a:spcPts val="400"/>
              </a:spcAft>
            </a:pPr>
            <a:r>
              <a:rPr sz="1100" b="0" i="0">
                <a:solidFill>
                  <a:srgbClr val="9AA7B5"/>
                </a:solidFill>
                <a:latin typeface="Courier New"/>
              </a:rPr>
              <a:t>first_if.py</a:t>
            </a:r>
          </a:p>
        </p:txBody>
      </p:sp>
      <p:sp>
        <p:nvSpPr>
          <p:cNvPr id="13" name="TextBox 12"/>
          <p:cNvSpPr txBox="1"/>
          <p:nvPr/>
        </p:nvSpPr>
        <p:spPr>
          <a:xfrm>
            <a:off x="7360920" y="1664207"/>
            <a:ext cx="4142232" cy="1284967"/>
          </a:xfrm>
          <a:prstGeom prst="rect">
            <a:avLst/>
          </a:prstGeom>
          <a:noFill/>
        </p:spPr>
        <p:txBody>
          <a:bodyPr wrap="square" lIns="45720" tIns="45720" rIns="45720" bIns="45720" anchor="t">
            <a:spAutoFit/>
          </a:bodyPr>
          <a:lstStyle/>
          <a:p>
            <a:pPr algn="l">
              <a:spcAft>
                <a:spcPts val="700"/>
              </a:spcAft>
            </a:pPr>
            <a:r>
              <a:rPr sz="1500" b="0" i="0" dirty="0">
                <a:solidFill>
                  <a:srgbClr val="FF7B72"/>
                </a:solidFill>
                <a:latin typeface="Courier New"/>
              </a:rPr>
              <a:t>if </a:t>
            </a:r>
            <a:r>
              <a:rPr sz="1500" b="0" i="0" dirty="0" err="1">
                <a:solidFill>
                  <a:srgbClr val="E6EDF3"/>
                </a:solidFill>
                <a:latin typeface="Courier New"/>
              </a:rPr>
              <a:t>staff_number.isdigit</a:t>
            </a:r>
            <a:r>
              <a:rPr sz="1500" b="0" i="0" dirty="0">
                <a:solidFill>
                  <a:srgbClr val="E6EDF3"/>
                </a:solidFill>
                <a:latin typeface="Courier New"/>
              </a:rPr>
              <a:t>():</a:t>
            </a:r>
          </a:p>
          <a:p>
            <a:pPr algn="l">
              <a:spcAft>
                <a:spcPts val="700"/>
              </a:spcAft>
            </a:pPr>
            <a:r>
              <a:rPr sz="1500" b="0" i="0" dirty="0">
                <a:solidFill>
                  <a:srgbClr val="E6EDF3"/>
                </a:solidFill>
                <a:latin typeface="Courier New"/>
              </a:rPr>
              <a:t>    </a:t>
            </a:r>
            <a:r>
              <a:rPr lang="en-US" sz="1500" dirty="0">
                <a:solidFill>
                  <a:srgbClr val="E6EDF3"/>
                </a:solidFill>
                <a:latin typeface="Courier New"/>
              </a:rPr>
              <a:t> </a:t>
            </a:r>
            <a:r>
              <a:rPr sz="1500" b="0" i="0">
                <a:solidFill>
                  <a:srgbClr val="E6EDF3"/>
                </a:solidFill>
                <a:latin typeface="Courier New"/>
              </a:rPr>
              <a:t>print(</a:t>
            </a:r>
            <a:r>
              <a:rPr sz="1500" b="0" i="0">
                <a:solidFill>
                  <a:srgbClr val="A5D6FF"/>
                </a:solidFill>
                <a:latin typeface="Courier New"/>
              </a:rPr>
              <a:t>"Accepted"</a:t>
            </a:r>
            <a:r>
              <a:rPr sz="1500" b="0" i="0" dirty="0">
                <a:solidFill>
                  <a:srgbClr val="E6EDF3"/>
                </a:solidFill>
                <a:latin typeface="Courier New"/>
              </a:rPr>
              <a:t>)</a:t>
            </a:r>
            <a:endParaRPr sz="1500" b="0" i="0" dirty="0">
              <a:solidFill>
                <a:srgbClr val="E6EDF3"/>
              </a:solidFill>
              <a:latin typeface="Courier New"/>
              <a:cs typeface="Courier New"/>
            </a:endParaRPr>
          </a:p>
          <a:p>
            <a:pPr algn="l">
              <a:spcAft>
                <a:spcPts val="700"/>
              </a:spcAft>
            </a:pPr>
            <a:r>
              <a:rPr sz="1500" b="0" i="0">
                <a:solidFill>
                  <a:srgbClr val="FF7B72"/>
                </a:solidFill>
                <a:latin typeface="Courier New"/>
              </a:rPr>
              <a:t>else</a:t>
            </a:r>
            <a:r>
              <a:rPr sz="1500" b="0" i="0">
                <a:solidFill>
                  <a:srgbClr val="E6EDF3"/>
                </a:solidFill>
                <a:latin typeface="Courier New"/>
              </a:rPr>
              <a:t>:</a:t>
            </a:r>
          </a:p>
          <a:p>
            <a:pPr algn="l">
              <a:spcAft>
                <a:spcPts val="700"/>
              </a:spcAft>
            </a:pPr>
            <a:r>
              <a:rPr sz="1500" b="0" i="0" dirty="0">
                <a:solidFill>
                  <a:srgbClr val="E6EDF3"/>
                </a:solidFill>
                <a:latin typeface="Courier New"/>
              </a:rPr>
              <a:t>    </a:t>
            </a:r>
            <a:r>
              <a:rPr lang="en-US" sz="1500" dirty="0">
                <a:solidFill>
                  <a:srgbClr val="E6EDF3"/>
                </a:solidFill>
                <a:latin typeface="Courier New"/>
              </a:rPr>
              <a:t> </a:t>
            </a:r>
            <a:r>
              <a:rPr sz="1500" b="0" i="0">
                <a:solidFill>
                  <a:srgbClr val="E6EDF3"/>
                </a:solidFill>
                <a:latin typeface="Courier New"/>
              </a:rPr>
              <a:t>print(</a:t>
            </a:r>
            <a:r>
              <a:rPr sz="1500" b="0" i="0">
                <a:solidFill>
                  <a:srgbClr val="A5D6FF"/>
                </a:solidFill>
                <a:latin typeface="Courier New"/>
              </a:rPr>
              <a:t>"Rejected"</a:t>
            </a:r>
            <a:r>
              <a:rPr sz="1500" b="0" i="0" dirty="0">
                <a:solidFill>
                  <a:srgbClr val="E6EDF3"/>
                </a:solidFill>
                <a:latin typeface="Courier New"/>
              </a:rPr>
              <a:t>)</a:t>
            </a:r>
            <a:endParaRPr sz="1500" b="0" i="0" dirty="0">
              <a:solidFill>
                <a:srgbClr val="E6EDF3"/>
              </a:solidFill>
              <a:latin typeface="Courier New"/>
              <a:cs typeface="Courier New"/>
            </a:endParaRPr>
          </a:p>
        </p:txBody>
      </p:sp>
      <p:sp>
        <p:nvSpPr>
          <p:cNvPr id="14" name="Rounded Rectangle 13"/>
          <p:cNvSpPr/>
          <p:nvPr/>
        </p:nvSpPr>
        <p:spPr>
          <a:xfrm>
            <a:off x="548640" y="4709160"/>
            <a:ext cx="11091672" cy="914400"/>
          </a:xfrm>
          <a:prstGeom prst="roundRect">
            <a:avLst>
              <a:gd name="adj" fmla="val 12000"/>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l">
              <a:spcAft>
                <a:spcPts val="200"/>
              </a:spcAft>
            </a:pPr>
            <a:r>
              <a:rPr sz="1600" b="0" i="0">
                <a:solidFill>
                  <a:srgbClr val="1B2A41"/>
                </a:solidFill>
                <a:latin typeface="Calibri"/>
              </a:rPr>
              <a:t>A first look at </a:t>
            </a:r>
            <a:r>
              <a:rPr sz="1600" b="1" i="0">
                <a:solidFill>
                  <a:srgbClr val="1B2A41"/>
                </a:solidFill>
                <a:latin typeface="Courier New"/>
              </a:rPr>
              <a:t>if</a:t>
            </a:r>
            <a:r>
              <a:rPr sz="1600" b="0" i="0">
                <a:solidFill>
                  <a:srgbClr val="1B2A41"/>
                </a:solidFill>
                <a:latin typeface="Calibri"/>
              </a:rPr>
              <a:t> and </a:t>
            </a:r>
            <a:r>
              <a:rPr sz="1600" b="1" i="0">
                <a:solidFill>
                  <a:srgbClr val="1B2A41"/>
                </a:solidFill>
                <a:latin typeface="Courier New"/>
              </a:rPr>
              <a:t>else</a:t>
            </a:r>
            <a:r>
              <a:rPr sz="1600" b="0" i="0">
                <a:solidFill>
                  <a:srgbClr val="1B2A41"/>
                </a:solidFill>
                <a:latin typeface="Calibri"/>
              </a:rPr>
              <a:t>: note the colons and the four-space indent. We study decisions properly tomorrow.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165592" cy="822960"/>
          </a:xfrm>
        </p:spPr>
        <p:txBody>
          <a:bodyPr wrap="square" anchor="ctr"/>
          <a:lstStyle/>
          <a:p>
            <a:pPr algn="l"/>
            <a:r>
              <a:rPr sz="3200" b="1">
                <a:solidFill>
                  <a:srgbClr val="085797"/>
                </a:solidFill>
                <a:latin typeface="Calibri"/>
              </a:rPr>
              <a:t>A5 and A6: strings and validation</a:t>
            </a:r>
          </a:p>
        </p:txBody>
      </p:sp>
      <p:sp>
        <p:nvSpPr>
          <p:cNvPr id="3" name="Rounded Rectangle 2"/>
          <p:cNvSpPr/>
          <p:nvPr/>
        </p:nvSpPr>
        <p:spPr>
          <a:xfrm>
            <a:off x="8897112" y="457200"/>
            <a:ext cx="27432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Block 2B · Activities</a:t>
            </a:r>
          </a:p>
        </p:txBody>
      </p:sp>
      <p:sp>
        <p:nvSpPr>
          <p:cNvPr id="4" name="Rounded Rectangle 3"/>
          <p:cNvSpPr/>
          <p:nvPr/>
        </p:nvSpPr>
        <p:spPr>
          <a:xfrm>
            <a:off x="548640" y="1280160"/>
            <a:ext cx="5449824" cy="3520440"/>
          </a:xfrm>
          <a:prstGeom prst="roundRect">
            <a:avLst>
              <a:gd name="adj" fmla="val 5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1463040"/>
            <a:ext cx="640080" cy="64008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A5</a:t>
            </a:r>
          </a:p>
        </p:txBody>
      </p:sp>
      <p:sp>
        <p:nvSpPr>
          <p:cNvPr id="6" name="TextBox 5"/>
          <p:cNvSpPr txBox="1"/>
          <p:nvPr/>
        </p:nvSpPr>
        <p:spPr>
          <a:xfrm>
            <a:off x="1463040" y="1371600"/>
            <a:ext cx="4434840" cy="822960"/>
          </a:xfrm>
          <a:prstGeom prst="rect">
            <a:avLst/>
          </a:prstGeom>
          <a:noFill/>
        </p:spPr>
        <p:txBody>
          <a:bodyPr wrap="square" anchor="ctr">
            <a:spAutoFit/>
          </a:bodyPr>
          <a:lstStyle/>
          <a:p>
            <a:r>
              <a:rPr sz="1700" b="1">
                <a:solidFill>
                  <a:srgbClr val="085797"/>
                </a:solidFill>
                <a:latin typeface="Calibri"/>
              </a:rPr>
              <a:t>Lecturer-led: standardise a name (25 min)</a:t>
            </a:r>
          </a:p>
        </p:txBody>
      </p:sp>
      <p:sp>
        <p:nvSpPr>
          <p:cNvPr id="7" name="TextBox 6"/>
          <p:cNvSpPr txBox="1"/>
          <p:nvPr/>
        </p:nvSpPr>
        <p:spPr>
          <a:xfrm>
            <a:off x="777240" y="2286000"/>
            <a:ext cx="4983480" cy="2468880"/>
          </a:xfrm>
          <a:prstGeom prst="rect">
            <a:avLst/>
          </a:prstGeom>
          <a:noFill/>
        </p:spPr>
        <p:txBody>
          <a:bodyPr wrap="square">
            <a:spAutoFit/>
          </a:bodyPr>
          <a:lstStyle/>
          <a:p>
            <a:pPr>
              <a:spcAft>
                <a:spcPts val="700"/>
              </a:spcAft>
            </a:pPr>
            <a:r>
              <a:rPr sz="1600">
                <a:solidFill>
                  <a:srgbClr val="1B2A41"/>
                </a:solidFill>
                <a:latin typeface="Calibri"/>
              </a:rPr>
              <a:t>Start from "  thabo MOKOENA "</a:t>
            </a:r>
          </a:p>
          <a:p>
            <a:pPr>
              <a:spcAft>
                <a:spcPts val="700"/>
              </a:spcAft>
            </a:pPr>
            <a:r>
              <a:rPr sz="1600">
                <a:solidFill>
                  <a:srgbClr val="1B2A41"/>
                </a:solidFill>
                <a:latin typeface="Calibri"/>
              </a:rPr>
              <a:t>strip(), then title(), then split()</a:t>
            </a:r>
          </a:p>
          <a:p>
            <a:pPr>
              <a:spcAft>
                <a:spcPts val="700"/>
              </a:spcAft>
            </a:pPr>
            <a:r>
              <a:rPr sz="1600">
                <a:solidFill>
                  <a:srgbClr val="1B2A41"/>
                </a:solidFill>
                <a:latin typeface="Calibri"/>
              </a:rPr>
              <a:t>find(" ") and isdigit() on a staff number</a:t>
            </a:r>
          </a:p>
          <a:p>
            <a:pPr>
              <a:spcAft>
                <a:spcPts val="700"/>
              </a:spcAft>
            </a:pPr>
            <a:r>
              <a:rPr sz="1600">
                <a:solidFill>
                  <a:srgbClr val="1B2A41"/>
                </a:solidFill>
                <a:latin typeface="Calibri"/>
              </a:rPr>
              <a:t>Show int("12a45") failing</a:t>
            </a:r>
          </a:p>
        </p:txBody>
      </p:sp>
      <p:sp>
        <p:nvSpPr>
          <p:cNvPr id="8" name="Rounded Rectangle 7"/>
          <p:cNvSpPr/>
          <p:nvPr/>
        </p:nvSpPr>
        <p:spPr>
          <a:xfrm>
            <a:off x="6190488" y="1280160"/>
            <a:ext cx="5449824" cy="3520440"/>
          </a:xfrm>
          <a:prstGeom prst="roundRect">
            <a:avLst>
              <a:gd name="adj" fmla="val 5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327648" y="1463040"/>
            <a:ext cx="640080" cy="640080"/>
          </a:xfrm>
          <a:prstGeom prst="ellipse">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A6</a:t>
            </a:r>
          </a:p>
        </p:txBody>
      </p:sp>
      <p:sp>
        <p:nvSpPr>
          <p:cNvPr id="10" name="TextBox 9"/>
          <p:cNvSpPr txBox="1"/>
          <p:nvPr/>
        </p:nvSpPr>
        <p:spPr>
          <a:xfrm>
            <a:off x="7104888" y="1371600"/>
            <a:ext cx="4434840" cy="822960"/>
          </a:xfrm>
          <a:prstGeom prst="rect">
            <a:avLst/>
          </a:prstGeom>
          <a:noFill/>
        </p:spPr>
        <p:txBody>
          <a:bodyPr wrap="square" anchor="ctr">
            <a:spAutoFit/>
          </a:bodyPr>
          <a:lstStyle/>
          <a:p>
            <a:r>
              <a:rPr sz="1700" b="1">
                <a:solidFill>
                  <a:srgbClr val="E31E3B"/>
                </a:solidFill>
                <a:latin typeface="Calibri"/>
              </a:rPr>
              <a:t>Independent: participant summary (25 min)</a:t>
            </a:r>
          </a:p>
        </p:txBody>
      </p:sp>
      <p:sp>
        <p:nvSpPr>
          <p:cNvPr id="11" name="TextBox 10"/>
          <p:cNvSpPr txBox="1"/>
          <p:nvPr/>
        </p:nvSpPr>
        <p:spPr>
          <a:xfrm>
            <a:off x="6419088" y="2286000"/>
            <a:ext cx="4983480" cy="2468880"/>
          </a:xfrm>
          <a:prstGeom prst="rect">
            <a:avLst/>
          </a:prstGeom>
          <a:noFill/>
        </p:spPr>
        <p:txBody>
          <a:bodyPr wrap="square">
            <a:spAutoFit/>
          </a:bodyPr>
          <a:lstStyle/>
          <a:p>
            <a:pPr>
              <a:spcAft>
                <a:spcPts val="700"/>
              </a:spcAft>
            </a:pPr>
            <a:r>
              <a:rPr sz="1600">
                <a:solidFill>
                  <a:srgbClr val="1B2A41"/>
                </a:solidFill>
                <a:latin typeface="Calibri"/>
              </a:rPr>
              <a:t>Input: full name, staff number, level</a:t>
            </a:r>
          </a:p>
          <a:p>
            <a:pPr>
              <a:spcAft>
                <a:spcPts val="700"/>
              </a:spcAft>
            </a:pPr>
            <a:r>
              <a:rPr sz="1600">
                <a:solidFill>
                  <a:srgbClr val="1B2A41"/>
                </a:solidFill>
                <a:latin typeface="Calibri"/>
              </a:rPr>
              <a:t>Reject an empty name or a non-numeric staff number</a:t>
            </a:r>
          </a:p>
          <a:p>
            <a:pPr>
              <a:spcAft>
                <a:spcPts val="700"/>
              </a:spcAft>
            </a:pPr>
            <a:r>
              <a:rPr sz="1600">
                <a:solidFill>
                  <a:srgbClr val="1B2A41"/>
                </a:solidFill>
                <a:latin typeface="Calibri"/>
              </a:rPr>
              <a:t>Otherwise print a standardised summary</a:t>
            </a:r>
          </a:p>
          <a:p>
            <a:pPr>
              <a:spcAft>
                <a:spcPts val="700"/>
              </a:spcAft>
            </a:pPr>
            <a:r>
              <a:rPr sz="1600">
                <a:solidFill>
                  <a:srgbClr val="1B2A41"/>
                </a:solidFill>
                <a:latin typeface="Calibri"/>
              </a:rPr>
              <a:t>Test five data sets, including empty and 12a45</a:t>
            </a:r>
          </a:p>
        </p:txBody>
      </p:sp>
      <p:sp>
        <p:nvSpPr>
          <p:cNvPr id="12" name="Rounded Rectangle 11"/>
          <p:cNvSpPr/>
          <p:nvPr/>
        </p:nvSpPr>
        <p:spPr>
          <a:xfrm>
            <a:off x="548640" y="5029200"/>
            <a:ext cx="11091672" cy="640080"/>
          </a:xfrm>
          <a:prstGeom prst="roundRect">
            <a:avLst>
              <a:gd name="adj" fmla="val 12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ctr"/>
            <a:r>
              <a:rPr sz="1700" b="1">
                <a:solidFill>
                  <a:srgbClr val="085797"/>
                </a:solidFill>
                <a:latin typeface="Calibri"/>
              </a:rPr>
              <a:t>Commit to day3: 04_participant_summary.py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988552" cy="822960"/>
          </a:xfrm>
        </p:spPr>
        <p:txBody>
          <a:bodyPr wrap="square" anchor="ctr"/>
          <a:lstStyle/>
          <a:p>
            <a:pPr algn="l"/>
            <a:r>
              <a:rPr sz="3200" b="1">
                <a:solidFill>
                  <a:srgbClr val="085797"/>
                </a:solidFill>
                <a:latin typeface="Calibri"/>
              </a:rPr>
              <a:t>The math module</a:t>
            </a:r>
          </a:p>
        </p:txBody>
      </p:sp>
      <p:sp>
        <p:nvSpPr>
          <p:cNvPr id="3" name="Rounded Rectangle 2"/>
          <p:cNvSpPr/>
          <p:nvPr/>
        </p:nvSpPr>
        <p:spPr>
          <a:xfrm>
            <a:off x="9720072" y="457200"/>
            <a:ext cx="192024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Practical · math</a:t>
            </a:r>
          </a:p>
        </p:txBody>
      </p:sp>
      <p:sp>
        <p:nvSpPr>
          <p:cNvPr id="4" name="Rounded Rectangle 3"/>
          <p:cNvSpPr/>
          <p:nvPr/>
        </p:nvSpPr>
        <p:spPr>
          <a:xfrm>
            <a:off x="548640" y="1280160"/>
            <a:ext cx="3291840" cy="914400"/>
          </a:xfrm>
          <a:prstGeom prst="roundRect">
            <a:avLst>
              <a:gd name="adj" fmla="val 10000"/>
            </a:avLst>
          </a:prstGeom>
          <a:solidFill>
            <a:srgbClr val="1E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13232" y="1408176"/>
            <a:ext cx="128016" cy="128016"/>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4400" y="1408176"/>
            <a:ext cx="128016" cy="128016"/>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15568" y="1408176"/>
            <a:ext cx="128016" cy="128016"/>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1335024"/>
            <a:ext cx="2286000" cy="274320"/>
          </a:xfrm>
          <a:prstGeom prst="rect">
            <a:avLst/>
          </a:prstGeom>
          <a:noFill/>
        </p:spPr>
        <p:txBody>
          <a:bodyPr wrap="square" lIns="45720" rIns="45720" anchor="ctr">
            <a:spAutoFit/>
          </a:bodyPr>
          <a:lstStyle/>
          <a:p>
            <a:pPr algn="l">
              <a:spcAft>
                <a:spcPts val="400"/>
              </a:spcAft>
            </a:pPr>
            <a:r>
              <a:rPr sz="1100" b="0" i="0">
                <a:solidFill>
                  <a:srgbClr val="9AA7B5"/>
                </a:solidFill>
                <a:latin typeface="Courier New"/>
              </a:rPr>
              <a:t>line 1</a:t>
            </a:r>
          </a:p>
        </p:txBody>
      </p:sp>
      <p:sp>
        <p:nvSpPr>
          <p:cNvPr id="9" name="TextBox 8"/>
          <p:cNvSpPr txBox="1"/>
          <p:nvPr/>
        </p:nvSpPr>
        <p:spPr>
          <a:xfrm>
            <a:off x="685800" y="1664207"/>
            <a:ext cx="3017520" cy="457200"/>
          </a:xfrm>
          <a:prstGeom prst="rect">
            <a:avLst/>
          </a:prstGeom>
          <a:noFill/>
        </p:spPr>
        <p:txBody>
          <a:bodyPr wrap="square" lIns="45720" rIns="45720" anchor="t">
            <a:spAutoFit/>
          </a:bodyPr>
          <a:lstStyle/>
          <a:p>
            <a:pPr algn="l">
              <a:spcAft>
                <a:spcPts val="700"/>
              </a:spcAft>
            </a:pPr>
            <a:r>
              <a:rPr sz="1800" b="0" i="0">
                <a:solidFill>
                  <a:srgbClr val="FF7B72"/>
                </a:solidFill>
                <a:latin typeface="Courier New"/>
              </a:rPr>
              <a:t>import math</a:t>
            </a:r>
          </a:p>
        </p:txBody>
      </p:sp>
      <p:sp>
        <p:nvSpPr>
          <p:cNvPr id="10" name="TextBox 9"/>
          <p:cNvSpPr txBox="1"/>
          <p:nvPr/>
        </p:nvSpPr>
        <p:spPr>
          <a:xfrm>
            <a:off x="4023360" y="1280160"/>
            <a:ext cx="7589520" cy="914400"/>
          </a:xfrm>
          <a:prstGeom prst="rect">
            <a:avLst/>
          </a:prstGeom>
          <a:noFill/>
        </p:spPr>
        <p:txBody>
          <a:bodyPr wrap="square" lIns="45720" rIns="45720" anchor="ctr">
            <a:spAutoFit/>
          </a:bodyPr>
          <a:lstStyle/>
          <a:p>
            <a:pPr algn="l">
              <a:spcAft>
                <a:spcPts val="400"/>
              </a:spcAft>
            </a:pPr>
            <a:r>
              <a:rPr sz="1700" b="0" i="0">
                <a:solidFill>
                  <a:srgbClr val="1B2A41"/>
                </a:solidFill>
                <a:latin typeface="Calibri"/>
              </a:rPr>
              <a:t>Put </a:t>
            </a:r>
            <a:r>
              <a:rPr sz="1700" b="1" i="0">
                <a:solidFill>
                  <a:srgbClr val="085797"/>
                </a:solidFill>
                <a:latin typeface="Courier New"/>
              </a:rPr>
              <a:t>import math</a:t>
            </a:r>
            <a:r>
              <a:rPr sz="1700" b="0" i="0">
                <a:solidFill>
                  <a:srgbClr val="1B2A41"/>
                </a:solidFill>
                <a:latin typeface="Calibri"/>
              </a:rPr>
              <a:t> on the first line. Call functions as </a:t>
            </a:r>
            <a:r>
              <a:rPr sz="1700" b="1" i="0">
                <a:solidFill>
                  <a:srgbClr val="085797"/>
                </a:solidFill>
                <a:latin typeface="Courier New"/>
              </a:rPr>
              <a:t>math.name(...)</a:t>
            </a:r>
            <a:r>
              <a:rPr sz="1700" b="0" i="0">
                <a:solidFill>
                  <a:srgbClr val="1B2A41"/>
                </a:solidFill>
                <a:latin typeface="Calibri"/>
              </a:rPr>
              <a:t>.</a:t>
            </a:r>
          </a:p>
        </p:txBody>
      </p:sp>
      <p:graphicFrame>
        <p:nvGraphicFramePr>
          <p:cNvPr id="11" name="Table 10"/>
          <p:cNvGraphicFramePr>
            <a:graphicFrameLocks noGrp="1"/>
          </p:cNvGraphicFramePr>
          <p:nvPr/>
        </p:nvGraphicFramePr>
        <p:xfrm>
          <a:off x="548640" y="2468880"/>
          <a:ext cx="6766560" cy="2743200"/>
        </p:xfrm>
        <a:graphic>
          <a:graphicData uri="http://schemas.openxmlformats.org/drawingml/2006/table">
            <a:tbl>
              <a:tblPr>
                <a:tableStyleId>{5C22544A-7EE6-4342-B048-85BDC9FD1C3A}</a:tableStyleId>
              </a:tblPr>
              <a:tblGrid>
                <a:gridCol w="24688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548640">
                <a:tc>
                  <a:txBody>
                    <a:bodyPr/>
                    <a:lstStyle/>
                    <a:p>
                      <a:pPr algn="l">
                        <a:spcAft>
                          <a:spcPts val="0"/>
                        </a:spcAft>
                      </a:pPr>
                      <a:r>
                        <a:rPr sz="1500" b="1" i="0">
                          <a:solidFill>
                            <a:srgbClr val="FFFFFF"/>
                          </a:solidFill>
                          <a:latin typeface="Calibri"/>
                        </a:rPr>
                        <a:t>Call</a:t>
                      </a:r>
                    </a:p>
                  </a:txBody>
                  <a:tcPr anchor="ctr">
                    <a:solidFill>
                      <a:srgbClr val="085797"/>
                    </a:solidFill>
                  </a:tcPr>
                </a:tc>
                <a:tc>
                  <a:txBody>
                    <a:bodyPr/>
                    <a:lstStyle/>
                    <a:p>
                      <a:pPr algn="l">
                        <a:spcAft>
                          <a:spcPts val="0"/>
                        </a:spcAft>
                      </a:pPr>
                      <a:r>
                        <a:rPr sz="1500" b="1" i="0">
                          <a:solidFill>
                            <a:srgbClr val="FFFFFF"/>
                          </a:solidFill>
                          <a:latin typeface="Calibri"/>
                        </a:rPr>
                        <a:t>Result</a:t>
                      </a:r>
                    </a:p>
                  </a:txBody>
                  <a:tcPr anchor="ctr">
                    <a:solidFill>
                      <a:srgbClr val="085797"/>
                    </a:solidFill>
                  </a:tcPr>
                </a:tc>
                <a:tc>
                  <a:txBody>
                    <a:bodyPr/>
                    <a:lstStyle/>
                    <a:p>
                      <a:pPr algn="l">
                        <a:spcAft>
                          <a:spcPts val="0"/>
                        </a:spcAft>
                      </a:pPr>
                      <a:r>
                        <a:rPr sz="1500" b="1" i="0">
                          <a:solidFill>
                            <a:srgbClr val="FFFFFF"/>
                          </a:solidFill>
                          <a:latin typeface="Calibri"/>
                        </a:rPr>
                        <a:t>Note</a:t>
                      </a:r>
                    </a:p>
                  </a:txBody>
                  <a:tcPr anchor="ctr">
                    <a:solidFill>
                      <a:srgbClr val="085797"/>
                    </a:solidFill>
                  </a:tcPr>
                </a:tc>
                <a:extLst>
                  <a:ext uri="{0D108BD9-81ED-4DB2-BD59-A6C34878D82A}">
                    <a16:rowId xmlns:a16="http://schemas.microsoft.com/office/drawing/2014/main" val="10000"/>
                  </a:ext>
                </a:extLst>
              </a:tr>
              <a:tr h="548640">
                <a:tc>
                  <a:txBody>
                    <a:bodyPr/>
                    <a:lstStyle/>
                    <a:p>
                      <a:pPr algn="l">
                        <a:spcAft>
                          <a:spcPts val="0"/>
                        </a:spcAft>
                      </a:pPr>
                      <a:r>
                        <a:rPr sz="1500" b="0" i="0">
                          <a:solidFill>
                            <a:srgbClr val="1B2A41"/>
                          </a:solidFill>
                          <a:latin typeface="Courier New"/>
                        </a:rPr>
                        <a:t>math.fabs(-3.5)</a:t>
                      </a:r>
                    </a:p>
                  </a:txBody>
                  <a:tcPr anchor="ctr">
                    <a:solidFill>
                      <a:srgbClr val="E8F0F8"/>
                    </a:solidFill>
                  </a:tcPr>
                </a:tc>
                <a:tc>
                  <a:txBody>
                    <a:bodyPr/>
                    <a:lstStyle/>
                    <a:p>
                      <a:pPr algn="l">
                        <a:spcAft>
                          <a:spcPts val="0"/>
                        </a:spcAft>
                      </a:pPr>
                      <a:r>
                        <a:rPr sz="1500" b="0" i="0">
                          <a:solidFill>
                            <a:srgbClr val="1B2A41"/>
                          </a:solidFill>
                          <a:latin typeface="Courier New"/>
                        </a:rPr>
                        <a:t>3.5</a:t>
                      </a:r>
                    </a:p>
                  </a:txBody>
                  <a:tcPr anchor="ctr">
                    <a:solidFill>
                      <a:srgbClr val="E8F0F8"/>
                    </a:solidFill>
                  </a:tcPr>
                </a:tc>
                <a:tc>
                  <a:txBody>
                    <a:bodyPr/>
                    <a:lstStyle/>
                    <a:p>
                      <a:pPr algn="l">
                        <a:spcAft>
                          <a:spcPts val="0"/>
                        </a:spcAft>
                      </a:pPr>
                      <a:r>
                        <a:rPr sz="1500" b="0" i="0">
                          <a:solidFill>
                            <a:srgbClr val="1B2A41"/>
                          </a:solidFill>
                          <a:latin typeface="Calibri"/>
                        </a:rPr>
                        <a:t>Absolute value, a float</a:t>
                      </a:r>
                    </a:p>
                  </a:txBody>
                  <a:tcPr anchor="ctr">
                    <a:solidFill>
                      <a:srgbClr val="E8F0F8"/>
                    </a:solidFill>
                  </a:tcPr>
                </a:tc>
                <a:extLst>
                  <a:ext uri="{0D108BD9-81ED-4DB2-BD59-A6C34878D82A}">
                    <a16:rowId xmlns:a16="http://schemas.microsoft.com/office/drawing/2014/main" val="10001"/>
                  </a:ext>
                </a:extLst>
              </a:tr>
              <a:tr h="548640">
                <a:tc>
                  <a:txBody>
                    <a:bodyPr/>
                    <a:lstStyle/>
                    <a:p>
                      <a:pPr algn="l">
                        <a:spcAft>
                          <a:spcPts val="0"/>
                        </a:spcAft>
                      </a:pPr>
                      <a:r>
                        <a:rPr sz="1500" b="0" i="0">
                          <a:solidFill>
                            <a:srgbClr val="1B2A41"/>
                          </a:solidFill>
                          <a:latin typeface="Courier New"/>
                        </a:rPr>
                        <a:t>math.pow(3, 2)</a:t>
                      </a:r>
                    </a:p>
                  </a:txBody>
                  <a:tcPr anchor="ctr">
                    <a:solidFill>
                      <a:srgbClr val="FFFFFF"/>
                    </a:solidFill>
                  </a:tcPr>
                </a:tc>
                <a:tc>
                  <a:txBody>
                    <a:bodyPr/>
                    <a:lstStyle/>
                    <a:p>
                      <a:pPr algn="l">
                        <a:spcAft>
                          <a:spcPts val="0"/>
                        </a:spcAft>
                      </a:pPr>
                      <a:r>
                        <a:rPr sz="1500" b="0" i="0">
                          <a:solidFill>
                            <a:srgbClr val="1B2A41"/>
                          </a:solidFill>
                          <a:latin typeface="Courier New"/>
                        </a:rPr>
                        <a:t>9.0</a:t>
                      </a:r>
                    </a:p>
                  </a:txBody>
                  <a:tcPr anchor="ctr">
                    <a:solidFill>
                      <a:srgbClr val="FFFFFF"/>
                    </a:solidFill>
                  </a:tcPr>
                </a:tc>
                <a:tc>
                  <a:txBody>
                    <a:bodyPr/>
                    <a:lstStyle/>
                    <a:p>
                      <a:pPr algn="l">
                        <a:spcAft>
                          <a:spcPts val="0"/>
                        </a:spcAft>
                      </a:pPr>
                      <a:r>
                        <a:rPr sz="1500" b="0" i="0">
                          <a:solidFill>
                            <a:srgbClr val="1B2A41"/>
                          </a:solidFill>
                          <a:latin typeface="Calibri"/>
                        </a:rPr>
                        <a:t>Power, always a float</a:t>
                      </a:r>
                    </a:p>
                  </a:txBody>
                  <a:tcPr anchor="ctr">
                    <a:solidFill>
                      <a:srgbClr val="FFFFFF"/>
                    </a:solidFill>
                  </a:tcPr>
                </a:tc>
                <a:extLst>
                  <a:ext uri="{0D108BD9-81ED-4DB2-BD59-A6C34878D82A}">
                    <a16:rowId xmlns:a16="http://schemas.microsoft.com/office/drawing/2014/main" val="10002"/>
                  </a:ext>
                </a:extLst>
              </a:tr>
              <a:tr h="548640">
                <a:tc>
                  <a:txBody>
                    <a:bodyPr/>
                    <a:lstStyle/>
                    <a:p>
                      <a:pPr algn="l">
                        <a:spcAft>
                          <a:spcPts val="0"/>
                        </a:spcAft>
                      </a:pPr>
                      <a:r>
                        <a:rPr sz="1500" b="0" i="0">
                          <a:solidFill>
                            <a:srgbClr val="1B2A41"/>
                          </a:solidFill>
                          <a:latin typeface="Courier New"/>
                        </a:rPr>
                        <a:t>math.sqrt(25)</a:t>
                      </a:r>
                    </a:p>
                  </a:txBody>
                  <a:tcPr anchor="ctr">
                    <a:solidFill>
                      <a:srgbClr val="E8F0F8"/>
                    </a:solidFill>
                  </a:tcPr>
                </a:tc>
                <a:tc>
                  <a:txBody>
                    <a:bodyPr/>
                    <a:lstStyle/>
                    <a:p>
                      <a:pPr algn="l">
                        <a:spcAft>
                          <a:spcPts val="0"/>
                        </a:spcAft>
                      </a:pPr>
                      <a:r>
                        <a:rPr sz="1500" b="0" i="0">
                          <a:solidFill>
                            <a:srgbClr val="1B2A41"/>
                          </a:solidFill>
                          <a:latin typeface="Courier New"/>
                        </a:rPr>
                        <a:t>5.0</a:t>
                      </a:r>
                    </a:p>
                  </a:txBody>
                  <a:tcPr anchor="ctr">
                    <a:solidFill>
                      <a:srgbClr val="E8F0F8"/>
                    </a:solidFill>
                  </a:tcPr>
                </a:tc>
                <a:tc>
                  <a:txBody>
                    <a:bodyPr/>
                    <a:lstStyle/>
                    <a:p>
                      <a:pPr algn="l">
                        <a:spcAft>
                          <a:spcPts val="0"/>
                        </a:spcAft>
                      </a:pPr>
                      <a:r>
                        <a:rPr sz="1500" b="0" i="0">
                          <a:solidFill>
                            <a:srgbClr val="1B2A41"/>
                          </a:solidFill>
                          <a:latin typeface="Calibri"/>
                        </a:rPr>
                        <a:t>Square root</a:t>
                      </a:r>
                    </a:p>
                  </a:txBody>
                  <a:tcPr anchor="ctr">
                    <a:solidFill>
                      <a:srgbClr val="E8F0F8"/>
                    </a:solidFill>
                  </a:tcPr>
                </a:tc>
                <a:extLst>
                  <a:ext uri="{0D108BD9-81ED-4DB2-BD59-A6C34878D82A}">
                    <a16:rowId xmlns:a16="http://schemas.microsoft.com/office/drawing/2014/main" val="10003"/>
                  </a:ext>
                </a:extLst>
              </a:tr>
              <a:tr h="548640">
                <a:tc>
                  <a:txBody>
                    <a:bodyPr/>
                    <a:lstStyle/>
                    <a:p>
                      <a:pPr algn="l">
                        <a:spcAft>
                          <a:spcPts val="0"/>
                        </a:spcAft>
                      </a:pPr>
                      <a:r>
                        <a:rPr sz="1500" b="0" i="0">
                          <a:solidFill>
                            <a:srgbClr val="1B2A41"/>
                          </a:solidFill>
                          <a:latin typeface="Courier New"/>
                        </a:rPr>
                        <a:t>math.sqrt(-1)</a:t>
                      </a:r>
                    </a:p>
                  </a:txBody>
                  <a:tcPr anchor="ctr">
                    <a:solidFill>
                      <a:srgbClr val="FFFFFF"/>
                    </a:solidFill>
                  </a:tcPr>
                </a:tc>
                <a:tc>
                  <a:txBody>
                    <a:bodyPr/>
                    <a:lstStyle/>
                    <a:p>
                      <a:pPr algn="l">
                        <a:spcAft>
                          <a:spcPts val="0"/>
                        </a:spcAft>
                      </a:pPr>
                      <a:r>
                        <a:rPr sz="1500" b="0" i="0">
                          <a:solidFill>
                            <a:srgbClr val="1B2A41"/>
                          </a:solidFill>
                          <a:latin typeface="Courier New"/>
                        </a:rPr>
                        <a:t>ValueError</a:t>
                      </a:r>
                    </a:p>
                  </a:txBody>
                  <a:tcPr anchor="ctr">
                    <a:solidFill>
                      <a:srgbClr val="FFFFFF"/>
                    </a:solidFill>
                  </a:tcPr>
                </a:tc>
                <a:tc>
                  <a:txBody>
                    <a:bodyPr/>
                    <a:lstStyle/>
                    <a:p>
                      <a:pPr algn="l">
                        <a:spcAft>
                          <a:spcPts val="0"/>
                        </a:spcAft>
                      </a:pPr>
                      <a:r>
                        <a:rPr sz="1500" b="0" i="0">
                          <a:solidFill>
                            <a:srgbClr val="1B2A41"/>
                          </a:solidFill>
                          <a:latin typeface="Calibri"/>
                        </a:rPr>
                        <a:t>math domain error</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2" name="Rounded Rectangle 11"/>
          <p:cNvSpPr/>
          <p:nvPr/>
        </p:nvSpPr>
        <p:spPr>
          <a:xfrm>
            <a:off x="7589520" y="2468880"/>
            <a:ext cx="4050791" cy="2743200"/>
          </a:xfrm>
          <a:prstGeom prst="roundRect">
            <a:avLst>
              <a:gd name="adj" fmla="val 4000"/>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l">
              <a:spcAft>
                <a:spcPts val="200"/>
              </a:spcAft>
            </a:pPr>
            <a:r>
              <a:rPr sz="1500" b="1" i="0">
                <a:solidFill>
                  <a:srgbClr val="085797"/>
                </a:solidFill>
                <a:latin typeface="Courier New"/>
              </a:rPr>
              <a:t>fabs </a:t>
            </a:r>
            <a:r>
              <a:rPr sz="1500" b="0" i="0">
                <a:solidFill>
                  <a:srgbClr val="1B2A41"/>
                </a:solidFill>
                <a:latin typeface="Calibri"/>
              </a:rPr>
              <a:t>suits a difference where the order does not matter, such as </a:t>
            </a:r>
            <a:r>
              <a:rPr sz="1500" b="1" i="0">
                <a:solidFill>
                  <a:srgbClr val="1B2A41"/>
                </a:solidFill>
                <a:latin typeface="Courier New"/>
              </a:rPr>
              <a:t>math.fabs(18.5 - 24.0)</a:t>
            </a:r>
            <a:r>
              <a:rPr sz="1500" b="0" i="0">
                <a:solidFill>
                  <a:srgbClr val="1B2A41"/>
                </a:solidFill>
                <a:latin typeface="Calibri"/>
              </a:rPr>
              <a:t> = 5.5.
</a:t>
            </a:r>
            <a:r>
              <a:rPr sz="1500" b="1" i="0">
                <a:solidFill>
                  <a:srgbClr val="E31E3B"/>
                </a:solidFill>
                <a:latin typeface="Calibri"/>
              </a:rPr>
              <a:t>Do not use it to hide a negative length. That is bad data, and the program must reject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7982712" cy="822960"/>
          </a:xfrm>
        </p:spPr>
        <p:txBody>
          <a:bodyPr wrap="square" anchor="ctr"/>
          <a:lstStyle/>
          <a:p>
            <a:pPr algn="l"/>
            <a:r>
              <a:rPr sz="3200" b="1">
                <a:solidFill>
                  <a:srgbClr val="085797"/>
                </a:solidFill>
                <a:latin typeface="Calibri"/>
              </a:rPr>
              <a:t>Plan, code, test</a:t>
            </a:r>
          </a:p>
        </p:txBody>
      </p:sp>
      <p:sp>
        <p:nvSpPr>
          <p:cNvPr id="3" name="Rounded Rectangle 2"/>
          <p:cNvSpPr/>
          <p:nvPr/>
        </p:nvSpPr>
        <p:spPr>
          <a:xfrm>
            <a:off x="8714232" y="457200"/>
            <a:ext cx="292608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Practical · Square from area</a:t>
            </a:r>
          </a:p>
        </p:txBody>
      </p:sp>
      <p:sp>
        <p:nvSpPr>
          <p:cNvPr id="4" name="Rounded Rectangle 3"/>
          <p:cNvSpPr/>
          <p:nvPr/>
        </p:nvSpPr>
        <p:spPr>
          <a:xfrm>
            <a:off x="548640" y="1280160"/>
            <a:ext cx="3422904" cy="1371600"/>
          </a:xfrm>
          <a:prstGeom prst="roundRect">
            <a:avLst>
              <a:gd name="adj" fmla="val 6666"/>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280160"/>
            <a:ext cx="3422904" cy="384048"/>
          </a:xfrm>
          <a:prstGeom prst="roundRect">
            <a:avLst>
              <a:gd name="adj" fmla="val 23809"/>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500" b="1" i="0">
                <a:solidFill>
                  <a:srgbClr val="FFFFFF"/>
                </a:solidFill>
                <a:latin typeface="Calibri"/>
              </a:rPr>
              <a:t>INPUT</a:t>
            </a:r>
          </a:p>
        </p:txBody>
      </p:sp>
      <p:sp>
        <p:nvSpPr>
          <p:cNvPr id="6" name="TextBox 5"/>
          <p:cNvSpPr txBox="1"/>
          <p:nvPr/>
        </p:nvSpPr>
        <p:spPr>
          <a:xfrm>
            <a:off x="640080" y="1709928"/>
            <a:ext cx="3240024" cy="896112"/>
          </a:xfrm>
          <a:prstGeom prst="rect">
            <a:avLst/>
          </a:prstGeom>
          <a:noFill/>
        </p:spPr>
        <p:txBody>
          <a:bodyPr wrap="square" lIns="45720" rIns="45720" anchor="ctr">
            <a:spAutoFit/>
          </a:bodyPr>
          <a:lstStyle/>
          <a:p>
            <a:pPr algn="ctr">
              <a:spcAft>
                <a:spcPts val="400"/>
              </a:spcAft>
            </a:pPr>
            <a:r>
              <a:rPr sz="1500" b="1" i="0">
                <a:solidFill>
                  <a:srgbClr val="085797"/>
                </a:solidFill>
                <a:latin typeface="Courier New"/>
              </a:rPr>
              <a:t>area</a:t>
            </a:r>
            <a:r>
              <a:rPr sz="1300" b="0" i="0">
                <a:solidFill>
                  <a:srgbClr val="5B6770"/>
                </a:solidFill>
                <a:latin typeface="Calibri"/>
              </a:rPr>
              <a:t> float, square metres</a:t>
            </a:r>
          </a:p>
        </p:txBody>
      </p:sp>
      <p:sp>
        <p:nvSpPr>
          <p:cNvPr id="7" name="Right Arrow 6"/>
          <p:cNvSpPr/>
          <p:nvPr/>
        </p:nvSpPr>
        <p:spPr>
          <a:xfrm>
            <a:off x="4035552" y="1810512"/>
            <a:ext cx="283464"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83024" y="1280160"/>
            <a:ext cx="3422904" cy="1371600"/>
          </a:xfrm>
          <a:prstGeom prst="roundRect">
            <a:avLst>
              <a:gd name="adj" fmla="val 6666"/>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83024" y="1280160"/>
            <a:ext cx="3422904" cy="384048"/>
          </a:xfrm>
          <a:prstGeom prst="roundRect">
            <a:avLst>
              <a:gd name="adj" fmla="val 23809"/>
            </a:avLst>
          </a:prstGeom>
          <a:solidFill>
            <a:srgbClr val="C9780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500" b="1" i="0">
                <a:solidFill>
                  <a:srgbClr val="FFFFFF"/>
                </a:solidFill>
                <a:latin typeface="Calibri"/>
              </a:rPr>
              <a:t>PROCESS</a:t>
            </a:r>
          </a:p>
        </p:txBody>
      </p:sp>
      <p:sp>
        <p:nvSpPr>
          <p:cNvPr id="10" name="TextBox 9"/>
          <p:cNvSpPr txBox="1"/>
          <p:nvPr/>
        </p:nvSpPr>
        <p:spPr>
          <a:xfrm>
            <a:off x="4474463" y="1709928"/>
            <a:ext cx="3240024" cy="896112"/>
          </a:xfrm>
          <a:prstGeom prst="rect">
            <a:avLst/>
          </a:prstGeom>
          <a:noFill/>
        </p:spPr>
        <p:txBody>
          <a:bodyPr wrap="square" lIns="45720" rIns="45720" anchor="ctr">
            <a:spAutoFit/>
          </a:bodyPr>
          <a:lstStyle/>
          <a:p>
            <a:pPr algn="ctr">
              <a:spcAft>
                <a:spcPts val="400"/>
              </a:spcAft>
            </a:pPr>
            <a:r>
              <a:rPr sz="1300" b="0" i="0">
                <a:solidFill>
                  <a:srgbClr val="1B2A41"/>
                </a:solidFill>
                <a:latin typeface="Calibri"/>
              </a:rPr>
              <a:t>Area must be greater than zero</a:t>
            </a:r>
          </a:p>
          <a:p>
            <a:pPr algn="ctr">
              <a:spcAft>
                <a:spcPts val="400"/>
              </a:spcAft>
            </a:pPr>
            <a:r>
              <a:rPr sz="1300" b="1" i="0">
                <a:solidFill>
                  <a:srgbClr val="1B2A41"/>
                </a:solidFill>
                <a:latin typeface="Courier New"/>
              </a:rPr>
              <a:t>side = math.sqrt(area)</a:t>
            </a:r>
          </a:p>
        </p:txBody>
      </p:sp>
      <p:sp>
        <p:nvSpPr>
          <p:cNvPr id="11" name="Right Arrow 10"/>
          <p:cNvSpPr/>
          <p:nvPr/>
        </p:nvSpPr>
        <p:spPr>
          <a:xfrm>
            <a:off x="7869936" y="1810512"/>
            <a:ext cx="283464"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217408" y="1280160"/>
            <a:ext cx="3422904" cy="1371600"/>
          </a:xfrm>
          <a:prstGeom prst="roundRect">
            <a:avLst>
              <a:gd name="adj" fmla="val 6666"/>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17408" y="1280160"/>
            <a:ext cx="3422904" cy="384048"/>
          </a:xfrm>
          <a:prstGeom prst="roundRect">
            <a:avLst>
              <a:gd name="adj" fmla="val 23809"/>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500" b="1" i="0">
                <a:solidFill>
                  <a:srgbClr val="FFFFFF"/>
                </a:solidFill>
                <a:latin typeface="Calibri"/>
              </a:rPr>
              <a:t>OUTPUT</a:t>
            </a:r>
          </a:p>
        </p:txBody>
      </p:sp>
      <p:sp>
        <p:nvSpPr>
          <p:cNvPr id="14" name="TextBox 13"/>
          <p:cNvSpPr txBox="1"/>
          <p:nvPr/>
        </p:nvSpPr>
        <p:spPr>
          <a:xfrm>
            <a:off x="8308847" y="1709928"/>
            <a:ext cx="3240024" cy="896112"/>
          </a:xfrm>
          <a:prstGeom prst="rect">
            <a:avLst/>
          </a:prstGeom>
          <a:noFill/>
        </p:spPr>
        <p:txBody>
          <a:bodyPr wrap="square" lIns="45720" rIns="45720" anchor="ctr">
            <a:spAutoFit/>
          </a:bodyPr>
          <a:lstStyle/>
          <a:p>
            <a:pPr algn="ctr">
              <a:spcAft>
                <a:spcPts val="400"/>
              </a:spcAft>
            </a:pPr>
            <a:r>
              <a:rPr sz="1300" b="0" i="0">
                <a:solidFill>
                  <a:srgbClr val="1B2A41"/>
                </a:solidFill>
                <a:latin typeface="Calibri"/>
              </a:rPr>
              <a:t>Side to two decimals, or an error message</a:t>
            </a:r>
          </a:p>
        </p:txBody>
      </p:sp>
      <p:sp>
        <p:nvSpPr>
          <p:cNvPr id="15" name="Rounded Rectangle 14"/>
          <p:cNvSpPr/>
          <p:nvPr/>
        </p:nvSpPr>
        <p:spPr>
          <a:xfrm>
            <a:off x="548640" y="2834640"/>
            <a:ext cx="6766560" cy="2788920"/>
          </a:xfrm>
          <a:prstGeom prst="roundRect">
            <a:avLst>
              <a:gd name="adj" fmla="val 3278"/>
            </a:avLst>
          </a:prstGeom>
          <a:solidFill>
            <a:srgbClr val="1E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13232" y="2962656"/>
            <a:ext cx="128016" cy="128016"/>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4400" y="2962656"/>
            <a:ext cx="128016" cy="128016"/>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15568" y="2962656"/>
            <a:ext cx="128016" cy="128016"/>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71600" y="2889504"/>
            <a:ext cx="5760720" cy="274320"/>
          </a:xfrm>
          <a:prstGeom prst="rect">
            <a:avLst/>
          </a:prstGeom>
          <a:noFill/>
        </p:spPr>
        <p:txBody>
          <a:bodyPr wrap="square" lIns="45720" rIns="45720" anchor="ctr">
            <a:spAutoFit/>
          </a:bodyPr>
          <a:lstStyle/>
          <a:p>
            <a:pPr algn="l">
              <a:spcAft>
                <a:spcPts val="400"/>
              </a:spcAft>
            </a:pPr>
            <a:r>
              <a:rPr sz="1100" b="0" i="0">
                <a:solidFill>
                  <a:srgbClr val="9AA7B5"/>
                </a:solidFill>
                <a:latin typeface="Courier New"/>
              </a:rPr>
              <a:t>side_from_area.py</a:t>
            </a:r>
          </a:p>
        </p:txBody>
      </p:sp>
      <p:sp>
        <p:nvSpPr>
          <p:cNvPr id="20" name="TextBox 19"/>
          <p:cNvSpPr txBox="1"/>
          <p:nvPr/>
        </p:nvSpPr>
        <p:spPr>
          <a:xfrm>
            <a:off x="685800" y="3218688"/>
            <a:ext cx="6492240" cy="2331720"/>
          </a:xfrm>
          <a:prstGeom prst="rect">
            <a:avLst/>
          </a:prstGeom>
          <a:noFill/>
        </p:spPr>
        <p:txBody>
          <a:bodyPr wrap="square" lIns="45720" rIns="45720" anchor="t">
            <a:spAutoFit/>
          </a:bodyPr>
          <a:lstStyle/>
          <a:p>
            <a:pPr algn="l">
              <a:spcAft>
                <a:spcPts val="700"/>
              </a:spcAft>
            </a:pPr>
            <a:r>
              <a:rPr sz="1200" b="0" i="0">
                <a:solidFill>
                  <a:srgbClr val="FF7B72"/>
                </a:solidFill>
                <a:latin typeface="Courier New"/>
              </a:rPr>
              <a:t>import math</a:t>
            </a:r>
          </a:p>
          <a:p>
            <a:pPr algn="l">
              <a:spcAft>
                <a:spcPts val="700"/>
              </a:spcAft>
            </a:pPr>
            <a:r>
              <a:rPr sz="1200" b="0" i="0">
                <a:solidFill>
                  <a:srgbClr val="E6EDF3"/>
                </a:solidFill>
                <a:latin typeface="Courier New"/>
              </a:rPr>
              <a:t>area = float(input(</a:t>
            </a:r>
            <a:r>
              <a:rPr sz="1200" b="0" i="0">
                <a:solidFill>
                  <a:srgbClr val="A5D6FF"/>
                </a:solidFill>
                <a:latin typeface="Courier New"/>
              </a:rPr>
              <a:t>"Area (square metres): "</a:t>
            </a:r>
            <a:r>
              <a:rPr sz="1200" b="0" i="0">
                <a:solidFill>
                  <a:srgbClr val="E6EDF3"/>
                </a:solidFill>
                <a:latin typeface="Courier New"/>
              </a:rPr>
              <a:t>))</a:t>
            </a:r>
          </a:p>
          <a:p>
            <a:pPr algn="l">
              <a:spcAft>
                <a:spcPts val="700"/>
              </a:spcAft>
            </a:pPr>
            <a:r>
              <a:rPr sz="1200" b="0" i="0">
                <a:solidFill>
                  <a:srgbClr val="FF7B72"/>
                </a:solidFill>
                <a:latin typeface="Courier New"/>
              </a:rPr>
              <a:t>if </a:t>
            </a:r>
            <a:r>
              <a:rPr sz="1200" b="0" i="0">
                <a:solidFill>
                  <a:srgbClr val="E6EDF3"/>
                </a:solidFill>
                <a:latin typeface="Courier New"/>
              </a:rPr>
              <a:t>area &lt;= 0:</a:t>
            </a:r>
          </a:p>
          <a:p>
            <a:pPr algn="l">
              <a:spcAft>
                <a:spcPts val="700"/>
              </a:spcAft>
            </a:pPr>
            <a:r>
              <a:rPr sz="1200" b="0" i="0">
                <a:solidFill>
                  <a:srgbClr val="E6EDF3"/>
                </a:solidFill>
                <a:latin typeface="Courier New"/>
              </a:rPr>
              <a:t>    print(</a:t>
            </a:r>
            <a:r>
              <a:rPr sz="1200" b="0" i="0">
                <a:solidFill>
                  <a:srgbClr val="A5D6FF"/>
                </a:solidFill>
                <a:latin typeface="Courier New"/>
              </a:rPr>
              <a:t>"The area must be greater than zero."</a:t>
            </a:r>
            <a:r>
              <a:rPr sz="1200" b="0" i="0">
                <a:solidFill>
                  <a:srgbClr val="E6EDF3"/>
                </a:solidFill>
                <a:latin typeface="Courier New"/>
              </a:rPr>
              <a:t>)</a:t>
            </a:r>
          </a:p>
          <a:p>
            <a:pPr algn="l">
              <a:spcAft>
                <a:spcPts val="700"/>
              </a:spcAft>
            </a:pPr>
            <a:r>
              <a:rPr sz="1200" b="0" i="0">
                <a:solidFill>
                  <a:srgbClr val="FF7B72"/>
                </a:solidFill>
                <a:latin typeface="Courier New"/>
              </a:rPr>
              <a:t>else</a:t>
            </a:r>
            <a:r>
              <a:rPr sz="1200" b="0" i="0">
                <a:solidFill>
                  <a:srgbClr val="E6EDF3"/>
                </a:solidFill>
                <a:latin typeface="Courier New"/>
              </a:rPr>
              <a:t>:</a:t>
            </a:r>
          </a:p>
          <a:p>
            <a:pPr algn="l">
              <a:spcAft>
                <a:spcPts val="700"/>
              </a:spcAft>
            </a:pPr>
            <a:r>
              <a:rPr sz="1200" b="0" i="0">
                <a:solidFill>
                  <a:srgbClr val="E6EDF3"/>
                </a:solidFill>
                <a:latin typeface="Courier New"/>
              </a:rPr>
              <a:t>    side = math.sqrt(area)</a:t>
            </a:r>
          </a:p>
          <a:p>
            <a:pPr algn="l">
              <a:spcAft>
                <a:spcPts val="700"/>
              </a:spcAft>
            </a:pPr>
            <a:r>
              <a:rPr sz="1200" b="0" i="0">
                <a:solidFill>
                  <a:srgbClr val="E6EDF3"/>
                </a:solidFill>
                <a:latin typeface="Courier New"/>
              </a:rPr>
              <a:t>    print(f</a:t>
            </a:r>
            <a:r>
              <a:rPr sz="1200" b="0" i="0">
                <a:solidFill>
                  <a:srgbClr val="A5D6FF"/>
                </a:solidFill>
                <a:latin typeface="Courier New"/>
              </a:rPr>
              <a:t>"Side: {side:.2f} m"</a:t>
            </a:r>
            <a:r>
              <a:rPr sz="1200" b="0" i="0">
                <a:solidFill>
                  <a:srgbClr val="E6EDF3"/>
                </a:solidFill>
                <a:latin typeface="Courier New"/>
              </a:rPr>
              <a:t>)</a:t>
            </a:r>
          </a:p>
        </p:txBody>
      </p:sp>
      <p:sp>
        <p:nvSpPr>
          <p:cNvPr id="21" name="Rounded Rectangle 20"/>
          <p:cNvSpPr/>
          <p:nvPr/>
        </p:nvSpPr>
        <p:spPr>
          <a:xfrm>
            <a:off x="7589520" y="2834640"/>
            <a:ext cx="4050791" cy="822960"/>
          </a:xfrm>
          <a:prstGeom prst="roundRect">
            <a:avLst>
              <a:gd name="adj" fmla="val 13333"/>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699248" y="2971800"/>
            <a:ext cx="548640" cy="54864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000" b="1" i="0">
                <a:solidFill>
                  <a:srgbClr val="FFFFFF"/>
                </a:solidFill>
                <a:latin typeface="Calibri"/>
              </a:rPr>
              <a:t>1</a:t>
            </a:r>
          </a:p>
        </p:txBody>
      </p:sp>
      <p:sp>
        <p:nvSpPr>
          <p:cNvPr id="23" name="TextBox 22"/>
          <p:cNvSpPr txBox="1"/>
          <p:nvPr/>
        </p:nvSpPr>
        <p:spPr>
          <a:xfrm>
            <a:off x="8366760" y="2834640"/>
            <a:ext cx="3200400" cy="822960"/>
          </a:xfrm>
          <a:prstGeom prst="rect">
            <a:avLst/>
          </a:prstGeom>
          <a:noFill/>
        </p:spPr>
        <p:txBody>
          <a:bodyPr wrap="square" lIns="45720" rIns="45720" anchor="ctr">
            <a:spAutoFit/>
          </a:bodyPr>
          <a:lstStyle/>
          <a:p>
            <a:pPr algn="l">
              <a:spcAft>
                <a:spcPts val="0"/>
              </a:spcAft>
            </a:pPr>
            <a:r>
              <a:rPr sz="1700" b="1" i="0">
                <a:solidFill>
                  <a:srgbClr val="085797"/>
                </a:solidFill>
                <a:latin typeface="Calibri"/>
              </a:rPr>
              <a:t>Plan</a:t>
            </a:r>
          </a:p>
          <a:p>
            <a:pPr algn="l">
              <a:spcAft>
                <a:spcPts val="400"/>
              </a:spcAft>
            </a:pPr>
            <a:r>
              <a:rPr sz="1300" b="0" i="0">
                <a:solidFill>
                  <a:srgbClr val="1B2A41"/>
                </a:solidFill>
                <a:latin typeface="Calibri"/>
              </a:rPr>
              <a:t>Draw the IPO chart first</a:t>
            </a:r>
          </a:p>
        </p:txBody>
      </p:sp>
      <p:sp>
        <p:nvSpPr>
          <p:cNvPr id="24" name="Rounded Rectangle 23"/>
          <p:cNvSpPr/>
          <p:nvPr/>
        </p:nvSpPr>
        <p:spPr>
          <a:xfrm>
            <a:off x="7589520" y="3794760"/>
            <a:ext cx="4050791" cy="822960"/>
          </a:xfrm>
          <a:prstGeom prst="roundRect">
            <a:avLst>
              <a:gd name="adj" fmla="val 13333"/>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699248" y="3931920"/>
            <a:ext cx="548640" cy="548640"/>
          </a:xfrm>
          <a:prstGeom prst="ellipse">
            <a:avLst/>
          </a:prstGeom>
          <a:solidFill>
            <a:srgbClr val="C9780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000" b="1" i="0">
                <a:solidFill>
                  <a:srgbClr val="FFFFFF"/>
                </a:solidFill>
                <a:latin typeface="Calibri"/>
              </a:rPr>
              <a:t>2</a:t>
            </a:r>
          </a:p>
        </p:txBody>
      </p:sp>
      <p:sp>
        <p:nvSpPr>
          <p:cNvPr id="26" name="TextBox 25"/>
          <p:cNvSpPr txBox="1"/>
          <p:nvPr/>
        </p:nvSpPr>
        <p:spPr>
          <a:xfrm>
            <a:off x="8366760" y="3794760"/>
            <a:ext cx="3200400" cy="822960"/>
          </a:xfrm>
          <a:prstGeom prst="rect">
            <a:avLst/>
          </a:prstGeom>
          <a:noFill/>
        </p:spPr>
        <p:txBody>
          <a:bodyPr wrap="square" lIns="45720" rIns="45720" anchor="ctr">
            <a:spAutoFit/>
          </a:bodyPr>
          <a:lstStyle/>
          <a:p>
            <a:pPr algn="l">
              <a:spcAft>
                <a:spcPts val="0"/>
              </a:spcAft>
            </a:pPr>
            <a:r>
              <a:rPr sz="1700" b="1" i="0">
                <a:solidFill>
                  <a:srgbClr val="C9780A"/>
                </a:solidFill>
                <a:latin typeface="Calibri"/>
              </a:rPr>
              <a:t>Code</a:t>
            </a:r>
          </a:p>
          <a:p>
            <a:pPr algn="l">
              <a:spcAft>
                <a:spcPts val="400"/>
              </a:spcAft>
            </a:pPr>
            <a:r>
              <a:rPr sz="1300" b="0" i="0">
                <a:solidFill>
                  <a:srgbClr val="1B2A41"/>
                </a:solidFill>
                <a:latin typeface="Calibri"/>
              </a:rPr>
              <a:t>Label each line with its step</a:t>
            </a:r>
          </a:p>
        </p:txBody>
      </p:sp>
      <p:sp>
        <p:nvSpPr>
          <p:cNvPr id="27" name="Rounded Rectangle 26"/>
          <p:cNvSpPr/>
          <p:nvPr/>
        </p:nvSpPr>
        <p:spPr>
          <a:xfrm>
            <a:off x="7589520" y="4754880"/>
            <a:ext cx="4050791" cy="822960"/>
          </a:xfrm>
          <a:prstGeom prst="roundRect">
            <a:avLst>
              <a:gd name="adj" fmla="val 13333"/>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699248" y="4892040"/>
            <a:ext cx="548640" cy="54864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000" b="1" i="0">
                <a:solidFill>
                  <a:srgbClr val="FFFFFF"/>
                </a:solidFill>
                <a:latin typeface="Calibri"/>
              </a:rPr>
              <a:t>3</a:t>
            </a:r>
          </a:p>
        </p:txBody>
      </p:sp>
      <p:sp>
        <p:nvSpPr>
          <p:cNvPr id="29" name="TextBox 28"/>
          <p:cNvSpPr txBox="1"/>
          <p:nvPr/>
        </p:nvSpPr>
        <p:spPr>
          <a:xfrm>
            <a:off x="8366760" y="4754880"/>
            <a:ext cx="3200400" cy="822960"/>
          </a:xfrm>
          <a:prstGeom prst="rect">
            <a:avLst/>
          </a:prstGeom>
          <a:noFill/>
        </p:spPr>
        <p:txBody>
          <a:bodyPr wrap="square" lIns="45720" rIns="45720" anchor="ctr">
            <a:spAutoFit/>
          </a:bodyPr>
          <a:lstStyle/>
          <a:p>
            <a:pPr algn="l">
              <a:spcAft>
                <a:spcPts val="0"/>
              </a:spcAft>
            </a:pPr>
            <a:r>
              <a:rPr sz="1700" b="1" i="0">
                <a:solidFill>
                  <a:srgbClr val="2E8B57"/>
                </a:solidFill>
                <a:latin typeface="Calibri"/>
              </a:rPr>
              <a:t>Test</a:t>
            </a:r>
          </a:p>
          <a:p>
            <a:pPr algn="l">
              <a:spcAft>
                <a:spcPts val="400"/>
              </a:spcAft>
            </a:pPr>
            <a:r>
              <a:rPr sz="1300" b="0" i="0">
                <a:solidFill>
                  <a:srgbClr val="1B2A41"/>
                </a:solidFill>
                <a:latin typeface="Calibri"/>
              </a:rPr>
              <a:t>Fill in the Actual column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7982712" cy="822960"/>
          </a:xfrm>
        </p:spPr>
        <p:txBody>
          <a:bodyPr wrap="square" anchor="ctr"/>
          <a:lstStyle/>
          <a:p>
            <a:pPr algn="l"/>
            <a:r>
              <a:rPr sz="3200" b="1">
                <a:solidFill>
                  <a:srgbClr val="085797"/>
                </a:solidFill>
                <a:latin typeface="Calibri"/>
              </a:rPr>
              <a:t>Test data: normal, boundary, invalid</a:t>
            </a:r>
          </a:p>
        </p:txBody>
      </p:sp>
      <p:sp>
        <p:nvSpPr>
          <p:cNvPr id="3" name="Rounded Rectangle 2"/>
          <p:cNvSpPr/>
          <p:nvPr/>
        </p:nvSpPr>
        <p:spPr>
          <a:xfrm>
            <a:off x="8714232" y="457200"/>
            <a:ext cx="292608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Practical · Testing</a:t>
            </a:r>
          </a:p>
        </p:txBody>
      </p:sp>
      <p:sp>
        <p:nvSpPr>
          <p:cNvPr id="4" name="TextBox 3"/>
          <p:cNvSpPr txBox="1"/>
          <p:nvPr/>
        </p:nvSpPr>
        <p:spPr>
          <a:xfrm>
            <a:off x="548640" y="1234440"/>
            <a:ext cx="7315200" cy="365760"/>
          </a:xfrm>
          <a:prstGeom prst="rect">
            <a:avLst/>
          </a:prstGeom>
          <a:noFill/>
        </p:spPr>
        <p:txBody>
          <a:bodyPr wrap="square" lIns="45720" rIns="45720" anchor="t">
            <a:spAutoFit/>
          </a:bodyPr>
          <a:lstStyle/>
          <a:p>
            <a:pPr algn="l">
              <a:spcAft>
                <a:spcPts val="400"/>
              </a:spcAft>
            </a:pPr>
            <a:r>
              <a:rPr sz="1700" b="1" i="0">
                <a:solidFill>
                  <a:srgbClr val="085797"/>
                </a:solidFill>
                <a:latin typeface="Calibri"/>
              </a:rPr>
              <a:t>Side of a square from its area</a:t>
            </a:r>
          </a:p>
        </p:txBody>
      </p:sp>
      <p:sp>
        <p:nvSpPr>
          <p:cNvPr id="5" name="Rectangle 4"/>
          <p:cNvSpPr/>
          <p:nvPr/>
        </p:nvSpPr>
        <p:spPr>
          <a:xfrm>
            <a:off x="548640" y="2148840"/>
            <a:ext cx="11091672" cy="109728"/>
          </a:xfrm>
          <a:prstGeom prst="rect">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783080"/>
            <a:ext cx="3383280" cy="365760"/>
          </a:xfrm>
          <a:prstGeom prst="rect">
            <a:avLst/>
          </a:prstGeom>
          <a:solidFill>
            <a:srgbClr val="FC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931920" y="1783080"/>
            <a:ext cx="7708392" cy="365760"/>
          </a:xfrm>
          <a:prstGeom prst="rect">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83080"/>
            <a:ext cx="3383280" cy="365760"/>
          </a:xfrm>
          <a:prstGeom prst="rect">
            <a:avLst/>
          </a:prstGeom>
          <a:noFill/>
        </p:spPr>
        <p:txBody>
          <a:bodyPr wrap="square" lIns="45720" rIns="45720" anchor="ctr">
            <a:spAutoFit/>
          </a:bodyPr>
          <a:lstStyle/>
          <a:p>
            <a:pPr algn="ctr">
              <a:spcAft>
                <a:spcPts val="400"/>
              </a:spcAft>
            </a:pPr>
            <a:r>
              <a:rPr sz="1400" b="1" i="0">
                <a:solidFill>
                  <a:srgbClr val="E31E3B"/>
                </a:solidFill>
                <a:latin typeface="Calibri"/>
              </a:rPr>
              <a:t>rejected</a:t>
            </a:r>
          </a:p>
        </p:txBody>
      </p:sp>
      <p:sp>
        <p:nvSpPr>
          <p:cNvPr id="9" name="TextBox 8"/>
          <p:cNvSpPr txBox="1"/>
          <p:nvPr/>
        </p:nvSpPr>
        <p:spPr>
          <a:xfrm>
            <a:off x="3931920" y="1783080"/>
            <a:ext cx="7708392" cy="365760"/>
          </a:xfrm>
          <a:prstGeom prst="rect">
            <a:avLst/>
          </a:prstGeom>
          <a:noFill/>
        </p:spPr>
        <p:txBody>
          <a:bodyPr wrap="square" lIns="45720" rIns="45720" anchor="ctr">
            <a:spAutoFit/>
          </a:bodyPr>
          <a:lstStyle/>
          <a:p>
            <a:pPr algn="ctr">
              <a:spcAft>
                <a:spcPts val="400"/>
              </a:spcAft>
            </a:pPr>
            <a:r>
              <a:rPr sz="1400" b="1" i="0">
                <a:solidFill>
                  <a:srgbClr val="2E8B57"/>
                </a:solidFill>
                <a:latin typeface="Calibri"/>
              </a:rPr>
              <a:t>accepted</a:t>
            </a:r>
          </a:p>
        </p:txBody>
      </p:sp>
      <p:sp>
        <p:nvSpPr>
          <p:cNvPr id="10" name="Oval 9"/>
          <p:cNvSpPr/>
          <p:nvPr/>
        </p:nvSpPr>
        <p:spPr>
          <a:xfrm>
            <a:off x="1216152" y="2048256"/>
            <a:ext cx="310896" cy="310896"/>
          </a:xfrm>
          <a:prstGeom prst="ellipse">
            <a:avLst/>
          </a:prstGeom>
          <a:solidFill>
            <a:srgbClr val="E31E3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395728"/>
            <a:ext cx="914400" cy="320040"/>
          </a:xfrm>
          <a:prstGeom prst="rect">
            <a:avLst/>
          </a:prstGeom>
          <a:noFill/>
        </p:spPr>
        <p:txBody>
          <a:bodyPr wrap="square" lIns="45720" rIns="45720" anchor="t">
            <a:spAutoFit/>
          </a:bodyPr>
          <a:lstStyle/>
          <a:p>
            <a:pPr algn="ctr">
              <a:spcAft>
                <a:spcPts val="400"/>
              </a:spcAft>
            </a:pPr>
            <a:r>
              <a:rPr sz="1400" b="1" i="0">
                <a:solidFill>
                  <a:srgbClr val="E31E3B"/>
                </a:solidFill>
                <a:latin typeface="Courier New"/>
              </a:rPr>
              <a:t>-9</a:t>
            </a:r>
          </a:p>
        </p:txBody>
      </p:sp>
      <p:sp>
        <p:nvSpPr>
          <p:cNvPr id="12" name="Oval 11"/>
          <p:cNvSpPr/>
          <p:nvPr/>
        </p:nvSpPr>
        <p:spPr>
          <a:xfrm>
            <a:off x="3044952" y="2048256"/>
            <a:ext cx="310896" cy="310896"/>
          </a:xfrm>
          <a:prstGeom prst="ellipse">
            <a:avLst/>
          </a:prstGeom>
          <a:solidFill>
            <a:srgbClr val="E31E3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0" y="2395728"/>
            <a:ext cx="914400" cy="320040"/>
          </a:xfrm>
          <a:prstGeom prst="rect">
            <a:avLst/>
          </a:prstGeom>
          <a:noFill/>
        </p:spPr>
        <p:txBody>
          <a:bodyPr wrap="square" lIns="45720" rIns="45720" anchor="t">
            <a:spAutoFit/>
          </a:bodyPr>
          <a:lstStyle/>
          <a:p>
            <a:pPr algn="ctr">
              <a:spcAft>
                <a:spcPts val="400"/>
              </a:spcAft>
            </a:pPr>
            <a:r>
              <a:rPr sz="1400" b="1" i="0">
                <a:solidFill>
                  <a:srgbClr val="E31E3B"/>
                </a:solidFill>
                <a:latin typeface="Courier New"/>
              </a:rPr>
              <a:t>0</a:t>
            </a:r>
          </a:p>
        </p:txBody>
      </p:sp>
      <p:sp>
        <p:nvSpPr>
          <p:cNvPr id="14" name="Oval 13"/>
          <p:cNvSpPr/>
          <p:nvPr/>
        </p:nvSpPr>
        <p:spPr>
          <a:xfrm>
            <a:off x="3776472" y="2048256"/>
            <a:ext cx="310896" cy="310896"/>
          </a:xfrm>
          <a:prstGeom prst="ellipse">
            <a:avLst/>
          </a:prstGeom>
          <a:solidFill>
            <a:srgbClr val="C9780A"/>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74720" y="2395728"/>
            <a:ext cx="914400" cy="320040"/>
          </a:xfrm>
          <a:prstGeom prst="rect">
            <a:avLst/>
          </a:prstGeom>
          <a:noFill/>
        </p:spPr>
        <p:txBody>
          <a:bodyPr wrap="square" lIns="45720" rIns="45720" anchor="t">
            <a:spAutoFit/>
          </a:bodyPr>
          <a:lstStyle/>
          <a:p>
            <a:pPr algn="ctr">
              <a:spcAft>
                <a:spcPts val="400"/>
              </a:spcAft>
            </a:pPr>
            <a:r>
              <a:rPr sz="1400" b="1" i="0">
                <a:solidFill>
                  <a:srgbClr val="C9780A"/>
                </a:solidFill>
                <a:latin typeface="Courier New"/>
              </a:rPr>
              <a:t>0.01</a:t>
            </a:r>
          </a:p>
        </p:txBody>
      </p:sp>
      <p:sp>
        <p:nvSpPr>
          <p:cNvPr id="16" name="Oval 15"/>
          <p:cNvSpPr/>
          <p:nvPr/>
        </p:nvSpPr>
        <p:spPr>
          <a:xfrm>
            <a:off x="6428232" y="2048256"/>
            <a:ext cx="310896" cy="310896"/>
          </a:xfrm>
          <a:prstGeom prst="ellipse">
            <a:avLst/>
          </a:prstGeom>
          <a:solidFill>
            <a:srgbClr val="2E8B5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0" y="2395728"/>
            <a:ext cx="914400" cy="320040"/>
          </a:xfrm>
          <a:prstGeom prst="rect">
            <a:avLst/>
          </a:prstGeom>
          <a:noFill/>
        </p:spPr>
        <p:txBody>
          <a:bodyPr wrap="square" lIns="45720" rIns="45720" anchor="t">
            <a:spAutoFit/>
          </a:bodyPr>
          <a:lstStyle/>
          <a:p>
            <a:pPr algn="ctr">
              <a:spcAft>
                <a:spcPts val="400"/>
              </a:spcAft>
            </a:pPr>
            <a:r>
              <a:rPr sz="1400" b="1" i="0">
                <a:solidFill>
                  <a:srgbClr val="2E8B57"/>
                </a:solidFill>
                <a:latin typeface="Courier New"/>
              </a:rPr>
              <a:t>2</a:t>
            </a:r>
          </a:p>
        </p:txBody>
      </p:sp>
      <p:sp>
        <p:nvSpPr>
          <p:cNvPr id="18" name="Oval 17"/>
          <p:cNvSpPr/>
          <p:nvPr/>
        </p:nvSpPr>
        <p:spPr>
          <a:xfrm>
            <a:off x="9445752" y="2048256"/>
            <a:ext cx="310896" cy="310896"/>
          </a:xfrm>
          <a:prstGeom prst="ellipse">
            <a:avLst/>
          </a:prstGeom>
          <a:solidFill>
            <a:srgbClr val="2E8B5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2395728"/>
            <a:ext cx="914400" cy="320040"/>
          </a:xfrm>
          <a:prstGeom prst="rect">
            <a:avLst/>
          </a:prstGeom>
          <a:noFill/>
        </p:spPr>
        <p:txBody>
          <a:bodyPr wrap="square" lIns="45720" rIns="45720" anchor="t">
            <a:spAutoFit/>
          </a:bodyPr>
          <a:lstStyle/>
          <a:p>
            <a:pPr algn="ctr">
              <a:spcAft>
                <a:spcPts val="400"/>
              </a:spcAft>
            </a:pPr>
            <a:r>
              <a:rPr sz="1400" b="1" i="0">
                <a:solidFill>
                  <a:srgbClr val="2E8B57"/>
                </a:solidFill>
                <a:latin typeface="Courier New"/>
              </a:rPr>
              <a:t>49</a:t>
            </a:r>
          </a:p>
        </p:txBody>
      </p:sp>
      <p:sp>
        <p:nvSpPr>
          <p:cNvPr id="20" name="TextBox 19"/>
          <p:cNvSpPr txBox="1"/>
          <p:nvPr/>
        </p:nvSpPr>
        <p:spPr>
          <a:xfrm>
            <a:off x="2743200" y="2743200"/>
            <a:ext cx="2377440" cy="320040"/>
          </a:xfrm>
          <a:prstGeom prst="rect">
            <a:avLst/>
          </a:prstGeom>
          <a:noFill/>
        </p:spPr>
        <p:txBody>
          <a:bodyPr wrap="square" lIns="45720" rIns="45720" anchor="t">
            <a:spAutoFit/>
          </a:bodyPr>
          <a:lstStyle/>
          <a:p>
            <a:pPr algn="ctr">
              <a:spcAft>
                <a:spcPts val="400"/>
              </a:spcAft>
            </a:pPr>
            <a:r>
              <a:rPr sz="1200" b="1" i="0">
                <a:solidFill>
                  <a:srgbClr val="C9780A"/>
                </a:solidFill>
                <a:latin typeface="Calibri"/>
              </a:rPr>
              <a:t>boundary pair</a:t>
            </a:r>
          </a:p>
        </p:txBody>
      </p:sp>
      <p:graphicFrame>
        <p:nvGraphicFramePr>
          <p:cNvPr id="21" name="Table 20"/>
          <p:cNvGraphicFramePr>
            <a:graphicFrameLocks noGrp="1"/>
          </p:cNvGraphicFramePr>
          <p:nvPr/>
        </p:nvGraphicFramePr>
        <p:xfrm>
          <a:off x="548640" y="3200400"/>
          <a:ext cx="11091672" cy="2048256"/>
        </p:xfrm>
        <a:graphic>
          <a:graphicData uri="http://schemas.openxmlformats.org/drawingml/2006/table">
            <a:tbl>
              <a:tblPr>
                <a:tableStyleId>{5C22544A-7EE6-4342-B048-85BDC9FD1C3A}</a:tableStyleId>
              </a:tblPr>
              <a:tblGrid>
                <a:gridCol w="15544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5056632">
                  <a:extLst>
                    <a:ext uri="{9D8B030D-6E8A-4147-A177-3AD203B41FA5}">
                      <a16:colId xmlns:a16="http://schemas.microsoft.com/office/drawing/2014/main" val="20002"/>
                    </a:ext>
                  </a:extLst>
                </a:gridCol>
              </a:tblGrid>
              <a:tr h="512064">
                <a:tc>
                  <a:txBody>
                    <a:bodyPr/>
                    <a:lstStyle/>
                    <a:p>
                      <a:pPr algn="l">
                        <a:spcAft>
                          <a:spcPts val="0"/>
                        </a:spcAft>
                      </a:pPr>
                      <a:r>
                        <a:rPr sz="1400" b="1" i="0">
                          <a:solidFill>
                            <a:srgbClr val="FFFFFF"/>
                          </a:solidFill>
                          <a:latin typeface="Calibri"/>
                        </a:rPr>
                        <a:t>Class</a:t>
                      </a:r>
                    </a:p>
                  </a:txBody>
                  <a:tcPr anchor="ctr">
                    <a:solidFill>
                      <a:srgbClr val="085797"/>
                    </a:solidFill>
                  </a:tcPr>
                </a:tc>
                <a:tc>
                  <a:txBody>
                    <a:bodyPr/>
                    <a:lstStyle/>
                    <a:p>
                      <a:pPr algn="l">
                        <a:spcAft>
                          <a:spcPts val="0"/>
                        </a:spcAft>
                      </a:pPr>
                      <a:r>
                        <a:rPr sz="1400" b="1" i="0">
                          <a:solidFill>
                            <a:srgbClr val="FFFFFF"/>
                          </a:solidFill>
                          <a:latin typeface="Calibri"/>
                        </a:rPr>
                        <a:t>Meaning</a:t>
                      </a:r>
                    </a:p>
                  </a:txBody>
                  <a:tcPr anchor="ctr">
                    <a:solidFill>
                      <a:srgbClr val="085797"/>
                    </a:solidFill>
                  </a:tcPr>
                </a:tc>
                <a:tc>
                  <a:txBody>
                    <a:bodyPr/>
                    <a:lstStyle/>
                    <a:p>
                      <a:pPr algn="l">
                        <a:spcAft>
                          <a:spcPts val="0"/>
                        </a:spcAft>
                      </a:pPr>
                      <a:r>
                        <a:rPr sz="1400" b="1" i="0">
                          <a:solidFill>
                            <a:srgbClr val="FFFFFF"/>
                          </a:solidFill>
                          <a:latin typeface="Calibri"/>
                        </a:rPr>
                        <a:t>Tests for the example</a:t>
                      </a:r>
                    </a:p>
                  </a:txBody>
                  <a:tcPr anchor="ctr">
                    <a:solidFill>
                      <a:srgbClr val="085797"/>
                    </a:solidFill>
                  </a:tcPr>
                </a:tc>
                <a:extLst>
                  <a:ext uri="{0D108BD9-81ED-4DB2-BD59-A6C34878D82A}">
                    <a16:rowId xmlns:a16="http://schemas.microsoft.com/office/drawing/2014/main" val="10000"/>
                  </a:ext>
                </a:extLst>
              </a:tr>
              <a:tr h="512064">
                <a:tc>
                  <a:txBody>
                    <a:bodyPr/>
                    <a:lstStyle/>
                    <a:p>
                      <a:pPr algn="l">
                        <a:spcAft>
                          <a:spcPts val="0"/>
                        </a:spcAft>
                      </a:pPr>
                      <a:r>
                        <a:rPr sz="1400" b="1" i="0">
                          <a:solidFill>
                            <a:srgbClr val="2E8B57"/>
                          </a:solidFill>
                          <a:latin typeface="Calibri"/>
                        </a:rPr>
                        <a:t>Normal</a:t>
                      </a:r>
                    </a:p>
                  </a:txBody>
                  <a:tcPr anchor="ctr">
                    <a:solidFill>
                      <a:srgbClr val="E8F0F8"/>
                    </a:solidFill>
                  </a:tcPr>
                </a:tc>
                <a:tc>
                  <a:txBody>
                    <a:bodyPr/>
                    <a:lstStyle/>
                    <a:p>
                      <a:pPr algn="l">
                        <a:spcAft>
                          <a:spcPts val="0"/>
                        </a:spcAft>
                      </a:pPr>
                      <a:r>
                        <a:rPr sz="1400" b="0" i="0">
                          <a:solidFill>
                            <a:srgbClr val="1B2A41"/>
                          </a:solidFill>
                          <a:latin typeface="Calibri"/>
                        </a:rPr>
                        <a:t>Typical valid values</a:t>
                      </a:r>
                    </a:p>
                  </a:txBody>
                  <a:tcPr anchor="ctr">
                    <a:solidFill>
                      <a:srgbClr val="E8F0F8"/>
                    </a:solidFill>
                  </a:tcPr>
                </a:tc>
                <a:tc>
                  <a:txBody>
                    <a:bodyPr/>
                    <a:lstStyle/>
                    <a:p>
                      <a:pPr algn="l">
                        <a:spcAft>
                          <a:spcPts val="0"/>
                        </a:spcAft>
                      </a:pPr>
                      <a:r>
                        <a:rPr sz="1400" b="0" i="0">
                          <a:solidFill>
                            <a:srgbClr val="1B2A41"/>
                          </a:solidFill>
                          <a:latin typeface="Calibri"/>
                        </a:rPr>
                        <a:t>49 gives Side: 7.00 m;  2 gives Side: 1.41 m</a:t>
                      </a:r>
                    </a:p>
                  </a:txBody>
                  <a:tcPr anchor="ctr">
                    <a:solidFill>
                      <a:srgbClr val="E8F0F8"/>
                    </a:solidFill>
                  </a:tcPr>
                </a:tc>
                <a:extLst>
                  <a:ext uri="{0D108BD9-81ED-4DB2-BD59-A6C34878D82A}">
                    <a16:rowId xmlns:a16="http://schemas.microsoft.com/office/drawing/2014/main" val="10001"/>
                  </a:ext>
                </a:extLst>
              </a:tr>
              <a:tr h="512064">
                <a:tc>
                  <a:txBody>
                    <a:bodyPr/>
                    <a:lstStyle/>
                    <a:p>
                      <a:pPr algn="l">
                        <a:spcAft>
                          <a:spcPts val="0"/>
                        </a:spcAft>
                      </a:pPr>
                      <a:r>
                        <a:rPr sz="1400" b="1" i="0">
                          <a:solidFill>
                            <a:srgbClr val="C9780A"/>
                          </a:solidFill>
                          <a:latin typeface="Calibri"/>
                        </a:rPr>
                        <a:t>Boundary</a:t>
                      </a:r>
                    </a:p>
                  </a:txBody>
                  <a:tcPr anchor="ctr">
                    <a:solidFill>
                      <a:srgbClr val="FFFFFF"/>
                    </a:solidFill>
                  </a:tcPr>
                </a:tc>
                <a:tc>
                  <a:txBody>
                    <a:bodyPr/>
                    <a:lstStyle/>
                    <a:p>
                      <a:pPr algn="l">
                        <a:spcAft>
                          <a:spcPts val="0"/>
                        </a:spcAft>
                      </a:pPr>
                      <a:r>
                        <a:rPr sz="1400" b="0" i="0">
                          <a:solidFill>
                            <a:srgbClr val="1B2A41"/>
                          </a:solidFill>
                          <a:latin typeface="Calibri"/>
                        </a:rPr>
                        <a:t>Smallest valid value and the first invalid value beside it</a:t>
                      </a:r>
                    </a:p>
                  </a:txBody>
                  <a:tcPr anchor="ctr">
                    <a:solidFill>
                      <a:srgbClr val="FFFFFF"/>
                    </a:solidFill>
                  </a:tcPr>
                </a:tc>
                <a:tc>
                  <a:txBody>
                    <a:bodyPr/>
                    <a:lstStyle/>
                    <a:p>
                      <a:pPr algn="l">
                        <a:spcAft>
                          <a:spcPts val="0"/>
                        </a:spcAft>
                      </a:pPr>
                      <a:r>
                        <a:rPr sz="1400" b="0" i="0">
                          <a:solidFill>
                            <a:srgbClr val="1B2A41"/>
                          </a:solidFill>
                          <a:latin typeface="Calibri"/>
                        </a:rPr>
                        <a:t>0.01 gives Side: 0.10 m;  0 is rejected</a:t>
                      </a:r>
                    </a:p>
                  </a:txBody>
                  <a:tcPr anchor="ctr">
                    <a:solidFill>
                      <a:srgbClr val="FFFFFF"/>
                    </a:solidFill>
                  </a:tcPr>
                </a:tc>
                <a:extLst>
                  <a:ext uri="{0D108BD9-81ED-4DB2-BD59-A6C34878D82A}">
                    <a16:rowId xmlns:a16="http://schemas.microsoft.com/office/drawing/2014/main" val="10002"/>
                  </a:ext>
                </a:extLst>
              </a:tr>
              <a:tr h="512064">
                <a:tc>
                  <a:txBody>
                    <a:bodyPr/>
                    <a:lstStyle/>
                    <a:p>
                      <a:pPr algn="l">
                        <a:spcAft>
                          <a:spcPts val="0"/>
                        </a:spcAft>
                      </a:pPr>
                      <a:r>
                        <a:rPr sz="1400" b="1" i="0">
                          <a:solidFill>
                            <a:srgbClr val="E31E3B"/>
                          </a:solidFill>
                          <a:latin typeface="Calibri"/>
                        </a:rPr>
                        <a:t>Invalid</a:t>
                      </a:r>
                    </a:p>
                  </a:txBody>
                  <a:tcPr anchor="ctr">
                    <a:solidFill>
                      <a:srgbClr val="E8F0F8"/>
                    </a:solidFill>
                  </a:tcPr>
                </a:tc>
                <a:tc>
                  <a:txBody>
                    <a:bodyPr/>
                    <a:lstStyle/>
                    <a:p>
                      <a:pPr algn="l">
                        <a:spcAft>
                          <a:spcPts val="0"/>
                        </a:spcAft>
                      </a:pPr>
                      <a:r>
                        <a:rPr sz="1400" b="0" i="0">
                          <a:solidFill>
                            <a:srgbClr val="1B2A41"/>
                          </a:solidFill>
                          <a:latin typeface="Calibri"/>
                        </a:rPr>
                        <a:t>Values the program must reject or that break it</a:t>
                      </a:r>
                    </a:p>
                  </a:txBody>
                  <a:tcPr anchor="ctr">
                    <a:solidFill>
                      <a:srgbClr val="E8F0F8"/>
                    </a:solidFill>
                  </a:tcPr>
                </a:tc>
                <a:tc>
                  <a:txBody>
                    <a:bodyPr/>
                    <a:lstStyle/>
                    <a:p>
                      <a:pPr algn="l">
                        <a:spcAft>
                          <a:spcPts val="0"/>
                        </a:spcAft>
                      </a:pPr>
                      <a:r>
                        <a:rPr sz="1400" b="0" i="0">
                          <a:solidFill>
                            <a:srgbClr val="1B2A41"/>
                          </a:solidFill>
                          <a:latin typeface="Calibri"/>
                        </a:rPr>
                        <a:t>-9 is rejected;  abc raises ValueError</a:t>
                      </a:r>
                    </a:p>
                  </a:txBody>
                  <a:tcPr anchor="ctr">
                    <a:solidFill>
                      <a:srgbClr val="E8F0F8"/>
                    </a:solidFill>
                  </a:tcPr>
                </a:tc>
                <a:extLst>
                  <a:ext uri="{0D108BD9-81ED-4DB2-BD59-A6C34878D82A}">
                    <a16:rowId xmlns:a16="http://schemas.microsoft.com/office/drawing/2014/main" val="10003"/>
                  </a:ext>
                </a:extLst>
              </a:tr>
            </a:tbl>
          </a:graphicData>
        </a:graphic>
      </p:graphicFrame>
      <p:sp>
        <p:nvSpPr>
          <p:cNvPr id="22" name="TextBox 21"/>
          <p:cNvSpPr txBox="1"/>
          <p:nvPr/>
        </p:nvSpPr>
        <p:spPr>
          <a:xfrm>
            <a:off x="548640" y="5349240"/>
            <a:ext cx="11091672" cy="320040"/>
          </a:xfrm>
          <a:prstGeom prst="rect">
            <a:avLst/>
          </a:prstGeom>
          <a:noFill/>
        </p:spPr>
        <p:txBody>
          <a:bodyPr wrap="square" lIns="45720" rIns="45720" anchor="t">
            <a:spAutoFit/>
          </a:bodyPr>
          <a:lstStyle/>
          <a:p>
            <a:pPr algn="l">
              <a:spcAft>
                <a:spcPts val="400"/>
              </a:spcAft>
            </a:pPr>
            <a:r>
              <a:rPr sz="1300" b="1" i="0">
                <a:solidFill>
                  <a:srgbClr val="085797"/>
                </a:solidFill>
                <a:latin typeface="Calibri"/>
              </a:rPr>
              <a:t>Write the test table before the code. Fill in the Actual column after you run it. Record what happens when you type letters.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7799832" cy="822960"/>
          </a:xfrm>
        </p:spPr>
        <p:txBody>
          <a:bodyPr wrap="square" anchor="ctr"/>
          <a:lstStyle/>
          <a:p>
            <a:pPr algn="l"/>
            <a:r>
              <a:rPr sz="3200" b="1">
                <a:solidFill>
                  <a:srgbClr val="085797"/>
                </a:solidFill>
                <a:latin typeface="Calibri"/>
              </a:rPr>
              <a:t>Core practical: the hypotenuse program</a:t>
            </a:r>
          </a:p>
        </p:txBody>
      </p:sp>
      <p:sp>
        <p:nvSpPr>
          <p:cNvPr id="3" name="Rounded Rectangle 2"/>
          <p:cNvSpPr/>
          <p:nvPr/>
        </p:nvSpPr>
        <p:spPr>
          <a:xfrm>
            <a:off x="8531352" y="457200"/>
            <a:ext cx="310896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Practical · 13:30-15:00</a:t>
            </a:r>
          </a:p>
        </p:txBody>
      </p:sp>
      <p:sp>
        <p:nvSpPr>
          <p:cNvPr id="4" name="Right Triangle 3"/>
          <p:cNvSpPr/>
          <p:nvPr/>
        </p:nvSpPr>
        <p:spPr>
          <a:xfrm>
            <a:off x="822960" y="1554480"/>
            <a:ext cx="3108960" cy="2377440"/>
          </a:xfrm>
          <a:prstGeom prst="rtTriangle">
            <a:avLst/>
          </a:prstGeom>
          <a:solidFill>
            <a:srgbClr val="E8F0F8"/>
          </a:solidFill>
          <a:ln w="38100">
            <a:solidFill>
              <a:srgbClr val="08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3657600"/>
            <a:ext cx="274320" cy="274320"/>
          </a:xfrm>
          <a:prstGeom prst="rect">
            <a:avLst/>
          </a:prstGeom>
          <a:noFill/>
          <a:ln w="19050">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3931920"/>
            <a:ext cx="1371600" cy="365760"/>
          </a:xfrm>
          <a:prstGeom prst="rect">
            <a:avLst/>
          </a:prstGeom>
          <a:noFill/>
        </p:spPr>
        <p:txBody>
          <a:bodyPr wrap="square" lIns="45720" rIns="45720" anchor="t">
            <a:spAutoFit/>
          </a:bodyPr>
          <a:lstStyle/>
          <a:p>
            <a:pPr algn="ctr">
              <a:spcAft>
                <a:spcPts val="400"/>
              </a:spcAft>
            </a:pPr>
            <a:r>
              <a:rPr sz="1500" b="1" i="0">
                <a:solidFill>
                  <a:srgbClr val="085797"/>
                </a:solidFill>
                <a:latin typeface="Courier New"/>
              </a:rPr>
              <a:t>side_a</a:t>
            </a:r>
          </a:p>
        </p:txBody>
      </p:sp>
      <p:sp>
        <p:nvSpPr>
          <p:cNvPr id="7" name="TextBox 6"/>
          <p:cNvSpPr txBox="1"/>
          <p:nvPr/>
        </p:nvSpPr>
        <p:spPr>
          <a:xfrm>
            <a:off x="0" y="2468880"/>
            <a:ext cx="822960" cy="365760"/>
          </a:xfrm>
          <a:prstGeom prst="rect">
            <a:avLst/>
          </a:prstGeom>
          <a:noFill/>
        </p:spPr>
        <p:txBody>
          <a:bodyPr wrap="square" lIns="45720" rIns="45720" anchor="t">
            <a:spAutoFit/>
          </a:bodyPr>
          <a:lstStyle/>
          <a:p>
            <a:pPr algn="r">
              <a:spcAft>
                <a:spcPts val="400"/>
              </a:spcAft>
            </a:pPr>
            <a:r>
              <a:rPr sz="1500" b="1" i="0">
                <a:solidFill>
                  <a:srgbClr val="E31E3B"/>
                </a:solidFill>
                <a:latin typeface="Courier New"/>
              </a:rPr>
              <a:t>side_b</a:t>
            </a:r>
          </a:p>
        </p:txBody>
      </p:sp>
      <p:sp>
        <p:nvSpPr>
          <p:cNvPr id="8" name="TextBox 7"/>
          <p:cNvSpPr txBox="1"/>
          <p:nvPr/>
        </p:nvSpPr>
        <p:spPr>
          <a:xfrm>
            <a:off x="2560320" y="2331720"/>
            <a:ext cx="1737360" cy="365760"/>
          </a:xfrm>
          <a:prstGeom prst="rect">
            <a:avLst/>
          </a:prstGeom>
          <a:noFill/>
        </p:spPr>
        <p:txBody>
          <a:bodyPr wrap="square" lIns="45720" rIns="45720" anchor="t">
            <a:spAutoFit/>
          </a:bodyPr>
          <a:lstStyle/>
          <a:p>
            <a:pPr algn="l">
              <a:spcAft>
                <a:spcPts val="400"/>
              </a:spcAft>
            </a:pPr>
            <a:r>
              <a:rPr sz="2200" b="1" i="0">
                <a:solidFill>
                  <a:srgbClr val="2E8B57"/>
                </a:solidFill>
                <a:latin typeface="Courier New"/>
              </a:rPr>
              <a:t>?</a:t>
            </a:r>
            <a:r>
              <a:rPr sz="1300" b="1" i="0">
                <a:solidFill>
                  <a:srgbClr val="2E8B57"/>
                </a:solidFill>
                <a:latin typeface="Calibri"/>
              </a:rPr>
              <a:t> hypotenuse</a:t>
            </a:r>
          </a:p>
        </p:txBody>
      </p:sp>
      <p:sp>
        <p:nvSpPr>
          <p:cNvPr id="9" name="TextBox 8"/>
          <p:cNvSpPr txBox="1"/>
          <p:nvPr/>
        </p:nvSpPr>
        <p:spPr>
          <a:xfrm>
            <a:off x="4754880" y="1234440"/>
            <a:ext cx="6858000" cy="411480"/>
          </a:xfrm>
          <a:prstGeom prst="rect">
            <a:avLst/>
          </a:prstGeom>
          <a:noFill/>
        </p:spPr>
        <p:txBody>
          <a:bodyPr wrap="square" lIns="45720" rIns="45720" anchor="t">
            <a:spAutoFit/>
          </a:bodyPr>
          <a:lstStyle/>
          <a:p>
            <a:pPr algn="l">
              <a:spcAft>
                <a:spcPts val="400"/>
              </a:spcAft>
            </a:pPr>
            <a:r>
              <a:rPr sz="2000" b="1" i="0">
                <a:solidFill>
                  <a:srgbClr val="085797"/>
                </a:solidFill>
                <a:latin typeface="Calibri"/>
              </a:rPr>
              <a:t>The task</a:t>
            </a:r>
          </a:p>
        </p:txBody>
      </p:sp>
      <p:sp>
        <p:nvSpPr>
          <p:cNvPr id="10" name="TextBox 9"/>
          <p:cNvSpPr txBox="1"/>
          <p:nvPr/>
        </p:nvSpPr>
        <p:spPr>
          <a:xfrm>
            <a:off x="4754880" y="1691640"/>
            <a:ext cx="6858000" cy="1234440"/>
          </a:xfrm>
          <a:prstGeom prst="rect">
            <a:avLst/>
          </a:prstGeom>
          <a:noFill/>
        </p:spPr>
        <p:txBody>
          <a:bodyPr wrap="square" lIns="45720" rIns="45720" anchor="t">
            <a:spAutoFit/>
          </a:bodyPr>
          <a:lstStyle/>
          <a:p>
            <a:pPr algn="l">
              <a:spcAft>
                <a:spcPts val="400"/>
              </a:spcAft>
            </a:pPr>
            <a:r>
              <a:rPr sz="1600" b="0" i="0">
                <a:solidFill>
                  <a:srgbClr val="1B2A41"/>
                </a:solidFill>
                <a:latin typeface="Calibri"/>
              </a:rPr>
              <a:t>A learner types the two shorter sides of a right-angled triangle in metres. Show the length of the hypotenuse to two decimals. A side that is zero or negative must be rejected with a message.</a:t>
            </a:r>
          </a:p>
        </p:txBody>
      </p:sp>
      <p:sp>
        <p:nvSpPr>
          <p:cNvPr id="11" name="Rounded Rectangle 10"/>
          <p:cNvSpPr/>
          <p:nvPr/>
        </p:nvSpPr>
        <p:spPr>
          <a:xfrm>
            <a:off x="4754880" y="3017520"/>
            <a:ext cx="2081784" cy="1783080"/>
          </a:xfrm>
          <a:prstGeom prst="roundRect">
            <a:avLst>
              <a:gd name="adj" fmla="val 5128"/>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754880" y="3017520"/>
            <a:ext cx="2081784" cy="365760"/>
          </a:xfrm>
          <a:prstGeom prst="roundRect">
            <a:avLst>
              <a:gd name="adj" fmla="val 25000"/>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500" b="1" i="0">
                <a:solidFill>
                  <a:srgbClr val="FFFFFF"/>
                </a:solidFill>
                <a:latin typeface="Calibri"/>
              </a:rPr>
              <a:t>INPUT</a:t>
            </a:r>
          </a:p>
        </p:txBody>
      </p:sp>
      <p:sp>
        <p:nvSpPr>
          <p:cNvPr id="13" name="TextBox 12"/>
          <p:cNvSpPr txBox="1"/>
          <p:nvPr/>
        </p:nvSpPr>
        <p:spPr>
          <a:xfrm>
            <a:off x="4846320" y="3428999"/>
            <a:ext cx="1898904" cy="1325879"/>
          </a:xfrm>
          <a:prstGeom prst="rect">
            <a:avLst/>
          </a:prstGeom>
          <a:noFill/>
        </p:spPr>
        <p:txBody>
          <a:bodyPr wrap="square" lIns="45720" rIns="45720" anchor="ctr">
            <a:spAutoFit/>
          </a:bodyPr>
          <a:lstStyle/>
          <a:p>
            <a:pPr algn="ctr">
              <a:spcAft>
                <a:spcPts val="400"/>
              </a:spcAft>
            </a:pPr>
            <a:r>
              <a:rPr sz="1300" b="1" i="0">
                <a:solidFill>
                  <a:srgbClr val="085797"/>
                </a:solidFill>
                <a:latin typeface="Courier New"/>
              </a:rPr>
              <a:t>side_a</a:t>
            </a:r>
            <a:r>
              <a:rPr sz="1400" b="0" i="0">
                <a:solidFill>
                  <a:srgbClr val="1B2A41"/>
                </a:solidFill>
                <a:latin typeface="Calibri"/>
              </a:rPr>
              <a:t>, </a:t>
            </a:r>
            <a:r>
              <a:rPr sz="1300" b="1" i="0">
                <a:solidFill>
                  <a:srgbClr val="085797"/>
                </a:solidFill>
                <a:latin typeface="Courier New"/>
              </a:rPr>
              <a:t>side_b</a:t>
            </a:r>
          </a:p>
          <a:p>
            <a:pPr algn="ctr">
              <a:spcAft>
                <a:spcPts val="400"/>
              </a:spcAft>
            </a:pPr>
            <a:r>
              <a:rPr sz="1200" b="0" i="0">
                <a:solidFill>
                  <a:srgbClr val="5B6770"/>
                </a:solidFill>
                <a:latin typeface="Calibri"/>
              </a:rPr>
              <a:t>float, metres</a:t>
            </a:r>
          </a:p>
        </p:txBody>
      </p:sp>
      <p:sp>
        <p:nvSpPr>
          <p:cNvPr id="14" name="Right Arrow 13"/>
          <p:cNvSpPr/>
          <p:nvPr/>
        </p:nvSpPr>
        <p:spPr>
          <a:xfrm>
            <a:off x="6900672" y="3753611"/>
            <a:ext cx="192023"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156704" y="3017520"/>
            <a:ext cx="2081784" cy="1783080"/>
          </a:xfrm>
          <a:prstGeom prst="roundRect">
            <a:avLst>
              <a:gd name="adj" fmla="val 5128"/>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156704" y="3017520"/>
            <a:ext cx="2081784" cy="365760"/>
          </a:xfrm>
          <a:prstGeom prst="roundRect">
            <a:avLst>
              <a:gd name="adj" fmla="val 25000"/>
            </a:avLst>
          </a:prstGeom>
          <a:solidFill>
            <a:srgbClr val="C9780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500" b="1" i="0">
                <a:solidFill>
                  <a:srgbClr val="FFFFFF"/>
                </a:solidFill>
                <a:latin typeface="Calibri"/>
              </a:rPr>
              <a:t>PROCESS</a:t>
            </a:r>
          </a:p>
        </p:txBody>
      </p:sp>
      <p:sp>
        <p:nvSpPr>
          <p:cNvPr id="17" name="TextBox 16"/>
          <p:cNvSpPr txBox="1"/>
          <p:nvPr/>
        </p:nvSpPr>
        <p:spPr>
          <a:xfrm>
            <a:off x="7248144" y="3428999"/>
            <a:ext cx="1898904" cy="1325879"/>
          </a:xfrm>
          <a:prstGeom prst="rect">
            <a:avLst/>
          </a:prstGeom>
          <a:noFill/>
        </p:spPr>
        <p:txBody>
          <a:bodyPr wrap="square" lIns="45720" rIns="45720" anchor="ctr">
            <a:spAutoFit/>
          </a:bodyPr>
          <a:lstStyle/>
          <a:p>
            <a:pPr algn="ctr">
              <a:spcAft>
                <a:spcPts val="400"/>
              </a:spcAft>
            </a:pPr>
            <a:r>
              <a:rPr sz="1200" b="0" i="0">
                <a:solidFill>
                  <a:srgbClr val="1B2A41"/>
                </a:solidFill>
                <a:latin typeface="Calibri"/>
              </a:rPr>
              <a:t>Each side greater than zero</a:t>
            </a:r>
          </a:p>
          <a:p>
            <a:pPr algn="ctr">
              <a:spcAft>
                <a:spcPts val="400"/>
              </a:spcAft>
            </a:pPr>
            <a:r>
              <a:rPr sz="1200" b="0" i="0">
                <a:solidFill>
                  <a:srgbClr val="1B2A41"/>
                </a:solidFill>
                <a:latin typeface="Calibri"/>
              </a:rPr>
              <a:t>hypotenuse = square root of (a squared + b squared)</a:t>
            </a:r>
          </a:p>
        </p:txBody>
      </p:sp>
      <p:sp>
        <p:nvSpPr>
          <p:cNvPr id="18" name="Right Arrow 17"/>
          <p:cNvSpPr/>
          <p:nvPr/>
        </p:nvSpPr>
        <p:spPr>
          <a:xfrm>
            <a:off x="9302496" y="3753611"/>
            <a:ext cx="192023" cy="310896"/>
          </a:xfrm>
          <a:prstGeom prst="rightArrow">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558528" y="3017520"/>
            <a:ext cx="2081784" cy="1783080"/>
          </a:xfrm>
          <a:prstGeom prst="roundRect">
            <a:avLst>
              <a:gd name="adj" fmla="val 5128"/>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558528" y="3017520"/>
            <a:ext cx="2081784" cy="365760"/>
          </a:xfrm>
          <a:prstGeom prst="roundRect">
            <a:avLst>
              <a:gd name="adj" fmla="val 25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500" b="1" i="0">
                <a:solidFill>
                  <a:srgbClr val="FFFFFF"/>
                </a:solidFill>
                <a:latin typeface="Calibri"/>
              </a:rPr>
              <a:t>OUTPUT</a:t>
            </a:r>
          </a:p>
        </p:txBody>
      </p:sp>
      <p:sp>
        <p:nvSpPr>
          <p:cNvPr id="21" name="TextBox 20"/>
          <p:cNvSpPr txBox="1"/>
          <p:nvPr/>
        </p:nvSpPr>
        <p:spPr>
          <a:xfrm>
            <a:off x="9649968" y="3428999"/>
            <a:ext cx="1898904" cy="1325879"/>
          </a:xfrm>
          <a:prstGeom prst="rect">
            <a:avLst/>
          </a:prstGeom>
          <a:noFill/>
        </p:spPr>
        <p:txBody>
          <a:bodyPr wrap="square" lIns="45720" rIns="45720" anchor="ctr">
            <a:spAutoFit/>
          </a:bodyPr>
          <a:lstStyle/>
          <a:p>
            <a:pPr algn="ctr">
              <a:spcAft>
                <a:spcPts val="400"/>
              </a:spcAft>
            </a:pPr>
            <a:r>
              <a:rPr sz="1200" b="0" i="0">
                <a:solidFill>
                  <a:srgbClr val="1B2A41"/>
                </a:solidFill>
                <a:latin typeface="Calibri"/>
              </a:rPr>
              <a:t>Hypotenuse to two decimals in metres, or an error message</a:t>
            </a:r>
          </a:p>
        </p:txBody>
      </p:sp>
      <p:sp>
        <p:nvSpPr>
          <p:cNvPr id="22" name="Rounded Rectangle 21"/>
          <p:cNvSpPr/>
          <p:nvPr/>
        </p:nvSpPr>
        <p:spPr>
          <a:xfrm>
            <a:off x="548640" y="5029200"/>
            <a:ext cx="11091672" cy="640080"/>
          </a:xfrm>
          <a:prstGeom prst="roundRect">
            <a:avLst>
              <a:gd name="adj" fmla="val 17142"/>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l">
              <a:spcAft>
                <a:spcPts val="200"/>
              </a:spcAft>
            </a:pPr>
            <a:r>
              <a:rPr sz="1600" b="1" i="0">
                <a:solidFill>
                  <a:srgbClr val="085797"/>
                </a:solidFill>
                <a:latin typeface="Calibri"/>
              </a:rPr>
              <a:t>Plan first: </a:t>
            </a:r>
            <a:r>
              <a:rPr sz="1600" b="0" i="0">
                <a:solidFill>
                  <a:srgbClr val="1B2A41"/>
                </a:solidFill>
                <a:latin typeface="Calibri"/>
              </a:rPr>
              <a:t>draw the IPO chart and write the test table before you write any code.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7891272" cy="822960"/>
          </a:xfrm>
        </p:spPr>
        <p:txBody>
          <a:bodyPr wrap="square" anchor="ctr"/>
          <a:lstStyle/>
          <a:p>
            <a:pPr algn="l"/>
            <a:r>
              <a:rPr sz="3200" b="1">
                <a:solidFill>
                  <a:srgbClr val="085797"/>
                </a:solidFill>
                <a:latin typeface="Calibri"/>
              </a:rPr>
              <a:t>Model solution: 05_hypotenuse.py</a:t>
            </a:r>
          </a:p>
        </p:txBody>
      </p:sp>
      <p:sp>
        <p:nvSpPr>
          <p:cNvPr id="3" name="Rounded Rectangle 2"/>
          <p:cNvSpPr/>
          <p:nvPr/>
        </p:nvSpPr>
        <p:spPr>
          <a:xfrm>
            <a:off x="8622792" y="457200"/>
            <a:ext cx="301752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Compare after you finish</a:t>
            </a:r>
          </a:p>
        </p:txBody>
      </p:sp>
      <p:sp>
        <p:nvSpPr>
          <p:cNvPr id="4" name="Rounded Rectangle 3"/>
          <p:cNvSpPr/>
          <p:nvPr/>
        </p:nvSpPr>
        <p:spPr>
          <a:xfrm>
            <a:off x="548640" y="1280160"/>
            <a:ext cx="7406640" cy="4343400"/>
          </a:xfrm>
          <a:prstGeom prst="roundRect">
            <a:avLst>
              <a:gd name="adj" fmla="val 2105"/>
            </a:avLst>
          </a:prstGeom>
          <a:solidFill>
            <a:srgbClr val="1E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13232" y="1408176"/>
            <a:ext cx="128016" cy="128016"/>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4400" y="1408176"/>
            <a:ext cx="128016" cy="128016"/>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15568" y="1408176"/>
            <a:ext cx="128016" cy="128016"/>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1335024"/>
            <a:ext cx="6400800" cy="274320"/>
          </a:xfrm>
          <a:prstGeom prst="rect">
            <a:avLst/>
          </a:prstGeom>
          <a:noFill/>
        </p:spPr>
        <p:txBody>
          <a:bodyPr wrap="square" lIns="45720" rIns="45720" anchor="ctr">
            <a:spAutoFit/>
          </a:bodyPr>
          <a:lstStyle/>
          <a:p>
            <a:pPr algn="l">
              <a:spcAft>
                <a:spcPts val="400"/>
              </a:spcAft>
            </a:pPr>
            <a:r>
              <a:rPr sz="1100" b="0" i="0">
                <a:solidFill>
                  <a:srgbClr val="9AA7B5"/>
                </a:solidFill>
                <a:latin typeface="Courier New"/>
              </a:rPr>
              <a:t>05_hypotenuse.py</a:t>
            </a:r>
          </a:p>
        </p:txBody>
      </p:sp>
      <p:sp>
        <p:nvSpPr>
          <p:cNvPr id="9" name="TextBox 8"/>
          <p:cNvSpPr txBox="1"/>
          <p:nvPr/>
        </p:nvSpPr>
        <p:spPr>
          <a:xfrm>
            <a:off x="685800" y="1664207"/>
            <a:ext cx="7132320" cy="3886200"/>
          </a:xfrm>
          <a:prstGeom prst="rect">
            <a:avLst/>
          </a:prstGeom>
          <a:noFill/>
        </p:spPr>
        <p:txBody>
          <a:bodyPr wrap="square" lIns="45720" rIns="45720" anchor="t">
            <a:spAutoFit/>
          </a:bodyPr>
          <a:lstStyle/>
          <a:p>
            <a:pPr algn="l">
              <a:spcAft>
                <a:spcPts val="700"/>
              </a:spcAft>
            </a:pPr>
            <a:r>
              <a:rPr sz="1100" b="0" i="0">
                <a:solidFill>
                  <a:srgbClr val="9AA7B5"/>
                </a:solidFill>
                <a:latin typeface="Courier New"/>
              </a:rPr>
              <a:t># Hypotenuse of a right-angled triangle</a:t>
            </a:r>
          </a:p>
          <a:p>
            <a:pPr algn="l">
              <a:spcAft>
                <a:spcPts val="700"/>
              </a:spcAft>
            </a:pPr>
            <a:r>
              <a:rPr sz="1100" b="0" i="0">
                <a:solidFill>
                  <a:srgbClr val="FF7B72"/>
                </a:solidFill>
                <a:latin typeface="Courier New"/>
              </a:rPr>
              <a:t>import math</a:t>
            </a:r>
          </a:p>
          <a:p>
            <a:pPr algn="l">
              <a:spcAft>
                <a:spcPts val="700"/>
              </a:spcAft>
            </a:pPr>
            <a:endParaRPr sz="1100" b="0" i="0">
              <a:solidFill>
                <a:srgbClr val="FF7B72"/>
              </a:solidFill>
              <a:latin typeface="Courier New"/>
            </a:endParaRPr>
          </a:p>
          <a:p>
            <a:pPr algn="l">
              <a:spcAft>
                <a:spcPts val="700"/>
              </a:spcAft>
            </a:pPr>
            <a:r>
              <a:rPr sz="1100" b="0" i="0">
                <a:solidFill>
                  <a:srgbClr val="E6EDF3"/>
                </a:solidFill>
                <a:latin typeface="Courier New"/>
              </a:rPr>
              <a:t>side_a = float(input(</a:t>
            </a:r>
            <a:r>
              <a:rPr sz="1100" b="0" i="0">
                <a:solidFill>
                  <a:srgbClr val="A5D6FF"/>
                </a:solidFill>
                <a:latin typeface="Courier New"/>
              </a:rPr>
              <a:t>"Side a (metres): "</a:t>
            </a:r>
            <a:r>
              <a:rPr sz="1100" b="0" i="0">
                <a:solidFill>
                  <a:srgbClr val="E6EDF3"/>
                </a:solidFill>
                <a:latin typeface="Courier New"/>
              </a:rPr>
              <a:t>))</a:t>
            </a:r>
          </a:p>
          <a:p>
            <a:pPr algn="l">
              <a:spcAft>
                <a:spcPts val="700"/>
              </a:spcAft>
            </a:pPr>
            <a:r>
              <a:rPr sz="1100" b="0" i="0">
                <a:solidFill>
                  <a:srgbClr val="E6EDF3"/>
                </a:solidFill>
                <a:latin typeface="Courier New"/>
              </a:rPr>
              <a:t>side_b = float(input(</a:t>
            </a:r>
            <a:r>
              <a:rPr sz="1100" b="0" i="0">
                <a:solidFill>
                  <a:srgbClr val="A5D6FF"/>
                </a:solidFill>
                <a:latin typeface="Courier New"/>
              </a:rPr>
              <a:t>"Side b (metres): "</a:t>
            </a:r>
            <a:r>
              <a:rPr sz="1100" b="0" i="0">
                <a:solidFill>
                  <a:srgbClr val="E6EDF3"/>
                </a:solidFill>
                <a:latin typeface="Courier New"/>
              </a:rPr>
              <a:t>))</a:t>
            </a:r>
          </a:p>
          <a:p>
            <a:pPr algn="l">
              <a:spcAft>
                <a:spcPts val="700"/>
              </a:spcAft>
            </a:pPr>
            <a:r>
              <a:rPr sz="1100" b="0" i="0">
                <a:solidFill>
                  <a:srgbClr val="FF7B72"/>
                </a:solidFill>
                <a:latin typeface="Courier New"/>
              </a:rPr>
              <a:t>if </a:t>
            </a:r>
            <a:r>
              <a:rPr sz="1100" b="0" i="0">
                <a:solidFill>
                  <a:srgbClr val="E6EDF3"/>
                </a:solidFill>
                <a:latin typeface="Courier New"/>
              </a:rPr>
              <a:t>side_a &lt;= 0:</a:t>
            </a:r>
          </a:p>
          <a:p>
            <a:pPr algn="l">
              <a:spcAft>
                <a:spcPts val="700"/>
              </a:spcAft>
            </a:pPr>
            <a:r>
              <a:rPr sz="1100" b="0" i="0">
                <a:solidFill>
                  <a:srgbClr val="E6EDF3"/>
                </a:solidFill>
                <a:latin typeface="Courier New"/>
              </a:rPr>
              <a:t>    print(</a:t>
            </a:r>
            <a:r>
              <a:rPr sz="1100" b="0" i="0">
                <a:solidFill>
                  <a:srgbClr val="A5D6FF"/>
                </a:solidFill>
                <a:latin typeface="Courier New"/>
              </a:rPr>
              <a:t>"Side a must be greater than zero."</a:t>
            </a:r>
            <a:r>
              <a:rPr sz="1100" b="0" i="0">
                <a:solidFill>
                  <a:srgbClr val="E6EDF3"/>
                </a:solidFill>
                <a:latin typeface="Courier New"/>
              </a:rPr>
              <a:t>)</a:t>
            </a:r>
          </a:p>
          <a:p>
            <a:pPr algn="l">
              <a:spcAft>
                <a:spcPts val="700"/>
              </a:spcAft>
            </a:pPr>
            <a:r>
              <a:rPr sz="1100" b="0" i="0">
                <a:solidFill>
                  <a:srgbClr val="FF7B72"/>
                </a:solidFill>
                <a:latin typeface="Courier New"/>
              </a:rPr>
              <a:t>else</a:t>
            </a:r>
            <a:r>
              <a:rPr sz="1100" b="0" i="0">
                <a:solidFill>
                  <a:srgbClr val="E6EDF3"/>
                </a:solidFill>
                <a:latin typeface="Courier New"/>
              </a:rPr>
              <a:t>:</a:t>
            </a:r>
          </a:p>
          <a:p>
            <a:pPr algn="l">
              <a:spcAft>
                <a:spcPts val="700"/>
              </a:spcAft>
            </a:pPr>
            <a:r>
              <a:rPr sz="1100" b="0" i="0">
                <a:solidFill>
                  <a:srgbClr val="FF7B72"/>
                </a:solidFill>
                <a:latin typeface="Courier New"/>
              </a:rPr>
              <a:t>    if </a:t>
            </a:r>
            <a:r>
              <a:rPr sz="1100" b="0" i="0">
                <a:solidFill>
                  <a:srgbClr val="E6EDF3"/>
                </a:solidFill>
                <a:latin typeface="Courier New"/>
              </a:rPr>
              <a:t>side_b &lt;= 0:</a:t>
            </a:r>
          </a:p>
          <a:p>
            <a:pPr algn="l">
              <a:spcAft>
                <a:spcPts val="700"/>
              </a:spcAft>
            </a:pPr>
            <a:r>
              <a:rPr sz="1100" b="0" i="0">
                <a:solidFill>
                  <a:srgbClr val="E6EDF3"/>
                </a:solidFill>
                <a:latin typeface="Courier New"/>
              </a:rPr>
              <a:t>        print(</a:t>
            </a:r>
            <a:r>
              <a:rPr sz="1100" b="0" i="0">
                <a:solidFill>
                  <a:srgbClr val="A5D6FF"/>
                </a:solidFill>
                <a:latin typeface="Courier New"/>
              </a:rPr>
              <a:t>"Side b must be greater than zero."</a:t>
            </a:r>
            <a:r>
              <a:rPr sz="1100" b="0" i="0">
                <a:solidFill>
                  <a:srgbClr val="E6EDF3"/>
                </a:solidFill>
                <a:latin typeface="Courier New"/>
              </a:rPr>
              <a:t>)</a:t>
            </a:r>
          </a:p>
          <a:p>
            <a:pPr algn="l">
              <a:spcAft>
                <a:spcPts val="700"/>
              </a:spcAft>
            </a:pPr>
            <a:r>
              <a:rPr sz="1100" b="0" i="0">
                <a:solidFill>
                  <a:srgbClr val="FF7B72"/>
                </a:solidFill>
                <a:latin typeface="Courier New"/>
              </a:rPr>
              <a:t>    else</a:t>
            </a:r>
            <a:r>
              <a:rPr sz="1100" b="0" i="0">
                <a:solidFill>
                  <a:srgbClr val="E6EDF3"/>
                </a:solidFill>
                <a:latin typeface="Courier New"/>
              </a:rPr>
              <a:t>:</a:t>
            </a:r>
          </a:p>
          <a:p>
            <a:pPr algn="l">
              <a:spcAft>
                <a:spcPts val="700"/>
              </a:spcAft>
            </a:pPr>
            <a:r>
              <a:rPr sz="1100" b="0" i="0">
                <a:solidFill>
                  <a:srgbClr val="F2CC60"/>
                </a:solidFill>
                <a:latin typeface="Courier New"/>
              </a:rPr>
              <a:t>        hypotenuse = math.sqrt(math.pow(side_a, 2) + math.pow(side_b, 2))</a:t>
            </a:r>
          </a:p>
          <a:p>
            <a:pPr algn="l">
              <a:spcAft>
                <a:spcPts val="700"/>
              </a:spcAft>
            </a:pPr>
            <a:r>
              <a:rPr sz="1100" b="0" i="0">
                <a:solidFill>
                  <a:srgbClr val="E6EDF3"/>
                </a:solidFill>
                <a:latin typeface="Courier New"/>
              </a:rPr>
              <a:t>        print(f</a:t>
            </a:r>
            <a:r>
              <a:rPr sz="1100" b="0" i="0">
                <a:solidFill>
                  <a:srgbClr val="A5D6FF"/>
                </a:solidFill>
                <a:latin typeface="Courier New"/>
              </a:rPr>
              <a:t>"Hypotenuse: {hypotenuse:.2f} m"</a:t>
            </a:r>
            <a:r>
              <a:rPr sz="1100" b="0" i="0">
                <a:solidFill>
                  <a:srgbClr val="E6EDF3"/>
                </a:solidFill>
                <a:latin typeface="Courier New"/>
              </a:rPr>
              <a:t>)</a:t>
            </a:r>
          </a:p>
        </p:txBody>
      </p:sp>
      <p:sp>
        <p:nvSpPr>
          <p:cNvPr id="10" name="Rounded Rectangle 9"/>
          <p:cNvSpPr/>
          <p:nvPr/>
        </p:nvSpPr>
        <p:spPr>
          <a:xfrm>
            <a:off x="8229600" y="1280160"/>
            <a:ext cx="3410712" cy="2286000"/>
          </a:xfrm>
          <a:prstGeom prst="roundRect">
            <a:avLst>
              <a:gd name="adj" fmla="val 56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66760" y="1325880"/>
            <a:ext cx="3154680" cy="2194560"/>
          </a:xfrm>
          <a:prstGeom prst="rect">
            <a:avLst/>
          </a:prstGeom>
          <a:noFill/>
        </p:spPr>
        <p:txBody>
          <a:bodyPr wrap="square" lIns="45720" rIns="45720" anchor="t">
            <a:spAutoFit/>
          </a:bodyPr>
          <a:lstStyle/>
          <a:p>
            <a:pPr algn="l">
              <a:spcAft>
                <a:spcPts val="600"/>
              </a:spcAft>
            </a:pPr>
            <a:r>
              <a:rPr sz="1400" b="1" i="0">
                <a:solidFill>
                  <a:srgbClr val="085797"/>
                </a:solidFill>
                <a:latin typeface="Calibri"/>
              </a:rPr>
              <a:t>Read it like this</a:t>
            </a:r>
          </a:p>
          <a:p>
            <a:pPr marL="256032" indent="-256032" algn="l">
              <a:spcAft>
                <a:spcPts val="500"/>
              </a:spcAft>
              <a:buClr>
                <a:srgbClr val="085797"/>
              </a:buClr>
              <a:buFont typeface="Arial"/>
              <a:buChar char="•"/>
            </a:pPr>
            <a:r>
              <a:rPr sz="1400" b="0" i="0">
                <a:solidFill>
                  <a:srgbClr val="1B2A41"/>
                </a:solidFill>
                <a:latin typeface="Calibri"/>
              </a:rPr>
              <a:t>Header comment says what the program does</a:t>
            </a:r>
          </a:p>
          <a:p>
            <a:pPr marL="256032" indent="-256032" algn="l">
              <a:spcAft>
                <a:spcPts val="500"/>
              </a:spcAft>
              <a:buClr>
                <a:srgbClr val="085797"/>
              </a:buClr>
              <a:buFont typeface="Arial"/>
              <a:buChar char="•"/>
            </a:pPr>
            <a:r>
              <a:rPr sz="1400" b="0" i="0">
                <a:solidFill>
                  <a:srgbClr val="1B2A41"/>
                </a:solidFill>
                <a:latin typeface="Calibri"/>
              </a:rPr>
              <a:t>Each prompt names the unit</a:t>
            </a:r>
          </a:p>
          <a:p>
            <a:pPr marL="256032" indent="-256032" algn="l">
              <a:spcAft>
                <a:spcPts val="500"/>
              </a:spcAft>
              <a:buClr>
                <a:srgbClr val="085797"/>
              </a:buClr>
              <a:buFont typeface="Arial"/>
              <a:buChar char="•"/>
            </a:pPr>
            <a:r>
              <a:rPr sz="1400" b="0" i="0">
                <a:solidFill>
                  <a:srgbClr val="1B2A41"/>
                </a:solidFill>
                <a:latin typeface="Calibri"/>
              </a:rPr>
              <a:t>float() converts every input</a:t>
            </a:r>
          </a:p>
        </p:txBody>
      </p:sp>
      <p:sp>
        <p:nvSpPr>
          <p:cNvPr id="12" name="Rounded Rectangle 11"/>
          <p:cNvSpPr/>
          <p:nvPr/>
        </p:nvSpPr>
        <p:spPr>
          <a:xfrm>
            <a:off x="8229600" y="3749039"/>
            <a:ext cx="3410712" cy="1874519"/>
          </a:xfrm>
          <a:prstGeom prst="roundRect">
            <a:avLst>
              <a:gd name="adj" fmla="val 5853"/>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l">
              <a:spcAft>
                <a:spcPts val="200"/>
              </a:spcAft>
            </a:pPr>
            <a:r>
              <a:rPr sz="1400" b="0" i="0">
                <a:solidFill>
                  <a:srgbClr val="1B2A41"/>
                </a:solidFill>
                <a:latin typeface="Calibri"/>
              </a:rPr>
              <a:t>The second </a:t>
            </a:r>
            <a:r>
              <a:rPr sz="1400" b="1" i="0">
                <a:solidFill>
                  <a:srgbClr val="1B2A41"/>
                </a:solidFill>
                <a:latin typeface="Courier New"/>
              </a:rPr>
              <a:t>if</a:t>
            </a:r>
            <a:r>
              <a:rPr sz="1400" b="0" i="0">
                <a:solidFill>
                  <a:srgbClr val="1B2A41"/>
                </a:solidFill>
                <a:latin typeface="Calibri"/>
              </a:rPr>
              <a:t> sits inside the first. Tomorrow you will learn a shorter way to check both sides at once.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439912" cy="822960"/>
          </a:xfrm>
        </p:spPr>
        <p:txBody>
          <a:bodyPr wrap="square" anchor="ctr"/>
          <a:lstStyle/>
          <a:p>
            <a:pPr algn="l"/>
            <a:r>
              <a:rPr sz="3200" b="1">
                <a:solidFill>
                  <a:srgbClr val="085797"/>
                </a:solidFill>
                <a:latin typeface="Calibri"/>
              </a:rPr>
              <a:t>Test table for the hypotenuse program</a:t>
            </a:r>
          </a:p>
        </p:txBody>
      </p:sp>
      <p:sp>
        <p:nvSpPr>
          <p:cNvPr id="3" name="Rounded Rectangle 2"/>
          <p:cNvSpPr/>
          <p:nvPr/>
        </p:nvSpPr>
        <p:spPr>
          <a:xfrm>
            <a:off x="9171432" y="457200"/>
            <a:ext cx="246888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05_test_table.md</a:t>
            </a:r>
          </a:p>
        </p:txBody>
      </p:sp>
      <p:graphicFrame>
        <p:nvGraphicFramePr>
          <p:cNvPr id="4" name="Table 3"/>
          <p:cNvGraphicFramePr>
            <a:graphicFrameLocks noGrp="1"/>
          </p:cNvGraphicFramePr>
          <p:nvPr/>
        </p:nvGraphicFramePr>
        <p:xfrm>
          <a:off x="548640" y="1280160"/>
          <a:ext cx="11091672" cy="4114800"/>
        </p:xfrm>
        <a:graphic>
          <a:graphicData uri="http://schemas.openxmlformats.org/drawingml/2006/table">
            <a:tbl>
              <a:tblPr>
                <a:tableStyleId>{5C22544A-7EE6-4342-B048-85BDC9FD1C3A}</a:tableStyleId>
              </a:tblPr>
              <a:tblGrid>
                <a:gridCol w="1463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4965192">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57200">
                <a:tc>
                  <a:txBody>
                    <a:bodyPr/>
                    <a:lstStyle/>
                    <a:p>
                      <a:pPr algn="l">
                        <a:spcAft>
                          <a:spcPts val="0"/>
                        </a:spcAft>
                      </a:pPr>
                      <a:r>
                        <a:rPr sz="1400" b="1" i="0">
                          <a:solidFill>
                            <a:srgbClr val="FFFFFF"/>
                          </a:solidFill>
                          <a:latin typeface="Calibri"/>
                        </a:rPr>
                        <a:t>Class</a:t>
                      </a:r>
                    </a:p>
                  </a:txBody>
                  <a:tcPr anchor="ctr">
                    <a:solidFill>
                      <a:srgbClr val="085797"/>
                    </a:solidFill>
                  </a:tcPr>
                </a:tc>
                <a:tc>
                  <a:txBody>
                    <a:bodyPr/>
                    <a:lstStyle/>
                    <a:p>
                      <a:pPr algn="l">
                        <a:spcAft>
                          <a:spcPts val="0"/>
                        </a:spcAft>
                      </a:pPr>
                      <a:r>
                        <a:rPr sz="1400" b="1" i="0">
                          <a:solidFill>
                            <a:srgbClr val="FFFFFF"/>
                          </a:solidFill>
                          <a:latin typeface="Calibri"/>
                        </a:rPr>
                        <a:t>side_a</a:t>
                      </a:r>
                    </a:p>
                  </a:txBody>
                  <a:tcPr anchor="ctr">
                    <a:solidFill>
                      <a:srgbClr val="085797"/>
                    </a:solidFill>
                  </a:tcPr>
                </a:tc>
                <a:tc>
                  <a:txBody>
                    <a:bodyPr/>
                    <a:lstStyle/>
                    <a:p>
                      <a:pPr algn="l">
                        <a:spcAft>
                          <a:spcPts val="0"/>
                        </a:spcAft>
                      </a:pPr>
                      <a:r>
                        <a:rPr sz="1400" b="1" i="0">
                          <a:solidFill>
                            <a:srgbClr val="FFFFFF"/>
                          </a:solidFill>
                          <a:latin typeface="Calibri"/>
                        </a:rPr>
                        <a:t>side_b</a:t>
                      </a:r>
                    </a:p>
                  </a:txBody>
                  <a:tcPr anchor="ctr">
                    <a:solidFill>
                      <a:srgbClr val="085797"/>
                    </a:solidFill>
                  </a:tcPr>
                </a:tc>
                <a:tc>
                  <a:txBody>
                    <a:bodyPr/>
                    <a:lstStyle/>
                    <a:p>
                      <a:pPr algn="l">
                        <a:spcAft>
                          <a:spcPts val="0"/>
                        </a:spcAft>
                      </a:pPr>
                      <a:r>
                        <a:rPr sz="1400" b="1" i="0">
                          <a:solidFill>
                            <a:srgbClr val="FFFFFF"/>
                          </a:solidFill>
                          <a:latin typeface="Calibri"/>
                        </a:rPr>
                        <a:t>Expected output</a:t>
                      </a:r>
                    </a:p>
                  </a:txBody>
                  <a:tcPr anchor="ctr">
                    <a:solidFill>
                      <a:srgbClr val="085797"/>
                    </a:solidFill>
                  </a:tcPr>
                </a:tc>
                <a:tc>
                  <a:txBody>
                    <a:bodyPr/>
                    <a:lstStyle/>
                    <a:p>
                      <a:pPr algn="l">
                        <a:spcAft>
                          <a:spcPts val="0"/>
                        </a:spcAft>
                      </a:pPr>
                      <a:r>
                        <a:rPr sz="1400" b="1" i="0">
                          <a:solidFill>
                            <a:srgbClr val="FFFFFF"/>
                          </a:solidFill>
                          <a:latin typeface="Calibri"/>
                        </a:rPr>
                        <a:t>Actual</a:t>
                      </a:r>
                    </a:p>
                  </a:txBody>
                  <a:tcPr anchor="ctr">
                    <a:solidFill>
                      <a:srgbClr val="085797"/>
                    </a:solidFill>
                  </a:tcPr>
                </a:tc>
                <a:extLst>
                  <a:ext uri="{0D108BD9-81ED-4DB2-BD59-A6C34878D82A}">
                    <a16:rowId xmlns:a16="http://schemas.microsoft.com/office/drawing/2014/main" val="10000"/>
                  </a:ext>
                </a:extLst>
              </a:tr>
              <a:tr h="457200">
                <a:tc>
                  <a:txBody>
                    <a:bodyPr/>
                    <a:lstStyle/>
                    <a:p>
                      <a:pPr algn="l">
                        <a:spcAft>
                          <a:spcPts val="0"/>
                        </a:spcAft>
                      </a:pPr>
                      <a:r>
                        <a:rPr sz="1400" b="1" i="0">
                          <a:solidFill>
                            <a:srgbClr val="2E8B57"/>
                          </a:solidFill>
                          <a:latin typeface="Calibri"/>
                        </a:rPr>
                        <a:t>Normal</a:t>
                      </a:r>
                    </a:p>
                  </a:txBody>
                  <a:tcPr anchor="ctr">
                    <a:solidFill>
                      <a:srgbClr val="E8F0F8"/>
                    </a:solidFill>
                  </a:tcPr>
                </a:tc>
                <a:tc>
                  <a:txBody>
                    <a:bodyPr/>
                    <a:lstStyle/>
                    <a:p>
                      <a:pPr algn="l">
                        <a:spcAft>
                          <a:spcPts val="0"/>
                        </a:spcAft>
                      </a:pPr>
                      <a:r>
                        <a:rPr sz="1300" b="0" i="0">
                          <a:solidFill>
                            <a:srgbClr val="1B2A41"/>
                          </a:solidFill>
                          <a:latin typeface="Courier New"/>
                        </a:rPr>
                        <a:t>3</a:t>
                      </a:r>
                    </a:p>
                  </a:txBody>
                  <a:tcPr anchor="ctr">
                    <a:solidFill>
                      <a:srgbClr val="E8F0F8"/>
                    </a:solidFill>
                  </a:tcPr>
                </a:tc>
                <a:tc>
                  <a:txBody>
                    <a:bodyPr/>
                    <a:lstStyle/>
                    <a:p>
                      <a:pPr algn="l">
                        <a:spcAft>
                          <a:spcPts val="0"/>
                        </a:spcAft>
                      </a:pPr>
                      <a:r>
                        <a:rPr sz="1300" b="0" i="0">
                          <a:solidFill>
                            <a:srgbClr val="1B2A41"/>
                          </a:solidFill>
                          <a:latin typeface="Courier New"/>
                        </a:rPr>
                        <a:t>4</a:t>
                      </a:r>
                    </a:p>
                  </a:txBody>
                  <a:tcPr anchor="ctr">
                    <a:solidFill>
                      <a:srgbClr val="E8F0F8"/>
                    </a:solidFill>
                  </a:tcPr>
                </a:tc>
                <a:tc>
                  <a:txBody>
                    <a:bodyPr/>
                    <a:lstStyle/>
                    <a:p>
                      <a:pPr algn="l">
                        <a:spcAft>
                          <a:spcPts val="0"/>
                        </a:spcAft>
                      </a:pPr>
                      <a:r>
                        <a:rPr sz="1300" b="0" i="0">
                          <a:solidFill>
                            <a:srgbClr val="1B2A41"/>
                          </a:solidFill>
                          <a:latin typeface="Courier New"/>
                        </a:rPr>
                        <a:t>Hypotenuse: 5.00 m</a:t>
                      </a:r>
                    </a:p>
                  </a:txBody>
                  <a:tcPr anchor="ctr">
                    <a:solidFill>
                      <a:srgbClr val="E8F0F8"/>
                    </a:solidFill>
                  </a:tcPr>
                </a:tc>
                <a:tc>
                  <a:txBody>
                    <a:bodyPr/>
                    <a:lstStyle/>
                    <a:p>
                      <a:pPr algn="l">
                        <a:spcAft>
                          <a:spcPts val="0"/>
                        </a:spcAft>
                      </a:pPr>
                      <a:endParaRPr/>
                    </a:p>
                  </a:txBody>
                  <a:tcPr anchor="ctr">
                    <a:solidFill>
                      <a:srgbClr val="FFF4D6"/>
                    </a:solidFill>
                  </a:tcPr>
                </a:tc>
                <a:extLst>
                  <a:ext uri="{0D108BD9-81ED-4DB2-BD59-A6C34878D82A}">
                    <a16:rowId xmlns:a16="http://schemas.microsoft.com/office/drawing/2014/main" val="10001"/>
                  </a:ext>
                </a:extLst>
              </a:tr>
              <a:tr h="457200">
                <a:tc>
                  <a:txBody>
                    <a:bodyPr/>
                    <a:lstStyle/>
                    <a:p>
                      <a:pPr algn="l">
                        <a:spcAft>
                          <a:spcPts val="0"/>
                        </a:spcAft>
                      </a:pPr>
                      <a:r>
                        <a:rPr sz="1400" b="1" i="0">
                          <a:solidFill>
                            <a:srgbClr val="2E8B57"/>
                          </a:solidFill>
                          <a:latin typeface="Calibri"/>
                        </a:rPr>
                        <a:t>Normal</a:t>
                      </a:r>
                    </a:p>
                  </a:txBody>
                  <a:tcPr anchor="ctr">
                    <a:solidFill>
                      <a:srgbClr val="FFFFFF"/>
                    </a:solidFill>
                  </a:tcPr>
                </a:tc>
                <a:tc>
                  <a:txBody>
                    <a:bodyPr/>
                    <a:lstStyle/>
                    <a:p>
                      <a:pPr algn="l">
                        <a:spcAft>
                          <a:spcPts val="0"/>
                        </a:spcAft>
                      </a:pPr>
                      <a:r>
                        <a:rPr sz="1300" b="0" i="0">
                          <a:solidFill>
                            <a:srgbClr val="1B2A41"/>
                          </a:solidFill>
                          <a:latin typeface="Courier New"/>
                        </a:rPr>
                        <a:t>5</a:t>
                      </a:r>
                    </a:p>
                  </a:txBody>
                  <a:tcPr anchor="ctr">
                    <a:solidFill>
                      <a:srgbClr val="FFFFFF"/>
                    </a:solidFill>
                  </a:tcPr>
                </a:tc>
                <a:tc>
                  <a:txBody>
                    <a:bodyPr/>
                    <a:lstStyle/>
                    <a:p>
                      <a:pPr algn="l">
                        <a:spcAft>
                          <a:spcPts val="0"/>
                        </a:spcAft>
                      </a:pPr>
                      <a:r>
                        <a:rPr sz="1300" b="0" i="0">
                          <a:solidFill>
                            <a:srgbClr val="1B2A41"/>
                          </a:solidFill>
                          <a:latin typeface="Courier New"/>
                        </a:rPr>
                        <a:t>12</a:t>
                      </a:r>
                    </a:p>
                  </a:txBody>
                  <a:tcPr anchor="ctr">
                    <a:solidFill>
                      <a:srgbClr val="FFFFFF"/>
                    </a:solidFill>
                  </a:tcPr>
                </a:tc>
                <a:tc>
                  <a:txBody>
                    <a:bodyPr/>
                    <a:lstStyle/>
                    <a:p>
                      <a:pPr algn="l">
                        <a:spcAft>
                          <a:spcPts val="0"/>
                        </a:spcAft>
                      </a:pPr>
                      <a:r>
                        <a:rPr sz="1300" b="0" i="0">
                          <a:solidFill>
                            <a:srgbClr val="1B2A41"/>
                          </a:solidFill>
                          <a:latin typeface="Courier New"/>
                        </a:rPr>
                        <a:t>Hypotenuse: 13.00 m</a:t>
                      </a:r>
                    </a:p>
                  </a:txBody>
                  <a:tcPr anchor="ctr">
                    <a:solidFill>
                      <a:srgbClr val="FFFFFF"/>
                    </a:solidFill>
                  </a:tcPr>
                </a:tc>
                <a:tc>
                  <a:txBody>
                    <a:bodyPr/>
                    <a:lstStyle/>
                    <a:p>
                      <a:pPr algn="l">
                        <a:spcAft>
                          <a:spcPts val="0"/>
                        </a:spcAft>
                      </a:pPr>
                      <a:endParaRPr/>
                    </a:p>
                  </a:txBody>
                  <a:tcPr anchor="ctr">
                    <a:solidFill>
                      <a:srgbClr val="FFF4D6"/>
                    </a:solidFill>
                  </a:tcPr>
                </a:tc>
                <a:extLst>
                  <a:ext uri="{0D108BD9-81ED-4DB2-BD59-A6C34878D82A}">
                    <a16:rowId xmlns:a16="http://schemas.microsoft.com/office/drawing/2014/main" val="10002"/>
                  </a:ext>
                </a:extLst>
              </a:tr>
              <a:tr h="457200">
                <a:tc>
                  <a:txBody>
                    <a:bodyPr/>
                    <a:lstStyle/>
                    <a:p>
                      <a:pPr algn="l">
                        <a:spcAft>
                          <a:spcPts val="0"/>
                        </a:spcAft>
                      </a:pPr>
                      <a:r>
                        <a:rPr sz="1400" b="1" i="0">
                          <a:solidFill>
                            <a:srgbClr val="2E8B57"/>
                          </a:solidFill>
                          <a:latin typeface="Calibri"/>
                        </a:rPr>
                        <a:t>Normal</a:t>
                      </a:r>
                    </a:p>
                  </a:txBody>
                  <a:tcPr anchor="ctr">
                    <a:solidFill>
                      <a:srgbClr val="E8F0F8"/>
                    </a:solidFill>
                  </a:tcPr>
                </a:tc>
                <a:tc>
                  <a:txBody>
                    <a:bodyPr/>
                    <a:lstStyle/>
                    <a:p>
                      <a:pPr algn="l">
                        <a:spcAft>
                          <a:spcPts val="0"/>
                        </a:spcAft>
                      </a:pPr>
                      <a:r>
                        <a:rPr sz="1300" b="0" i="0">
                          <a:solidFill>
                            <a:srgbClr val="1B2A41"/>
                          </a:solidFill>
                          <a:latin typeface="Courier New"/>
                        </a:rPr>
                        <a:t>1</a:t>
                      </a:r>
                    </a:p>
                  </a:txBody>
                  <a:tcPr anchor="ctr">
                    <a:solidFill>
                      <a:srgbClr val="E8F0F8"/>
                    </a:solidFill>
                  </a:tcPr>
                </a:tc>
                <a:tc>
                  <a:txBody>
                    <a:bodyPr/>
                    <a:lstStyle/>
                    <a:p>
                      <a:pPr algn="l">
                        <a:spcAft>
                          <a:spcPts val="0"/>
                        </a:spcAft>
                      </a:pPr>
                      <a:r>
                        <a:rPr sz="1300" b="0" i="0">
                          <a:solidFill>
                            <a:srgbClr val="1B2A41"/>
                          </a:solidFill>
                          <a:latin typeface="Courier New"/>
                        </a:rPr>
                        <a:t>1</a:t>
                      </a:r>
                    </a:p>
                  </a:txBody>
                  <a:tcPr anchor="ctr">
                    <a:solidFill>
                      <a:srgbClr val="E8F0F8"/>
                    </a:solidFill>
                  </a:tcPr>
                </a:tc>
                <a:tc>
                  <a:txBody>
                    <a:bodyPr/>
                    <a:lstStyle/>
                    <a:p>
                      <a:pPr algn="l">
                        <a:spcAft>
                          <a:spcPts val="0"/>
                        </a:spcAft>
                      </a:pPr>
                      <a:r>
                        <a:rPr sz="1300" b="0" i="0">
                          <a:solidFill>
                            <a:srgbClr val="1B2A41"/>
                          </a:solidFill>
                          <a:latin typeface="Courier New"/>
                        </a:rPr>
                        <a:t>Hypotenuse: 1.41 m</a:t>
                      </a:r>
                    </a:p>
                  </a:txBody>
                  <a:tcPr anchor="ctr">
                    <a:solidFill>
                      <a:srgbClr val="E8F0F8"/>
                    </a:solidFill>
                  </a:tcPr>
                </a:tc>
                <a:tc>
                  <a:txBody>
                    <a:bodyPr/>
                    <a:lstStyle/>
                    <a:p>
                      <a:pPr algn="l">
                        <a:spcAft>
                          <a:spcPts val="0"/>
                        </a:spcAft>
                      </a:pPr>
                      <a:endParaRPr/>
                    </a:p>
                  </a:txBody>
                  <a:tcPr anchor="ctr">
                    <a:solidFill>
                      <a:srgbClr val="FFF4D6"/>
                    </a:solidFill>
                  </a:tcPr>
                </a:tc>
                <a:extLst>
                  <a:ext uri="{0D108BD9-81ED-4DB2-BD59-A6C34878D82A}">
                    <a16:rowId xmlns:a16="http://schemas.microsoft.com/office/drawing/2014/main" val="10003"/>
                  </a:ext>
                </a:extLst>
              </a:tr>
              <a:tr h="457200">
                <a:tc>
                  <a:txBody>
                    <a:bodyPr/>
                    <a:lstStyle/>
                    <a:p>
                      <a:pPr algn="l">
                        <a:spcAft>
                          <a:spcPts val="0"/>
                        </a:spcAft>
                      </a:pPr>
                      <a:r>
                        <a:rPr sz="1400" b="1" i="0">
                          <a:solidFill>
                            <a:srgbClr val="C9780A"/>
                          </a:solidFill>
                          <a:latin typeface="Calibri"/>
                        </a:rPr>
                        <a:t>Boundary</a:t>
                      </a:r>
                    </a:p>
                  </a:txBody>
                  <a:tcPr anchor="ctr">
                    <a:solidFill>
                      <a:srgbClr val="FFFFFF"/>
                    </a:solidFill>
                  </a:tcPr>
                </a:tc>
                <a:tc>
                  <a:txBody>
                    <a:bodyPr/>
                    <a:lstStyle/>
                    <a:p>
                      <a:pPr algn="l">
                        <a:spcAft>
                          <a:spcPts val="0"/>
                        </a:spcAft>
                      </a:pPr>
                      <a:r>
                        <a:rPr sz="1300" b="0" i="0">
                          <a:solidFill>
                            <a:srgbClr val="1B2A41"/>
                          </a:solidFill>
                          <a:latin typeface="Courier New"/>
                        </a:rPr>
                        <a:t>0.01</a:t>
                      </a:r>
                    </a:p>
                  </a:txBody>
                  <a:tcPr anchor="ctr">
                    <a:solidFill>
                      <a:srgbClr val="FFFFFF"/>
                    </a:solidFill>
                  </a:tcPr>
                </a:tc>
                <a:tc>
                  <a:txBody>
                    <a:bodyPr/>
                    <a:lstStyle/>
                    <a:p>
                      <a:pPr algn="l">
                        <a:spcAft>
                          <a:spcPts val="0"/>
                        </a:spcAft>
                      </a:pPr>
                      <a:r>
                        <a:rPr sz="1300" b="0" i="0">
                          <a:solidFill>
                            <a:srgbClr val="1B2A41"/>
                          </a:solidFill>
                          <a:latin typeface="Courier New"/>
                        </a:rPr>
                        <a:t>0.01</a:t>
                      </a:r>
                    </a:p>
                  </a:txBody>
                  <a:tcPr anchor="ctr">
                    <a:solidFill>
                      <a:srgbClr val="FFFFFF"/>
                    </a:solidFill>
                  </a:tcPr>
                </a:tc>
                <a:tc>
                  <a:txBody>
                    <a:bodyPr/>
                    <a:lstStyle/>
                    <a:p>
                      <a:pPr algn="l">
                        <a:spcAft>
                          <a:spcPts val="0"/>
                        </a:spcAft>
                      </a:pPr>
                      <a:r>
                        <a:rPr sz="1300" b="0" i="0">
                          <a:solidFill>
                            <a:srgbClr val="1B2A41"/>
                          </a:solidFill>
                          <a:latin typeface="Courier New"/>
                        </a:rPr>
                        <a:t>Hypotenuse: 0.01 m</a:t>
                      </a:r>
                    </a:p>
                  </a:txBody>
                  <a:tcPr anchor="ctr">
                    <a:solidFill>
                      <a:srgbClr val="FFFFFF"/>
                    </a:solidFill>
                  </a:tcPr>
                </a:tc>
                <a:tc>
                  <a:txBody>
                    <a:bodyPr/>
                    <a:lstStyle/>
                    <a:p>
                      <a:pPr algn="l">
                        <a:spcAft>
                          <a:spcPts val="0"/>
                        </a:spcAft>
                      </a:pPr>
                      <a:endParaRPr/>
                    </a:p>
                  </a:txBody>
                  <a:tcPr anchor="ctr">
                    <a:solidFill>
                      <a:srgbClr val="FFF4D6"/>
                    </a:solidFill>
                  </a:tcPr>
                </a:tc>
                <a:extLst>
                  <a:ext uri="{0D108BD9-81ED-4DB2-BD59-A6C34878D82A}">
                    <a16:rowId xmlns:a16="http://schemas.microsoft.com/office/drawing/2014/main" val="10004"/>
                  </a:ext>
                </a:extLst>
              </a:tr>
              <a:tr h="457200">
                <a:tc>
                  <a:txBody>
                    <a:bodyPr/>
                    <a:lstStyle/>
                    <a:p>
                      <a:pPr algn="l">
                        <a:spcAft>
                          <a:spcPts val="0"/>
                        </a:spcAft>
                      </a:pPr>
                      <a:r>
                        <a:rPr sz="1400" b="1" i="0">
                          <a:solidFill>
                            <a:srgbClr val="C9780A"/>
                          </a:solidFill>
                          <a:latin typeface="Calibri"/>
                        </a:rPr>
                        <a:t>Boundary</a:t>
                      </a:r>
                    </a:p>
                  </a:txBody>
                  <a:tcPr anchor="ctr">
                    <a:solidFill>
                      <a:srgbClr val="E8F0F8"/>
                    </a:solidFill>
                  </a:tcPr>
                </a:tc>
                <a:tc>
                  <a:txBody>
                    <a:bodyPr/>
                    <a:lstStyle/>
                    <a:p>
                      <a:pPr algn="l">
                        <a:spcAft>
                          <a:spcPts val="0"/>
                        </a:spcAft>
                      </a:pPr>
                      <a:r>
                        <a:rPr sz="1300" b="0" i="0">
                          <a:solidFill>
                            <a:srgbClr val="1B2A41"/>
                          </a:solidFill>
                          <a:latin typeface="Courier New"/>
                        </a:rPr>
                        <a:t>0</a:t>
                      </a:r>
                    </a:p>
                  </a:txBody>
                  <a:tcPr anchor="ctr">
                    <a:solidFill>
                      <a:srgbClr val="E8F0F8"/>
                    </a:solidFill>
                  </a:tcPr>
                </a:tc>
                <a:tc>
                  <a:txBody>
                    <a:bodyPr/>
                    <a:lstStyle/>
                    <a:p>
                      <a:pPr algn="l">
                        <a:spcAft>
                          <a:spcPts val="0"/>
                        </a:spcAft>
                      </a:pPr>
                      <a:r>
                        <a:rPr sz="1300" b="0" i="0">
                          <a:solidFill>
                            <a:srgbClr val="1B2A41"/>
                          </a:solidFill>
                          <a:latin typeface="Courier New"/>
                        </a:rPr>
                        <a:t>4</a:t>
                      </a:r>
                    </a:p>
                  </a:txBody>
                  <a:tcPr anchor="ctr">
                    <a:solidFill>
                      <a:srgbClr val="E8F0F8"/>
                    </a:solidFill>
                  </a:tcPr>
                </a:tc>
                <a:tc>
                  <a:txBody>
                    <a:bodyPr/>
                    <a:lstStyle/>
                    <a:p>
                      <a:pPr algn="l">
                        <a:spcAft>
                          <a:spcPts val="0"/>
                        </a:spcAft>
                      </a:pPr>
                      <a:r>
                        <a:rPr sz="1300" b="0" i="0">
                          <a:solidFill>
                            <a:srgbClr val="1B2A41"/>
                          </a:solidFill>
                          <a:latin typeface="Courier New"/>
                        </a:rPr>
                        <a:t>Side a must be greater than zero.</a:t>
                      </a:r>
                    </a:p>
                  </a:txBody>
                  <a:tcPr anchor="ctr">
                    <a:solidFill>
                      <a:srgbClr val="E8F0F8"/>
                    </a:solidFill>
                  </a:tcPr>
                </a:tc>
                <a:tc>
                  <a:txBody>
                    <a:bodyPr/>
                    <a:lstStyle/>
                    <a:p>
                      <a:pPr algn="l">
                        <a:spcAft>
                          <a:spcPts val="0"/>
                        </a:spcAft>
                      </a:pPr>
                      <a:endParaRPr/>
                    </a:p>
                  </a:txBody>
                  <a:tcPr anchor="ctr">
                    <a:solidFill>
                      <a:srgbClr val="FFF4D6"/>
                    </a:solidFill>
                  </a:tcPr>
                </a:tc>
                <a:extLst>
                  <a:ext uri="{0D108BD9-81ED-4DB2-BD59-A6C34878D82A}">
                    <a16:rowId xmlns:a16="http://schemas.microsoft.com/office/drawing/2014/main" val="10005"/>
                  </a:ext>
                </a:extLst>
              </a:tr>
              <a:tr h="457200">
                <a:tc>
                  <a:txBody>
                    <a:bodyPr/>
                    <a:lstStyle/>
                    <a:p>
                      <a:pPr algn="l">
                        <a:spcAft>
                          <a:spcPts val="0"/>
                        </a:spcAft>
                      </a:pPr>
                      <a:r>
                        <a:rPr sz="1400" b="1" i="0">
                          <a:solidFill>
                            <a:srgbClr val="C9780A"/>
                          </a:solidFill>
                          <a:latin typeface="Calibri"/>
                        </a:rPr>
                        <a:t>Boundary</a:t>
                      </a:r>
                    </a:p>
                  </a:txBody>
                  <a:tcPr anchor="ctr">
                    <a:solidFill>
                      <a:srgbClr val="FFFFFF"/>
                    </a:solidFill>
                  </a:tcPr>
                </a:tc>
                <a:tc>
                  <a:txBody>
                    <a:bodyPr/>
                    <a:lstStyle/>
                    <a:p>
                      <a:pPr algn="l">
                        <a:spcAft>
                          <a:spcPts val="0"/>
                        </a:spcAft>
                      </a:pPr>
                      <a:r>
                        <a:rPr sz="1300" b="0" i="0">
                          <a:solidFill>
                            <a:srgbClr val="1B2A41"/>
                          </a:solidFill>
                          <a:latin typeface="Courier New"/>
                        </a:rPr>
                        <a:t>3</a:t>
                      </a:r>
                    </a:p>
                  </a:txBody>
                  <a:tcPr anchor="ctr">
                    <a:solidFill>
                      <a:srgbClr val="FFFFFF"/>
                    </a:solidFill>
                  </a:tcPr>
                </a:tc>
                <a:tc>
                  <a:txBody>
                    <a:bodyPr/>
                    <a:lstStyle/>
                    <a:p>
                      <a:pPr algn="l">
                        <a:spcAft>
                          <a:spcPts val="0"/>
                        </a:spcAft>
                      </a:pPr>
                      <a:r>
                        <a:rPr sz="1300" b="0" i="0">
                          <a:solidFill>
                            <a:srgbClr val="1B2A41"/>
                          </a:solidFill>
                          <a:latin typeface="Courier New"/>
                        </a:rPr>
                        <a:t>0</a:t>
                      </a:r>
                    </a:p>
                  </a:txBody>
                  <a:tcPr anchor="ctr">
                    <a:solidFill>
                      <a:srgbClr val="FFFFFF"/>
                    </a:solidFill>
                  </a:tcPr>
                </a:tc>
                <a:tc>
                  <a:txBody>
                    <a:bodyPr/>
                    <a:lstStyle/>
                    <a:p>
                      <a:pPr algn="l">
                        <a:spcAft>
                          <a:spcPts val="0"/>
                        </a:spcAft>
                      </a:pPr>
                      <a:r>
                        <a:rPr sz="1300" b="0" i="0">
                          <a:solidFill>
                            <a:srgbClr val="1B2A41"/>
                          </a:solidFill>
                          <a:latin typeface="Courier New"/>
                        </a:rPr>
                        <a:t>Side b must be greater than zero.</a:t>
                      </a:r>
                    </a:p>
                  </a:txBody>
                  <a:tcPr anchor="ctr">
                    <a:solidFill>
                      <a:srgbClr val="FFFFFF"/>
                    </a:solidFill>
                  </a:tcPr>
                </a:tc>
                <a:tc>
                  <a:txBody>
                    <a:bodyPr/>
                    <a:lstStyle/>
                    <a:p>
                      <a:pPr algn="l">
                        <a:spcAft>
                          <a:spcPts val="0"/>
                        </a:spcAft>
                      </a:pPr>
                      <a:endParaRPr/>
                    </a:p>
                  </a:txBody>
                  <a:tcPr anchor="ctr">
                    <a:solidFill>
                      <a:srgbClr val="FFF4D6"/>
                    </a:solidFill>
                  </a:tcPr>
                </a:tc>
                <a:extLst>
                  <a:ext uri="{0D108BD9-81ED-4DB2-BD59-A6C34878D82A}">
                    <a16:rowId xmlns:a16="http://schemas.microsoft.com/office/drawing/2014/main" val="10006"/>
                  </a:ext>
                </a:extLst>
              </a:tr>
              <a:tr h="457200">
                <a:tc>
                  <a:txBody>
                    <a:bodyPr/>
                    <a:lstStyle/>
                    <a:p>
                      <a:pPr algn="l">
                        <a:spcAft>
                          <a:spcPts val="0"/>
                        </a:spcAft>
                      </a:pPr>
                      <a:r>
                        <a:rPr sz="1400" b="1" i="0">
                          <a:solidFill>
                            <a:srgbClr val="E31E3B"/>
                          </a:solidFill>
                          <a:latin typeface="Calibri"/>
                        </a:rPr>
                        <a:t>Invalid</a:t>
                      </a:r>
                    </a:p>
                  </a:txBody>
                  <a:tcPr anchor="ctr">
                    <a:solidFill>
                      <a:srgbClr val="E8F0F8"/>
                    </a:solidFill>
                  </a:tcPr>
                </a:tc>
                <a:tc>
                  <a:txBody>
                    <a:bodyPr/>
                    <a:lstStyle/>
                    <a:p>
                      <a:pPr algn="l">
                        <a:spcAft>
                          <a:spcPts val="0"/>
                        </a:spcAft>
                      </a:pPr>
                      <a:r>
                        <a:rPr sz="1300" b="0" i="0">
                          <a:solidFill>
                            <a:srgbClr val="1B2A41"/>
                          </a:solidFill>
                          <a:latin typeface="Courier New"/>
                        </a:rPr>
                        <a:t>-3</a:t>
                      </a:r>
                    </a:p>
                  </a:txBody>
                  <a:tcPr anchor="ctr">
                    <a:solidFill>
                      <a:srgbClr val="E8F0F8"/>
                    </a:solidFill>
                  </a:tcPr>
                </a:tc>
                <a:tc>
                  <a:txBody>
                    <a:bodyPr/>
                    <a:lstStyle/>
                    <a:p>
                      <a:pPr algn="l">
                        <a:spcAft>
                          <a:spcPts val="0"/>
                        </a:spcAft>
                      </a:pPr>
                      <a:r>
                        <a:rPr sz="1300" b="0" i="0">
                          <a:solidFill>
                            <a:srgbClr val="1B2A41"/>
                          </a:solidFill>
                          <a:latin typeface="Courier New"/>
                        </a:rPr>
                        <a:t>4</a:t>
                      </a:r>
                    </a:p>
                  </a:txBody>
                  <a:tcPr anchor="ctr">
                    <a:solidFill>
                      <a:srgbClr val="E8F0F8"/>
                    </a:solidFill>
                  </a:tcPr>
                </a:tc>
                <a:tc>
                  <a:txBody>
                    <a:bodyPr/>
                    <a:lstStyle/>
                    <a:p>
                      <a:pPr algn="l">
                        <a:spcAft>
                          <a:spcPts val="0"/>
                        </a:spcAft>
                      </a:pPr>
                      <a:r>
                        <a:rPr sz="1300" b="0" i="0">
                          <a:solidFill>
                            <a:srgbClr val="1B2A41"/>
                          </a:solidFill>
                          <a:latin typeface="Courier New"/>
                        </a:rPr>
                        <a:t>Side a must be greater than zero.</a:t>
                      </a:r>
                    </a:p>
                  </a:txBody>
                  <a:tcPr anchor="ctr">
                    <a:solidFill>
                      <a:srgbClr val="E8F0F8"/>
                    </a:solidFill>
                  </a:tcPr>
                </a:tc>
                <a:tc>
                  <a:txBody>
                    <a:bodyPr/>
                    <a:lstStyle/>
                    <a:p>
                      <a:pPr algn="l">
                        <a:spcAft>
                          <a:spcPts val="0"/>
                        </a:spcAft>
                      </a:pPr>
                      <a:endParaRPr/>
                    </a:p>
                  </a:txBody>
                  <a:tcPr anchor="ctr">
                    <a:solidFill>
                      <a:srgbClr val="FFF4D6"/>
                    </a:solidFill>
                  </a:tcPr>
                </a:tc>
                <a:extLst>
                  <a:ext uri="{0D108BD9-81ED-4DB2-BD59-A6C34878D82A}">
                    <a16:rowId xmlns:a16="http://schemas.microsoft.com/office/drawing/2014/main" val="10007"/>
                  </a:ext>
                </a:extLst>
              </a:tr>
              <a:tr h="457200">
                <a:tc>
                  <a:txBody>
                    <a:bodyPr/>
                    <a:lstStyle/>
                    <a:p>
                      <a:pPr algn="l">
                        <a:spcAft>
                          <a:spcPts val="0"/>
                        </a:spcAft>
                      </a:pPr>
                      <a:r>
                        <a:rPr sz="1400" b="1" i="0">
                          <a:solidFill>
                            <a:srgbClr val="E31E3B"/>
                          </a:solidFill>
                          <a:latin typeface="Calibri"/>
                        </a:rPr>
                        <a:t>Invalid</a:t>
                      </a:r>
                    </a:p>
                  </a:txBody>
                  <a:tcPr anchor="ctr">
                    <a:solidFill>
                      <a:srgbClr val="FFFFFF"/>
                    </a:solidFill>
                  </a:tcPr>
                </a:tc>
                <a:tc>
                  <a:txBody>
                    <a:bodyPr/>
                    <a:lstStyle/>
                    <a:p>
                      <a:pPr algn="l">
                        <a:spcAft>
                          <a:spcPts val="0"/>
                        </a:spcAft>
                      </a:pPr>
                      <a:r>
                        <a:rPr sz="1300" b="0" i="0">
                          <a:solidFill>
                            <a:srgbClr val="1B2A41"/>
                          </a:solidFill>
                          <a:latin typeface="Courier New"/>
                        </a:rPr>
                        <a:t>abc</a:t>
                      </a:r>
                    </a:p>
                  </a:txBody>
                  <a:tcPr anchor="ctr">
                    <a:solidFill>
                      <a:srgbClr val="FFFFFF"/>
                    </a:solidFill>
                  </a:tcPr>
                </a:tc>
                <a:tc>
                  <a:txBody>
                    <a:bodyPr/>
                    <a:lstStyle/>
                    <a:p>
                      <a:pPr algn="l">
                        <a:spcAft>
                          <a:spcPts val="0"/>
                        </a:spcAft>
                      </a:pPr>
                      <a:r>
                        <a:rPr sz="1300" b="0" i="0">
                          <a:solidFill>
                            <a:srgbClr val="1B2A41"/>
                          </a:solidFill>
                          <a:latin typeface="Courier New"/>
                        </a:rPr>
                        <a:t>4</a:t>
                      </a:r>
                    </a:p>
                  </a:txBody>
                  <a:tcPr anchor="ctr">
                    <a:solidFill>
                      <a:srgbClr val="FFFFFF"/>
                    </a:solidFill>
                  </a:tcPr>
                </a:tc>
                <a:tc>
                  <a:txBody>
                    <a:bodyPr/>
                    <a:lstStyle/>
                    <a:p>
                      <a:pPr algn="l">
                        <a:spcAft>
                          <a:spcPts val="0"/>
                        </a:spcAft>
                      </a:pPr>
                      <a:r>
                        <a:rPr sz="1300" b="0" i="0">
                          <a:solidFill>
                            <a:srgbClr val="1B2A41"/>
                          </a:solidFill>
                          <a:latin typeface="Courier New"/>
                        </a:rPr>
                        <a:t>ValueError (the program stops)</a:t>
                      </a:r>
                    </a:p>
                  </a:txBody>
                  <a:tcPr anchor="ctr">
                    <a:solidFill>
                      <a:srgbClr val="FFFFFF"/>
                    </a:solidFill>
                  </a:tcPr>
                </a:tc>
                <a:tc>
                  <a:txBody>
                    <a:bodyPr/>
                    <a:lstStyle/>
                    <a:p>
                      <a:pPr algn="l">
                        <a:spcAft>
                          <a:spcPts val="0"/>
                        </a:spcAft>
                      </a:pPr>
                      <a:endParaRPr/>
                    </a:p>
                  </a:txBody>
                  <a:tcPr anchor="ctr">
                    <a:solidFill>
                      <a:srgbClr val="FFF4D6"/>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548640" y="5440680"/>
            <a:ext cx="11091672" cy="365760"/>
          </a:xfrm>
          <a:prstGeom prst="rect">
            <a:avLst/>
          </a:prstGeom>
          <a:noFill/>
        </p:spPr>
        <p:txBody>
          <a:bodyPr wrap="square" lIns="45720" rIns="45720" anchor="t">
            <a:spAutoFit/>
          </a:bodyPr>
          <a:lstStyle/>
          <a:p>
            <a:pPr algn="l">
              <a:spcAft>
                <a:spcPts val="400"/>
              </a:spcAft>
            </a:pPr>
            <a:r>
              <a:rPr sz="1400" b="1" i="0">
                <a:solidFill>
                  <a:srgbClr val="085797"/>
                </a:solidFill>
                <a:latin typeface="Calibri"/>
              </a:rPr>
              <a:t>Copy it into 05_test_table.md and fill in the yellow column after you run each test.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9079992" cy="822960"/>
          </a:xfrm>
        </p:spPr>
        <p:txBody>
          <a:bodyPr wrap="square" anchor="ctr"/>
          <a:lstStyle/>
          <a:p>
            <a:pPr algn="l"/>
            <a:r>
              <a:rPr sz="3200" b="1">
                <a:solidFill>
                  <a:srgbClr val="085797"/>
                </a:solidFill>
                <a:latin typeface="Calibri"/>
              </a:rPr>
              <a:t>Reading error messages</a:t>
            </a:r>
          </a:p>
        </p:txBody>
      </p:sp>
      <p:sp>
        <p:nvSpPr>
          <p:cNvPr id="3" name="Rounded Rectangle 2"/>
          <p:cNvSpPr/>
          <p:nvPr/>
        </p:nvSpPr>
        <p:spPr>
          <a:xfrm>
            <a:off x="9811512" y="457200"/>
            <a:ext cx="18288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Debugging</a:t>
            </a:r>
          </a:p>
        </p:txBody>
      </p:sp>
      <p:graphicFrame>
        <p:nvGraphicFramePr>
          <p:cNvPr id="4" name="Table 3"/>
          <p:cNvGraphicFramePr>
            <a:graphicFrameLocks noGrp="1"/>
          </p:cNvGraphicFramePr>
          <p:nvPr/>
        </p:nvGraphicFramePr>
        <p:xfrm>
          <a:off x="548640" y="1280160"/>
          <a:ext cx="11091672" cy="4114800"/>
        </p:xfrm>
        <a:graphic>
          <a:graphicData uri="http://schemas.openxmlformats.org/drawingml/2006/table">
            <a:tbl>
              <a:tblPr>
                <a:tableStyleId>{5C22544A-7EE6-4342-B048-85BDC9FD1C3A}</a:tableStyleId>
              </a:tblPr>
              <a:tblGrid>
                <a:gridCol w="44805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319272">
                  <a:extLst>
                    <a:ext uri="{9D8B030D-6E8A-4147-A177-3AD203B41FA5}">
                      <a16:colId xmlns:a16="http://schemas.microsoft.com/office/drawing/2014/main" val="20002"/>
                    </a:ext>
                  </a:extLst>
                </a:gridCol>
              </a:tblGrid>
              <a:tr h="457200">
                <a:tc>
                  <a:txBody>
                    <a:bodyPr/>
                    <a:lstStyle/>
                    <a:p>
                      <a:pPr algn="l">
                        <a:spcAft>
                          <a:spcPts val="0"/>
                        </a:spcAft>
                      </a:pPr>
                      <a:r>
                        <a:rPr sz="1200" b="1" i="0">
                          <a:solidFill>
                            <a:srgbClr val="FFFFFF"/>
                          </a:solidFill>
                          <a:latin typeface="Calibri"/>
                        </a:rPr>
                        <a:t>Message</a:t>
                      </a:r>
                    </a:p>
                  </a:txBody>
                  <a:tcPr anchor="ctr">
                    <a:solidFill>
                      <a:srgbClr val="085797"/>
                    </a:solidFill>
                  </a:tcPr>
                </a:tc>
                <a:tc>
                  <a:txBody>
                    <a:bodyPr/>
                    <a:lstStyle/>
                    <a:p>
                      <a:pPr algn="l">
                        <a:spcAft>
                          <a:spcPts val="0"/>
                        </a:spcAft>
                      </a:pPr>
                      <a:r>
                        <a:rPr sz="1200" b="1" i="0">
                          <a:solidFill>
                            <a:srgbClr val="FFFFFF"/>
                          </a:solidFill>
                          <a:latin typeface="Calibri"/>
                        </a:rPr>
                        <a:t>What went wrong</a:t>
                      </a:r>
                    </a:p>
                  </a:txBody>
                  <a:tcPr anchor="ctr">
                    <a:solidFill>
                      <a:srgbClr val="085797"/>
                    </a:solidFill>
                  </a:tcPr>
                </a:tc>
                <a:tc>
                  <a:txBody>
                    <a:bodyPr/>
                    <a:lstStyle/>
                    <a:p>
                      <a:pPr algn="l">
                        <a:spcAft>
                          <a:spcPts val="0"/>
                        </a:spcAft>
                      </a:pPr>
                      <a:r>
                        <a:rPr sz="1200" b="1" i="0">
                          <a:solidFill>
                            <a:srgbClr val="FFFFFF"/>
                          </a:solidFill>
                          <a:latin typeface="Calibri"/>
                        </a:rPr>
                        <a:t>Fix</a:t>
                      </a:r>
                    </a:p>
                  </a:txBody>
                  <a:tcPr anchor="ctr">
                    <a:solidFill>
                      <a:srgbClr val="085797"/>
                    </a:solidFill>
                  </a:tcPr>
                </a:tc>
                <a:extLst>
                  <a:ext uri="{0D108BD9-81ED-4DB2-BD59-A6C34878D82A}">
                    <a16:rowId xmlns:a16="http://schemas.microsoft.com/office/drawing/2014/main" val="10000"/>
                  </a:ext>
                </a:extLst>
              </a:tr>
              <a:tr h="457200">
                <a:tc>
                  <a:txBody>
                    <a:bodyPr/>
                    <a:lstStyle/>
                    <a:p>
                      <a:pPr algn="l">
                        <a:spcAft>
                          <a:spcPts val="0"/>
                        </a:spcAft>
                      </a:pPr>
                      <a:r>
                        <a:rPr sz="1100" b="0" i="0">
                          <a:solidFill>
                            <a:srgbClr val="E31E3B"/>
                          </a:solidFill>
                          <a:latin typeface="Courier New"/>
                        </a:rPr>
                        <a:t>TypeError: can only concatenate str</a:t>
                      </a:r>
                    </a:p>
                  </a:txBody>
                  <a:tcPr anchor="ctr">
                    <a:solidFill>
                      <a:srgbClr val="E8F0F8"/>
                    </a:solidFill>
                  </a:tcPr>
                </a:tc>
                <a:tc>
                  <a:txBody>
                    <a:bodyPr/>
                    <a:lstStyle/>
                    <a:p>
                      <a:pPr algn="l">
                        <a:spcAft>
                          <a:spcPts val="0"/>
                        </a:spcAft>
                      </a:pPr>
                      <a:r>
                        <a:rPr sz="1200" b="0" i="0">
                          <a:solidFill>
                            <a:srgbClr val="1B2A41"/>
                          </a:solidFill>
                          <a:latin typeface="Calibri"/>
                        </a:rPr>
                        <a:t>Joined text and a number with +</a:t>
                      </a:r>
                    </a:p>
                  </a:txBody>
                  <a:tcPr anchor="ctr">
                    <a:solidFill>
                      <a:srgbClr val="E8F0F8"/>
                    </a:solidFill>
                  </a:tcPr>
                </a:tc>
                <a:tc>
                  <a:txBody>
                    <a:bodyPr/>
                    <a:lstStyle/>
                    <a:p>
                      <a:pPr algn="l">
                        <a:spcAft>
                          <a:spcPts val="0"/>
                        </a:spcAft>
                      </a:pPr>
                      <a:r>
                        <a:rPr sz="1200" b="0" i="0">
                          <a:solidFill>
                            <a:srgbClr val="1B2A41"/>
                          </a:solidFill>
                          <a:latin typeface="Calibri"/>
                        </a:rPr>
                        <a:t>Use str(), or give print() several values</a:t>
                      </a:r>
                    </a:p>
                  </a:txBody>
                  <a:tcPr anchor="ctr">
                    <a:solidFill>
                      <a:srgbClr val="E8F0F8"/>
                    </a:solidFill>
                  </a:tcPr>
                </a:tc>
                <a:extLst>
                  <a:ext uri="{0D108BD9-81ED-4DB2-BD59-A6C34878D82A}">
                    <a16:rowId xmlns:a16="http://schemas.microsoft.com/office/drawing/2014/main" val="10001"/>
                  </a:ext>
                </a:extLst>
              </a:tr>
              <a:tr h="457200">
                <a:tc>
                  <a:txBody>
                    <a:bodyPr/>
                    <a:lstStyle/>
                    <a:p>
                      <a:pPr algn="l">
                        <a:spcAft>
                          <a:spcPts val="0"/>
                        </a:spcAft>
                      </a:pPr>
                      <a:r>
                        <a:rPr sz="1100" b="0" i="0">
                          <a:solidFill>
                            <a:srgbClr val="E31E3B"/>
                          </a:solidFill>
                          <a:latin typeface="Courier New"/>
                        </a:rPr>
                        <a:t>TypeError: unsupported operand ... 'int' and 'str'</a:t>
                      </a:r>
                    </a:p>
                  </a:txBody>
                  <a:tcPr anchor="ctr">
                    <a:solidFill>
                      <a:srgbClr val="FFFFFF"/>
                    </a:solidFill>
                  </a:tcPr>
                </a:tc>
                <a:tc>
                  <a:txBody>
                    <a:bodyPr/>
                    <a:lstStyle/>
                    <a:p>
                      <a:pPr algn="l">
                        <a:spcAft>
                          <a:spcPts val="0"/>
                        </a:spcAft>
                      </a:pPr>
                      <a:r>
                        <a:rPr sz="1200" b="0" i="0">
                          <a:solidFill>
                            <a:srgbClr val="1B2A41"/>
                          </a:solidFill>
                          <a:latin typeface="Calibri"/>
                        </a:rPr>
                        <a:t>Calculated with text from input()</a:t>
                      </a:r>
                    </a:p>
                  </a:txBody>
                  <a:tcPr anchor="ctr">
                    <a:solidFill>
                      <a:srgbClr val="FFFFFF"/>
                    </a:solidFill>
                  </a:tcPr>
                </a:tc>
                <a:tc>
                  <a:txBody>
                    <a:bodyPr/>
                    <a:lstStyle/>
                    <a:p>
                      <a:pPr algn="l">
                        <a:spcAft>
                          <a:spcPts val="0"/>
                        </a:spcAft>
                      </a:pPr>
                      <a:r>
                        <a:rPr sz="1200" b="0" i="0">
                          <a:solidFill>
                            <a:srgbClr val="1B2A41"/>
                          </a:solidFill>
                          <a:latin typeface="Calibri"/>
                        </a:rPr>
                        <a:t>Convert with int() or float()</a:t>
                      </a:r>
                    </a:p>
                  </a:txBody>
                  <a:tcPr anchor="ctr">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100" b="0" i="0">
                          <a:solidFill>
                            <a:srgbClr val="E31E3B"/>
                          </a:solidFill>
                          <a:latin typeface="Courier New"/>
                        </a:rPr>
                        <a:t>ValueError: invalid literal for int()</a:t>
                      </a:r>
                    </a:p>
                  </a:txBody>
                  <a:tcPr anchor="ctr">
                    <a:solidFill>
                      <a:srgbClr val="E8F0F8"/>
                    </a:solidFill>
                  </a:tcPr>
                </a:tc>
                <a:tc>
                  <a:txBody>
                    <a:bodyPr/>
                    <a:lstStyle/>
                    <a:p>
                      <a:pPr algn="l">
                        <a:spcAft>
                          <a:spcPts val="0"/>
                        </a:spcAft>
                      </a:pPr>
                      <a:r>
                        <a:rPr sz="1200" b="0" i="0">
                          <a:solidFill>
                            <a:srgbClr val="1B2A41"/>
                          </a:solidFill>
                          <a:latin typeface="Calibri"/>
                        </a:rPr>
                        <a:t>Text is not a whole number</a:t>
                      </a:r>
                    </a:p>
                  </a:txBody>
                  <a:tcPr anchor="ctr">
                    <a:solidFill>
                      <a:srgbClr val="E8F0F8"/>
                    </a:solidFill>
                  </a:tcPr>
                </a:tc>
                <a:tc>
                  <a:txBody>
                    <a:bodyPr/>
                    <a:lstStyle/>
                    <a:p>
                      <a:pPr algn="l">
                        <a:spcAft>
                          <a:spcPts val="0"/>
                        </a:spcAft>
                      </a:pPr>
                      <a:r>
                        <a:rPr sz="1200" b="0" i="0">
                          <a:solidFill>
                            <a:srgbClr val="1B2A41"/>
                          </a:solidFill>
                          <a:latin typeface="Calibri"/>
                        </a:rPr>
                        <a:t>Check with isdigit() or ask again</a:t>
                      </a:r>
                    </a:p>
                  </a:txBody>
                  <a:tcPr anchor="ctr">
                    <a:solidFill>
                      <a:srgbClr val="E8F0F8"/>
                    </a:solidFill>
                  </a:tcPr>
                </a:tc>
                <a:extLst>
                  <a:ext uri="{0D108BD9-81ED-4DB2-BD59-A6C34878D82A}">
                    <a16:rowId xmlns:a16="http://schemas.microsoft.com/office/drawing/2014/main" val="10003"/>
                  </a:ext>
                </a:extLst>
              </a:tr>
              <a:tr h="457200">
                <a:tc>
                  <a:txBody>
                    <a:bodyPr/>
                    <a:lstStyle/>
                    <a:p>
                      <a:pPr algn="l">
                        <a:spcAft>
                          <a:spcPts val="0"/>
                        </a:spcAft>
                      </a:pPr>
                      <a:r>
                        <a:rPr sz="1100" b="0" i="0">
                          <a:solidFill>
                            <a:srgbClr val="E31E3B"/>
                          </a:solidFill>
                          <a:latin typeface="Courier New"/>
                        </a:rPr>
                        <a:t>ValueError: could not convert string to float</a:t>
                      </a:r>
                    </a:p>
                  </a:txBody>
                  <a:tcPr anchor="ctr">
                    <a:solidFill>
                      <a:srgbClr val="FFFFFF"/>
                    </a:solidFill>
                  </a:tcPr>
                </a:tc>
                <a:tc>
                  <a:txBody>
                    <a:bodyPr/>
                    <a:lstStyle/>
                    <a:p>
                      <a:pPr algn="l">
                        <a:spcAft>
                          <a:spcPts val="0"/>
                        </a:spcAft>
                      </a:pPr>
                      <a:r>
                        <a:rPr sz="1200" b="0" i="0">
                          <a:solidFill>
                            <a:srgbClr val="1B2A41"/>
                          </a:solidFill>
                          <a:latin typeface="Calibri"/>
                        </a:rPr>
                        <a:t>Letters, or a decimal comma</a:t>
                      </a:r>
                    </a:p>
                  </a:txBody>
                  <a:tcPr anchor="ctr">
                    <a:solidFill>
                      <a:srgbClr val="FFFFFF"/>
                    </a:solidFill>
                  </a:tcPr>
                </a:tc>
                <a:tc>
                  <a:txBody>
                    <a:bodyPr/>
                    <a:lstStyle/>
                    <a:p>
                      <a:pPr algn="l">
                        <a:spcAft>
                          <a:spcPts val="0"/>
                        </a:spcAft>
                      </a:pPr>
                      <a:r>
                        <a:rPr sz="1200" b="0" i="0">
                          <a:solidFill>
                            <a:srgbClr val="1B2A41"/>
                          </a:solidFill>
                          <a:latin typeface="Calibri"/>
                        </a:rPr>
                        <a:t>Type a number with a decimal point</a:t>
                      </a:r>
                    </a:p>
                  </a:txBody>
                  <a:tcPr anchor="ctr">
                    <a:solidFill>
                      <a:srgbClr val="FFFFFF"/>
                    </a:solidFill>
                  </a:tcPr>
                </a:tc>
                <a:extLst>
                  <a:ext uri="{0D108BD9-81ED-4DB2-BD59-A6C34878D82A}">
                    <a16:rowId xmlns:a16="http://schemas.microsoft.com/office/drawing/2014/main" val="10004"/>
                  </a:ext>
                </a:extLst>
              </a:tr>
              <a:tr h="457200">
                <a:tc>
                  <a:txBody>
                    <a:bodyPr/>
                    <a:lstStyle/>
                    <a:p>
                      <a:pPr algn="l">
                        <a:spcAft>
                          <a:spcPts val="0"/>
                        </a:spcAft>
                      </a:pPr>
                      <a:r>
                        <a:rPr sz="1100" b="0" i="0">
                          <a:solidFill>
                            <a:srgbClr val="E31E3B"/>
                          </a:solidFill>
                          <a:latin typeface="Courier New"/>
                        </a:rPr>
                        <a:t>NameError: name 'math' is not defined</a:t>
                      </a:r>
                    </a:p>
                  </a:txBody>
                  <a:tcPr anchor="ctr">
                    <a:solidFill>
                      <a:srgbClr val="E8F0F8"/>
                    </a:solidFill>
                  </a:tcPr>
                </a:tc>
                <a:tc>
                  <a:txBody>
                    <a:bodyPr/>
                    <a:lstStyle/>
                    <a:p>
                      <a:pPr algn="l">
                        <a:spcAft>
                          <a:spcPts val="0"/>
                        </a:spcAft>
                      </a:pPr>
                      <a:r>
                        <a:rPr sz="1200" b="0" i="0">
                          <a:solidFill>
                            <a:srgbClr val="1B2A41"/>
                          </a:solidFill>
                          <a:latin typeface="Calibri"/>
                        </a:rPr>
                        <a:t>Missing import math</a:t>
                      </a:r>
                    </a:p>
                  </a:txBody>
                  <a:tcPr anchor="ctr">
                    <a:solidFill>
                      <a:srgbClr val="E8F0F8"/>
                    </a:solidFill>
                  </a:tcPr>
                </a:tc>
                <a:tc>
                  <a:txBody>
                    <a:bodyPr/>
                    <a:lstStyle/>
                    <a:p>
                      <a:pPr algn="l">
                        <a:spcAft>
                          <a:spcPts val="0"/>
                        </a:spcAft>
                      </a:pPr>
                      <a:r>
                        <a:rPr sz="1200" b="0" i="0">
                          <a:solidFill>
                            <a:srgbClr val="1B2A41"/>
                          </a:solidFill>
                          <a:latin typeface="Calibri"/>
                        </a:rPr>
                        <a:t>Add it as the first line</a:t>
                      </a:r>
                    </a:p>
                  </a:txBody>
                  <a:tcPr anchor="ctr">
                    <a:solidFill>
                      <a:srgbClr val="E8F0F8"/>
                    </a:solidFill>
                  </a:tcPr>
                </a:tc>
                <a:extLst>
                  <a:ext uri="{0D108BD9-81ED-4DB2-BD59-A6C34878D82A}">
                    <a16:rowId xmlns:a16="http://schemas.microsoft.com/office/drawing/2014/main" val="10005"/>
                  </a:ext>
                </a:extLst>
              </a:tr>
              <a:tr h="457200">
                <a:tc>
                  <a:txBody>
                    <a:bodyPr/>
                    <a:lstStyle/>
                    <a:p>
                      <a:pPr algn="l">
                        <a:spcAft>
                          <a:spcPts val="0"/>
                        </a:spcAft>
                      </a:pPr>
                      <a:r>
                        <a:rPr sz="1100" b="0" i="0">
                          <a:solidFill>
                            <a:srgbClr val="E31E3B"/>
                          </a:solidFill>
                          <a:latin typeface="Courier New"/>
                        </a:rPr>
                        <a:t>SyntaxError: invalid character</a:t>
                      </a:r>
                    </a:p>
                  </a:txBody>
                  <a:tcPr anchor="ctr">
                    <a:solidFill>
                      <a:srgbClr val="FFFFFF"/>
                    </a:solidFill>
                  </a:tcPr>
                </a:tc>
                <a:tc>
                  <a:txBody>
                    <a:bodyPr/>
                    <a:lstStyle/>
                    <a:p>
                      <a:pPr algn="l">
                        <a:spcAft>
                          <a:spcPts val="0"/>
                        </a:spcAft>
                      </a:pPr>
                      <a:r>
                        <a:rPr sz="1200" b="0" i="0">
                          <a:solidFill>
                            <a:srgbClr val="1B2A41"/>
                          </a:solidFill>
                          <a:latin typeface="Calibri"/>
                        </a:rPr>
                        <a:t>Curly quotes pasted from Word or a PDF</a:t>
                      </a:r>
                    </a:p>
                  </a:txBody>
                  <a:tcPr anchor="ctr">
                    <a:solidFill>
                      <a:srgbClr val="FFFFFF"/>
                    </a:solidFill>
                  </a:tcPr>
                </a:tc>
                <a:tc>
                  <a:txBody>
                    <a:bodyPr/>
                    <a:lstStyle/>
                    <a:p>
                      <a:pPr algn="l">
                        <a:spcAft>
                          <a:spcPts val="0"/>
                        </a:spcAft>
                      </a:pPr>
                      <a:r>
                        <a:rPr sz="1200" b="0" i="0">
                          <a:solidFill>
                            <a:srgbClr val="1B2A41"/>
                          </a:solidFill>
                          <a:latin typeface="Calibri"/>
                        </a:rPr>
                        <a:t>Retype the quotes in Thonny</a:t>
                      </a:r>
                    </a:p>
                  </a:txBody>
                  <a:tcPr anchor="ctr">
                    <a:solidFill>
                      <a:srgbClr val="FFFFFF"/>
                    </a:solidFill>
                  </a:tcPr>
                </a:tc>
                <a:extLst>
                  <a:ext uri="{0D108BD9-81ED-4DB2-BD59-A6C34878D82A}">
                    <a16:rowId xmlns:a16="http://schemas.microsoft.com/office/drawing/2014/main" val="10006"/>
                  </a:ext>
                </a:extLst>
              </a:tr>
              <a:tr h="457200">
                <a:tc>
                  <a:txBody>
                    <a:bodyPr/>
                    <a:lstStyle/>
                    <a:p>
                      <a:pPr algn="l">
                        <a:spcAft>
                          <a:spcPts val="0"/>
                        </a:spcAft>
                      </a:pPr>
                      <a:r>
                        <a:rPr sz="1100" b="0" i="0">
                          <a:solidFill>
                            <a:srgbClr val="E31E3B"/>
                          </a:solidFill>
                          <a:latin typeface="Courier New"/>
                        </a:rPr>
                        <a:t>IndentationError: expected an indented block</a:t>
                      </a:r>
                    </a:p>
                  </a:txBody>
                  <a:tcPr anchor="ctr">
                    <a:solidFill>
                      <a:srgbClr val="E8F0F8"/>
                    </a:solidFill>
                  </a:tcPr>
                </a:tc>
                <a:tc>
                  <a:txBody>
                    <a:bodyPr/>
                    <a:lstStyle/>
                    <a:p>
                      <a:pPr algn="l">
                        <a:spcAft>
                          <a:spcPts val="0"/>
                        </a:spcAft>
                      </a:pPr>
                      <a:r>
                        <a:rPr sz="1200" b="0" i="0">
                          <a:solidFill>
                            <a:srgbClr val="1B2A41"/>
                          </a:solidFill>
                          <a:latin typeface="Calibri"/>
                        </a:rPr>
                        <a:t>Body of if or else not indented</a:t>
                      </a:r>
                    </a:p>
                  </a:txBody>
                  <a:tcPr anchor="ctr">
                    <a:solidFill>
                      <a:srgbClr val="E8F0F8"/>
                    </a:solidFill>
                  </a:tcPr>
                </a:tc>
                <a:tc>
                  <a:txBody>
                    <a:bodyPr/>
                    <a:lstStyle/>
                    <a:p>
                      <a:pPr algn="l">
                        <a:spcAft>
                          <a:spcPts val="0"/>
                        </a:spcAft>
                      </a:pPr>
                      <a:r>
                        <a:rPr sz="1200" b="0" i="0">
                          <a:solidFill>
                            <a:srgbClr val="1B2A41"/>
                          </a:solidFill>
                          <a:latin typeface="Calibri"/>
                        </a:rPr>
                        <a:t>Indent four spaces</a:t>
                      </a:r>
                    </a:p>
                  </a:txBody>
                  <a:tcPr anchor="ctr">
                    <a:solidFill>
                      <a:srgbClr val="E8F0F8"/>
                    </a:solidFill>
                  </a:tcPr>
                </a:tc>
                <a:extLst>
                  <a:ext uri="{0D108BD9-81ED-4DB2-BD59-A6C34878D82A}">
                    <a16:rowId xmlns:a16="http://schemas.microsoft.com/office/drawing/2014/main" val="10007"/>
                  </a:ext>
                </a:extLst>
              </a:tr>
              <a:tr h="457200">
                <a:tc>
                  <a:txBody>
                    <a:bodyPr/>
                    <a:lstStyle/>
                    <a:p>
                      <a:pPr algn="l">
                        <a:spcAft>
                          <a:spcPts val="0"/>
                        </a:spcAft>
                      </a:pPr>
                      <a:r>
                        <a:rPr sz="1100" b="0" i="0">
                          <a:solidFill>
                            <a:srgbClr val="E31E3B"/>
                          </a:solidFill>
                          <a:latin typeface="Courier New"/>
                        </a:rPr>
                        <a:t>ZeroDivisionError</a:t>
                      </a:r>
                    </a:p>
                  </a:txBody>
                  <a:tcPr anchor="ctr">
                    <a:solidFill>
                      <a:srgbClr val="FFFFFF"/>
                    </a:solidFill>
                  </a:tcPr>
                </a:tc>
                <a:tc>
                  <a:txBody>
                    <a:bodyPr/>
                    <a:lstStyle/>
                    <a:p>
                      <a:pPr algn="l">
                        <a:spcAft>
                          <a:spcPts val="0"/>
                        </a:spcAft>
                      </a:pPr>
                      <a:r>
                        <a:rPr sz="1200" b="0" i="0">
                          <a:solidFill>
                            <a:srgbClr val="1B2A41"/>
                          </a:solidFill>
                          <a:latin typeface="Calibri"/>
                        </a:rPr>
                        <a:t>Divided by zero</a:t>
                      </a:r>
                    </a:p>
                  </a:txBody>
                  <a:tcPr anchor="ctr">
                    <a:solidFill>
                      <a:srgbClr val="FFFFFF"/>
                    </a:solidFill>
                  </a:tcPr>
                </a:tc>
                <a:tc>
                  <a:txBody>
                    <a:bodyPr/>
                    <a:lstStyle/>
                    <a:p>
                      <a:pPr algn="l">
                        <a:spcAft>
                          <a:spcPts val="0"/>
                        </a:spcAft>
                      </a:pPr>
                      <a:r>
                        <a:rPr sz="1200" b="0" i="0">
                          <a:solidFill>
                            <a:srgbClr val="1B2A41"/>
                          </a:solidFill>
                          <a:latin typeface="Calibri"/>
                        </a:rPr>
                        <a:t>Check the divisor first (tomorrow)</a:t>
                      </a:r>
                    </a:p>
                  </a:txBody>
                  <a:tcPr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714232" cy="822960"/>
          </a:xfrm>
        </p:spPr>
        <p:txBody>
          <a:bodyPr wrap="square" anchor="ctr"/>
          <a:lstStyle/>
          <a:p>
            <a:pPr algn="l"/>
            <a:r>
              <a:rPr sz="3200" b="1">
                <a:solidFill>
                  <a:srgbClr val="085797"/>
                </a:solidFill>
                <a:latin typeface="Calibri"/>
              </a:rPr>
              <a:t>Thonny: watching your program run</a:t>
            </a:r>
          </a:p>
        </p:txBody>
      </p:sp>
      <p:sp>
        <p:nvSpPr>
          <p:cNvPr id="3" name="Rounded Rectangle 2"/>
          <p:cNvSpPr/>
          <p:nvPr/>
        </p:nvSpPr>
        <p:spPr>
          <a:xfrm>
            <a:off x="9445752" y="457200"/>
            <a:ext cx="219456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Tool tips</a:t>
            </a:r>
          </a:p>
        </p:txBody>
      </p:sp>
      <p:sp>
        <p:nvSpPr>
          <p:cNvPr id="4" name="Rounded Rectangle 3"/>
          <p:cNvSpPr/>
          <p:nvPr/>
        </p:nvSpPr>
        <p:spPr>
          <a:xfrm>
            <a:off x="969264" y="1463040"/>
            <a:ext cx="1901952" cy="1307592"/>
          </a:xfrm>
          <a:prstGeom prst="roundRect">
            <a:avLst>
              <a:gd name="adj" fmla="val 3496"/>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2818180"/>
            <a:ext cx="2377440" cy="166420"/>
          </a:xfrm>
          <a:prstGeom prst="roundRect">
            <a:avLst>
              <a:gd name="adj" fmla="val 16483"/>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3749039"/>
            <a:ext cx="2743200" cy="731520"/>
          </a:xfrm>
          <a:prstGeom prst="rect">
            <a:avLst/>
          </a:prstGeom>
          <a:noFill/>
        </p:spPr>
        <p:txBody>
          <a:bodyPr wrap="square" lIns="45720" rIns="45720" anchor="t">
            <a:spAutoFit/>
          </a:bodyPr>
          <a:lstStyle/>
          <a:p>
            <a:pPr algn="ctr">
              <a:spcAft>
                <a:spcPts val="400"/>
              </a:spcAft>
            </a:pPr>
            <a:r>
              <a:rPr sz="2000" b="1" i="0">
                <a:solidFill>
                  <a:srgbClr val="085797"/>
                </a:solidFill>
                <a:latin typeface="Calibri"/>
              </a:rPr>
              <a:t>Thonny</a:t>
            </a:r>
          </a:p>
        </p:txBody>
      </p:sp>
      <p:sp>
        <p:nvSpPr>
          <p:cNvPr id="7" name="Rounded Rectangle 6"/>
          <p:cNvSpPr/>
          <p:nvPr/>
        </p:nvSpPr>
        <p:spPr>
          <a:xfrm>
            <a:off x="3657600" y="1280160"/>
            <a:ext cx="7982712" cy="749808"/>
          </a:xfrm>
          <a:prstGeom prst="roundRect">
            <a:avLst>
              <a:gd name="adj" fmla="val 12195"/>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767328" y="1408176"/>
            <a:ext cx="2194560" cy="493776"/>
          </a:xfrm>
          <a:prstGeom prst="roundRect">
            <a:avLst>
              <a:gd name="adj" fmla="val 37037"/>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400" b="1" i="0">
                <a:solidFill>
                  <a:srgbClr val="FFFFFF"/>
                </a:solidFill>
                <a:latin typeface="Courier New"/>
              </a:rPr>
              <a:t>input()</a:t>
            </a:r>
          </a:p>
        </p:txBody>
      </p:sp>
      <p:sp>
        <p:nvSpPr>
          <p:cNvPr id="9" name="TextBox 8"/>
          <p:cNvSpPr txBox="1"/>
          <p:nvPr/>
        </p:nvSpPr>
        <p:spPr>
          <a:xfrm>
            <a:off x="6126480" y="1280160"/>
            <a:ext cx="5440680" cy="749808"/>
          </a:xfrm>
          <a:prstGeom prst="rect">
            <a:avLst/>
          </a:prstGeom>
          <a:noFill/>
        </p:spPr>
        <p:txBody>
          <a:bodyPr wrap="square" lIns="45720" rIns="45720" anchor="ctr">
            <a:spAutoFit/>
          </a:bodyPr>
          <a:lstStyle/>
          <a:p>
            <a:pPr algn="l">
              <a:spcAft>
                <a:spcPts val="400"/>
              </a:spcAft>
            </a:pPr>
            <a:r>
              <a:rPr sz="1500" b="0" i="0">
                <a:solidFill>
                  <a:srgbClr val="1B2A41"/>
                </a:solidFill>
                <a:latin typeface="Calibri"/>
              </a:rPr>
              <a:t>waits for you to type in the Shell pane at the bottom</a:t>
            </a:r>
          </a:p>
        </p:txBody>
      </p:sp>
      <p:sp>
        <p:nvSpPr>
          <p:cNvPr id="10" name="Rounded Rectangle 9"/>
          <p:cNvSpPr/>
          <p:nvPr/>
        </p:nvSpPr>
        <p:spPr>
          <a:xfrm>
            <a:off x="3657600" y="2148839"/>
            <a:ext cx="7982712" cy="749808"/>
          </a:xfrm>
          <a:prstGeom prst="roundRect">
            <a:avLst>
              <a:gd name="adj" fmla="val 12195"/>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67328" y="2276856"/>
            <a:ext cx="2194560" cy="493776"/>
          </a:xfrm>
          <a:prstGeom prst="roundRect">
            <a:avLst>
              <a:gd name="adj" fmla="val 37037"/>
            </a:avLst>
          </a:prstGeom>
          <a:solidFill>
            <a:srgbClr val="C9780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400" b="1" i="0">
                <a:solidFill>
                  <a:srgbClr val="FFFFFF"/>
                </a:solidFill>
                <a:latin typeface="Courier New"/>
              </a:rPr>
              <a:t>View &gt; Variables</a:t>
            </a:r>
          </a:p>
        </p:txBody>
      </p:sp>
      <p:sp>
        <p:nvSpPr>
          <p:cNvPr id="12" name="TextBox 11"/>
          <p:cNvSpPr txBox="1"/>
          <p:nvPr/>
        </p:nvSpPr>
        <p:spPr>
          <a:xfrm>
            <a:off x="6126480" y="2148839"/>
            <a:ext cx="5440680" cy="749808"/>
          </a:xfrm>
          <a:prstGeom prst="rect">
            <a:avLst/>
          </a:prstGeom>
          <a:noFill/>
        </p:spPr>
        <p:txBody>
          <a:bodyPr wrap="square" lIns="45720" rIns="45720" anchor="ctr">
            <a:spAutoFit/>
          </a:bodyPr>
          <a:lstStyle/>
          <a:p>
            <a:pPr algn="l">
              <a:spcAft>
                <a:spcPts val="400"/>
              </a:spcAft>
            </a:pPr>
            <a:r>
              <a:rPr sz="1500" b="0" i="0">
                <a:solidFill>
                  <a:srgbClr val="1B2A41"/>
                </a:solidFill>
                <a:latin typeface="Calibri"/>
              </a:rPr>
              <a:t>opens a panel so you can watch variables change</a:t>
            </a:r>
          </a:p>
        </p:txBody>
      </p:sp>
      <p:sp>
        <p:nvSpPr>
          <p:cNvPr id="13" name="TextBox 12"/>
          <p:cNvSpPr txBox="1"/>
          <p:nvPr/>
        </p:nvSpPr>
        <p:spPr>
          <a:xfrm>
            <a:off x="3657600" y="3108960"/>
            <a:ext cx="7955279" cy="411480"/>
          </a:xfrm>
          <a:prstGeom prst="rect">
            <a:avLst/>
          </a:prstGeom>
          <a:noFill/>
        </p:spPr>
        <p:txBody>
          <a:bodyPr wrap="square" lIns="45720" rIns="45720" anchor="t">
            <a:spAutoFit/>
          </a:bodyPr>
          <a:lstStyle/>
          <a:p>
            <a:pPr algn="l">
              <a:spcAft>
                <a:spcPts val="400"/>
              </a:spcAft>
            </a:pPr>
            <a:r>
              <a:rPr sz="1800" b="1" i="0">
                <a:solidFill>
                  <a:srgbClr val="085797"/>
                </a:solidFill>
                <a:latin typeface="Calibri"/>
              </a:rPr>
              <a:t>Step through with the debugger</a:t>
            </a:r>
          </a:p>
        </p:txBody>
      </p:sp>
      <p:sp>
        <p:nvSpPr>
          <p:cNvPr id="14" name="Rounded Rectangle 13"/>
          <p:cNvSpPr/>
          <p:nvPr/>
        </p:nvSpPr>
        <p:spPr>
          <a:xfrm>
            <a:off x="3657600" y="3611880"/>
            <a:ext cx="2560320" cy="1371600"/>
          </a:xfrm>
          <a:prstGeom prst="roundRect">
            <a:avLst>
              <a:gd name="adj" fmla="val 8000"/>
            </a:avLst>
          </a:prstGeom>
          <a:solidFill>
            <a:srgbClr val="FFFFFF"/>
          </a:solidFill>
          <a:ln w="25400">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160520" y="3749039"/>
            <a:ext cx="1554480" cy="548640"/>
          </a:xfrm>
          <a:prstGeom prst="roundRect">
            <a:avLst>
              <a:gd name="adj" fmla="val 2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800" b="1" i="0">
                <a:solidFill>
                  <a:srgbClr val="FFFFFF"/>
                </a:solidFill>
                <a:latin typeface="Courier New"/>
              </a:rPr>
              <a:t>Ctrl+F5</a:t>
            </a:r>
          </a:p>
        </p:txBody>
      </p:sp>
      <p:sp>
        <p:nvSpPr>
          <p:cNvPr id="16" name="TextBox 15"/>
          <p:cNvSpPr txBox="1"/>
          <p:nvPr/>
        </p:nvSpPr>
        <p:spPr>
          <a:xfrm>
            <a:off x="3749039" y="4389120"/>
            <a:ext cx="2377440" cy="548640"/>
          </a:xfrm>
          <a:prstGeom prst="rect">
            <a:avLst/>
          </a:prstGeom>
          <a:noFill/>
        </p:spPr>
        <p:txBody>
          <a:bodyPr wrap="square" lIns="45720" rIns="45720" anchor="ctr">
            <a:spAutoFit/>
          </a:bodyPr>
          <a:lstStyle/>
          <a:p>
            <a:pPr algn="ctr">
              <a:spcAft>
                <a:spcPts val="400"/>
              </a:spcAft>
            </a:pPr>
            <a:r>
              <a:rPr sz="1500" b="1" i="0">
                <a:solidFill>
                  <a:srgbClr val="085797"/>
                </a:solidFill>
                <a:latin typeface="Calibri"/>
              </a:rPr>
              <a:t>Debug current script</a:t>
            </a:r>
          </a:p>
        </p:txBody>
      </p:sp>
      <p:sp>
        <p:nvSpPr>
          <p:cNvPr id="17" name="Rounded Rectangle 16"/>
          <p:cNvSpPr/>
          <p:nvPr/>
        </p:nvSpPr>
        <p:spPr>
          <a:xfrm>
            <a:off x="6355080" y="3611880"/>
            <a:ext cx="2560320" cy="1371600"/>
          </a:xfrm>
          <a:prstGeom prst="roundRect">
            <a:avLst>
              <a:gd name="adj" fmla="val 8000"/>
            </a:avLst>
          </a:prstGeom>
          <a:solidFill>
            <a:srgbClr val="FFFFFF"/>
          </a:solidFill>
          <a:ln w="254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58000" y="3749039"/>
            <a:ext cx="1554480" cy="548640"/>
          </a:xfrm>
          <a:prstGeom prst="roundRect">
            <a:avLst>
              <a:gd name="adj" fmla="val 2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800" b="1" i="0">
                <a:solidFill>
                  <a:srgbClr val="FFFFFF"/>
                </a:solidFill>
                <a:latin typeface="Courier New"/>
              </a:rPr>
              <a:t>F6</a:t>
            </a:r>
          </a:p>
        </p:txBody>
      </p:sp>
      <p:sp>
        <p:nvSpPr>
          <p:cNvPr id="19" name="TextBox 18"/>
          <p:cNvSpPr txBox="1"/>
          <p:nvPr/>
        </p:nvSpPr>
        <p:spPr>
          <a:xfrm>
            <a:off x="6446520" y="4389120"/>
            <a:ext cx="2377440" cy="548640"/>
          </a:xfrm>
          <a:prstGeom prst="rect">
            <a:avLst/>
          </a:prstGeom>
          <a:noFill/>
        </p:spPr>
        <p:txBody>
          <a:bodyPr wrap="square" lIns="45720" rIns="45720" anchor="ctr">
            <a:spAutoFit/>
          </a:bodyPr>
          <a:lstStyle/>
          <a:p>
            <a:pPr algn="ctr">
              <a:spcAft>
                <a:spcPts val="400"/>
              </a:spcAft>
            </a:pPr>
            <a:r>
              <a:rPr sz="1500" b="1" i="0">
                <a:solidFill>
                  <a:srgbClr val="2E8B57"/>
                </a:solidFill>
                <a:latin typeface="Calibri"/>
              </a:rPr>
              <a:t>Step over</a:t>
            </a:r>
          </a:p>
        </p:txBody>
      </p:sp>
      <p:sp>
        <p:nvSpPr>
          <p:cNvPr id="20" name="Rounded Rectangle 19"/>
          <p:cNvSpPr/>
          <p:nvPr/>
        </p:nvSpPr>
        <p:spPr>
          <a:xfrm>
            <a:off x="9052560" y="3611880"/>
            <a:ext cx="2560320" cy="1371600"/>
          </a:xfrm>
          <a:prstGeom prst="roundRect">
            <a:avLst>
              <a:gd name="adj" fmla="val 8000"/>
            </a:avLst>
          </a:prstGeom>
          <a:solidFill>
            <a:srgbClr val="FFFFFF"/>
          </a:solidFill>
          <a:ln w="25400">
            <a:solidFill>
              <a:srgbClr val="E31E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55480" y="3749039"/>
            <a:ext cx="1554480" cy="548640"/>
          </a:xfrm>
          <a:prstGeom prst="roundRect">
            <a:avLst>
              <a:gd name="adj" fmla="val 2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800" b="1" i="0">
                <a:solidFill>
                  <a:srgbClr val="FFFFFF"/>
                </a:solidFill>
                <a:latin typeface="Courier New"/>
              </a:rPr>
              <a:t>F7</a:t>
            </a:r>
          </a:p>
        </p:txBody>
      </p:sp>
      <p:sp>
        <p:nvSpPr>
          <p:cNvPr id="22" name="TextBox 21"/>
          <p:cNvSpPr txBox="1"/>
          <p:nvPr/>
        </p:nvSpPr>
        <p:spPr>
          <a:xfrm>
            <a:off x="9144000" y="4389120"/>
            <a:ext cx="2377440" cy="548640"/>
          </a:xfrm>
          <a:prstGeom prst="rect">
            <a:avLst/>
          </a:prstGeom>
          <a:noFill/>
        </p:spPr>
        <p:txBody>
          <a:bodyPr wrap="square" lIns="45720" rIns="45720" anchor="ctr">
            <a:spAutoFit/>
          </a:bodyPr>
          <a:lstStyle/>
          <a:p>
            <a:pPr algn="ctr">
              <a:spcAft>
                <a:spcPts val="400"/>
              </a:spcAft>
            </a:pPr>
            <a:r>
              <a:rPr sz="1500" b="1" i="0">
                <a:solidFill>
                  <a:srgbClr val="E31E3B"/>
                </a:solidFill>
                <a:latin typeface="Calibri"/>
              </a:rPr>
              <a:t>Step into</a:t>
            </a:r>
          </a:p>
        </p:txBody>
      </p:sp>
      <p:sp>
        <p:nvSpPr>
          <p:cNvPr id="23" name="Rounded Rectangle 22"/>
          <p:cNvSpPr/>
          <p:nvPr/>
        </p:nvSpPr>
        <p:spPr>
          <a:xfrm>
            <a:off x="3657600" y="5166360"/>
            <a:ext cx="7982712" cy="502920"/>
          </a:xfrm>
          <a:prstGeom prst="roundRect">
            <a:avLst>
              <a:gd name="adj" fmla="val 21818"/>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l">
              <a:spcAft>
                <a:spcPts val="200"/>
              </a:spcAft>
            </a:pPr>
            <a:r>
              <a:rPr sz="1400" b="0" i="0">
                <a:solidFill>
                  <a:srgbClr val="1B2A41"/>
                </a:solidFill>
                <a:latin typeface="Calibri"/>
              </a:rPr>
              <a:t>Use it to trace a variable line by line, just like a trace table.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165592" cy="822960"/>
          </a:xfrm>
        </p:spPr>
        <p:txBody>
          <a:bodyPr wrap="square" anchor="ctr"/>
          <a:lstStyle/>
          <a:p>
            <a:pPr algn="l"/>
            <a:r>
              <a:rPr sz="3200" b="1">
                <a:solidFill>
                  <a:srgbClr val="085797"/>
                </a:solidFill>
                <a:latin typeface="Calibri"/>
              </a:rPr>
              <a:t>Designing an assessable practical</a:t>
            </a:r>
          </a:p>
        </p:txBody>
      </p:sp>
      <p:sp>
        <p:nvSpPr>
          <p:cNvPr id="3" name="Rounded Rectangle 2"/>
          <p:cNvSpPr/>
          <p:nvPr/>
        </p:nvSpPr>
        <p:spPr>
          <a:xfrm>
            <a:off x="8897112" y="457200"/>
            <a:ext cx="27432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Consolidation · 15:20</a:t>
            </a:r>
          </a:p>
        </p:txBody>
      </p:sp>
      <p:sp>
        <p:nvSpPr>
          <p:cNvPr id="4" name="Rounded Rectangle 3"/>
          <p:cNvSpPr/>
          <p:nvPr/>
        </p:nvSpPr>
        <p:spPr>
          <a:xfrm>
            <a:off x="548640" y="1280160"/>
            <a:ext cx="5449824" cy="1097280"/>
          </a:xfrm>
          <a:prstGeom prst="roundRect">
            <a:avLst>
              <a:gd name="adj" fmla="val 10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1554480"/>
            <a:ext cx="548640" cy="54864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000" b="1" i="0">
                <a:solidFill>
                  <a:srgbClr val="FFFFFF"/>
                </a:solidFill>
                <a:latin typeface="Calibri"/>
              </a:rPr>
              <a:t>1</a:t>
            </a:r>
          </a:p>
        </p:txBody>
      </p:sp>
      <p:sp>
        <p:nvSpPr>
          <p:cNvPr id="6" name="TextBox 5"/>
          <p:cNvSpPr txBox="1"/>
          <p:nvPr/>
        </p:nvSpPr>
        <p:spPr>
          <a:xfrm>
            <a:off x="1371600" y="1280160"/>
            <a:ext cx="4526280" cy="1097280"/>
          </a:xfrm>
          <a:prstGeom prst="rect">
            <a:avLst/>
          </a:prstGeom>
          <a:noFill/>
        </p:spPr>
        <p:txBody>
          <a:bodyPr wrap="square" lIns="45720" rIns="45720" anchor="ctr">
            <a:spAutoFit/>
          </a:bodyPr>
          <a:lstStyle/>
          <a:p>
            <a:pPr algn="l">
              <a:spcAft>
                <a:spcPts val="100"/>
              </a:spcAft>
            </a:pPr>
            <a:r>
              <a:rPr sz="1700" b="1" i="0">
                <a:solidFill>
                  <a:srgbClr val="085797"/>
                </a:solidFill>
                <a:latin typeface="Calibri"/>
              </a:rPr>
              <a:t>Outcomes</a:t>
            </a:r>
          </a:p>
          <a:p>
            <a:pPr algn="l">
              <a:spcAft>
                <a:spcPts val="400"/>
              </a:spcAft>
            </a:pPr>
            <a:r>
              <a:rPr sz="1300" b="0" i="0">
                <a:solidFill>
                  <a:srgbClr val="1B2A41"/>
                </a:solidFill>
                <a:latin typeface="Calibri"/>
              </a:rPr>
              <a:t>Two or three from the Level 2 outcomes</a:t>
            </a:r>
          </a:p>
        </p:txBody>
      </p:sp>
      <p:sp>
        <p:nvSpPr>
          <p:cNvPr id="7" name="Rounded Rectangle 6"/>
          <p:cNvSpPr/>
          <p:nvPr/>
        </p:nvSpPr>
        <p:spPr>
          <a:xfrm>
            <a:off x="6190488" y="1280160"/>
            <a:ext cx="5449824" cy="1097280"/>
          </a:xfrm>
          <a:prstGeom prst="roundRect">
            <a:avLst>
              <a:gd name="adj" fmla="val 10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327648" y="1554480"/>
            <a:ext cx="548640" cy="548640"/>
          </a:xfrm>
          <a:prstGeom prst="ellipse">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000" b="1" i="0">
                <a:solidFill>
                  <a:srgbClr val="FFFFFF"/>
                </a:solidFill>
                <a:latin typeface="Calibri"/>
              </a:rPr>
              <a:t>2</a:t>
            </a:r>
          </a:p>
        </p:txBody>
      </p:sp>
      <p:sp>
        <p:nvSpPr>
          <p:cNvPr id="9" name="TextBox 8"/>
          <p:cNvSpPr txBox="1"/>
          <p:nvPr/>
        </p:nvSpPr>
        <p:spPr>
          <a:xfrm>
            <a:off x="7013448" y="1280160"/>
            <a:ext cx="4526280" cy="1097280"/>
          </a:xfrm>
          <a:prstGeom prst="rect">
            <a:avLst/>
          </a:prstGeom>
          <a:noFill/>
        </p:spPr>
        <p:txBody>
          <a:bodyPr wrap="square" lIns="45720" rIns="45720" anchor="ctr">
            <a:spAutoFit/>
          </a:bodyPr>
          <a:lstStyle/>
          <a:p>
            <a:pPr algn="l">
              <a:spcAft>
                <a:spcPts val="100"/>
              </a:spcAft>
            </a:pPr>
            <a:r>
              <a:rPr sz="1700" b="1" i="0">
                <a:solidFill>
                  <a:srgbClr val="E31E3B"/>
                </a:solidFill>
                <a:latin typeface="Calibri"/>
              </a:rPr>
              <a:t>Scenario and task</a:t>
            </a:r>
          </a:p>
          <a:p>
            <a:pPr algn="l">
              <a:spcAft>
                <a:spcPts val="400"/>
              </a:spcAft>
            </a:pPr>
            <a:r>
              <a:rPr sz="1300" b="0" i="0">
                <a:solidFill>
                  <a:srgbClr val="1B2A41"/>
                </a:solidFill>
                <a:latin typeface="Calibri"/>
              </a:rPr>
              <a:t>Under half a page, every input and output listed with units</a:t>
            </a:r>
          </a:p>
        </p:txBody>
      </p:sp>
      <p:sp>
        <p:nvSpPr>
          <p:cNvPr id="10" name="Rounded Rectangle 9"/>
          <p:cNvSpPr/>
          <p:nvPr/>
        </p:nvSpPr>
        <p:spPr>
          <a:xfrm>
            <a:off x="548640" y="2514600"/>
            <a:ext cx="5449824" cy="1097280"/>
          </a:xfrm>
          <a:prstGeom prst="roundRect">
            <a:avLst>
              <a:gd name="adj" fmla="val 10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85800" y="2788920"/>
            <a:ext cx="548640" cy="548640"/>
          </a:xfrm>
          <a:prstGeom prst="ellipse">
            <a:avLst/>
          </a:prstGeom>
          <a:solidFill>
            <a:srgbClr val="C9780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000" b="1" i="0">
                <a:solidFill>
                  <a:srgbClr val="FFFFFF"/>
                </a:solidFill>
                <a:latin typeface="Calibri"/>
              </a:rPr>
              <a:t>3</a:t>
            </a:r>
          </a:p>
        </p:txBody>
      </p:sp>
      <p:sp>
        <p:nvSpPr>
          <p:cNvPr id="12" name="TextBox 11"/>
          <p:cNvSpPr txBox="1"/>
          <p:nvPr/>
        </p:nvSpPr>
        <p:spPr>
          <a:xfrm>
            <a:off x="1371600" y="2514600"/>
            <a:ext cx="4526280" cy="1097280"/>
          </a:xfrm>
          <a:prstGeom prst="rect">
            <a:avLst/>
          </a:prstGeom>
          <a:noFill/>
        </p:spPr>
        <p:txBody>
          <a:bodyPr wrap="square" lIns="45720" rIns="45720" anchor="ctr">
            <a:spAutoFit/>
          </a:bodyPr>
          <a:lstStyle/>
          <a:p>
            <a:pPr algn="l">
              <a:spcAft>
                <a:spcPts val="100"/>
              </a:spcAft>
            </a:pPr>
            <a:r>
              <a:rPr sz="1700" b="1" i="0">
                <a:solidFill>
                  <a:srgbClr val="C9780A"/>
                </a:solidFill>
                <a:latin typeface="Calibri"/>
              </a:rPr>
              <a:t>Test data</a:t>
            </a:r>
          </a:p>
          <a:p>
            <a:pPr algn="l">
              <a:spcAft>
                <a:spcPts val="400"/>
              </a:spcAft>
            </a:pPr>
            <a:r>
              <a:rPr sz="1300" b="0" i="0">
                <a:solidFill>
                  <a:srgbClr val="1B2A41"/>
                </a:solidFill>
                <a:latin typeface="Calibri"/>
              </a:rPr>
              <a:t>At least three data sets with the exact expected output</a:t>
            </a:r>
          </a:p>
        </p:txBody>
      </p:sp>
      <p:sp>
        <p:nvSpPr>
          <p:cNvPr id="13" name="Rounded Rectangle 12"/>
          <p:cNvSpPr/>
          <p:nvPr/>
        </p:nvSpPr>
        <p:spPr>
          <a:xfrm>
            <a:off x="6190488" y="2514600"/>
            <a:ext cx="5449824" cy="1097280"/>
          </a:xfrm>
          <a:prstGeom prst="roundRect">
            <a:avLst>
              <a:gd name="adj" fmla="val 10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27648" y="2788920"/>
            <a:ext cx="548640" cy="54864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000" b="1" i="0">
                <a:solidFill>
                  <a:srgbClr val="FFFFFF"/>
                </a:solidFill>
                <a:latin typeface="Calibri"/>
              </a:rPr>
              <a:t>4</a:t>
            </a:r>
          </a:p>
        </p:txBody>
      </p:sp>
      <p:sp>
        <p:nvSpPr>
          <p:cNvPr id="15" name="TextBox 14"/>
          <p:cNvSpPr txBox="1"/>
          <p:nvPr/>
        </p:nvSpPr>
        <p:spPr>
          <a:xfrm>
            <a:off x="7013448" y="2514600"/>
            <a:ext cx="4526280" cy="1097280"/>
          </a:xfrm>
          <a:prstGeom prst="rect">
            <a:avLst/>
          </a:prstGeom>
          <a:noFill/>
        </p:spPr>
        <p:txBody>
          <a:bodyPr wrap="square" lIns="45720" rIns="45720" anchor="ctr">
            <a:spAutoFit/>
          </a:bodyPr>
          <a:lstStyle/>
          <a:p>
            <a:pPr algn="l">
              <a:spcAft>
                <a:spcPts val="100"/>
              </a:spcAft>
            </a:pPr>
            <a:r>
              <a:rPr sz="1700" b="1" i="0">
                <a:solidFill>
                  <a:srgbClr val="2E8B57"/>
                </a:solidFill>
                <a:latin typeface="Calibri"/>
              </a:rPr>
              <a:t>Model solution</a:t>
            </a:r>
          </a:p>
          <a:p>
            <a:pPr algn="l">
              <a:spcAft>
                <a:spcPts val="400"/>
              </a:spcAft>
            </a:pPr>
            <a:r>
              <a:rPr sz="1300" b="0" i="0">
                <a:solidFill>
                  <a:srgbClr val="1B2A41"/>
                </a:solidFill>
                <a:latin typeface="Calibri"/>
              </a:rPr>
              <a:t>A Python file that runs in Thonny on the test data</a:t>
            </a:r>
          </a:p>
        </p:txBody>
      </p:sp>
      <p:sp>
        <p:nvSpPr>
          <p:cNvPr id="16" name="Rounded Rectangle 15"/>
          <p:cNvSpPr/>
          <p:nvPr/>
        </p:nvSpPr>
        <p:spPr>
          <a:xfrm>
            <a:off x="548640" y="3749039"/>
            <a:ext cx="5449824" cy="1097280"/>
          </a:xfrm>
          <a:prstGeom prst="roundRect">
            <a:avLst>
              <a:gd name="adj" fmla="val 10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85800" y="4023359"/>
            <a:ext cx="548640" cy="548640"/>
          </a:xfrm>
          <a:prstGeom prst="ellipse">
            <a:avLst/>
          </a:prstGeom>
          <a:solidFill>
            <a:srgbClr val="7A4EA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000" b="1" i="0">
                <a:solidFill>
                  <a:srgbClr val="FFFFFF"/>
                </a:solidFill>
                <a:latin typeface="Calibri"/>
              </a:rPr>
              <a:t>5</a:t>
            </a:r>
          </a:p>
        </p:txBody>
      </p:sp>
      <p:sp>
        <p:nvSpPr>
          <p:cNvPr id="18" name="TextBox 17"/>
          <p:cNvSpPr txBox="1"/>
          <p:nvPr/>
        </p:nvSpPr>
        <p:spPr>
          <a:xfrm>
            <a:off x="1371600" y="3749039"/>
            <a:ext cx="4526280" cy="1097280"/>
          </a:xfrm>
          <a:prstGeom prst="rect">
            <a:avLst/>
          </a:prstGeom>
          <a:noFill/>
        </p:spPr>
        <p:txBody>
          <a:bodyPr wrap="square" lIns="45720" rIns="45720" anchor="ctr">
            <a:spAutoFit/>
          </a:bodyPr>
          <a:lstStyle/>
          <a:p>
            <a:pPr algn="l">
              <a:spcAft>
                <a:spcPts val="100"/>
              </a:spcAft>
            </a:pPr>
            <a:r>
              <a:rPr sz="1700" b="1" i="0">
                <a:solidFill>
                  <a:srgbClr val="7A4EAB"/>
                </a:solidFill>
                <a:latin typeface="Calibri"/>
              </a:rPr>
              <a:t>Marking guide</a:t>
            </a:r>
          </a:p>
          <a:p>
            <a:pPr algn="l">
              <a:spcAft>
                <a:spcPts val="400"/>
              </a:spcAft>
            </a:pPr>
            <a:r>
              <a:rPr sz="1300" b="0" i="0">
                <a:solidFill>
                  <a:srgbClr val="1B2A41"/>
                </a:solidFill>
                <a:latin typeface="Calibri"/>
              </a:rPr>
              <a:t>20 to 30 marks, each tied to one outcome and awarded once</a:t>
            </a:r>
          </a:p>
        </p:txBody>
      </p:sp>
      <p:sp>
        <p:nvSpPr>
          <p:cNvPr id="19" name="Rounded Rectangle 18"/>
          <p:cNvSpPr/>
          <p:nvPr/>
        </p:nvSpPr>
        <p:spPr>
          <a:xfrm>
            <a:off x="6190488" y="3749039"/>
            <a:ext cx="5449824" cy="1097280"/>
          </a:xfrm>
          <a:prstGeom prst="roundRect">
            <a:avLst>
              <a:gd name="adj" fmla="val 10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327648" y="4023359"/>
            <a:ext cx="548640" cy="54864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000" b="1" i="0">
                <a:solidFill>
                  <a:srgbClr val="FFFFFF"/>
                </a:solidFill>
                <a:latin typeface="Calibri"/>
              </a:rPr>
              <a:t>6</a:t>
            </a:r>
          </a:p>
        </p:txBody>
      </p:sp>
      <p:sp>
        <p:nvSpPr>
          <p:cNvPr id="21" name="TextBox 20"/>
          <p:cNvSpPr txBox="1"/>
          <p:nvPr/>
        </p:nvSpPr>
        <p:spPr>
          <a:xfrm>
            <a:off x="7013448" y="3749039"/>
            <a:ext cx="4526280" cy="1097280"/>
          </a:xfrm>
          <a:prstGeom prst="rect">
            <a:avLst/>
          </a:prstGeom>
          <a:noFill/>
        </p:spPr>
        <p:txBody>
          <a:bodyPr wrap="square" lIns="45720" rIns="45720" anchor="ctr">
            <a:spAutoFit/>
          </a:bodyPr>
          <a:lstStyle/>
          <a:p>
            <a:pPr algn="l">
              <a:spcAft>
                <a:spcPts val="100"/>
              </a:spcAft>
            </a:pPr>
            <a:r>
              <a:rPr sz="1700" b="1" i="0">
                <a:solidFill>
                  <a:srgbClr val="085797"/>
                </a:solidFill>
                <a:latin typeface="Calibri"/>
              </a:rPr>
              <a:t>Reasoning question</a:t>
            </a:r>
          </a:p>
          <a:p>
            <a:pPr algn="l">
              <a:spcAft>
                <a:spcPts val="400"/>
              </a:spcAft>
            </a:pPr>
            <a:r>
              <a:rPr sz="1300" b="0" i="0">
                <a:solidFill>
                  <a:srgbClr val="1B2A41"/>
                </a:solidFill>
                <a:latin typeface="Calibri"/>
              </a:rPr>
              <a:t>One short question with a model answer, so the task tests logic and not only syntax</a:t>
            </a:r>
          </a:p>
        </p:txBody>
      </p:sp>
      <p:sp>
        <p:nvSpPr>
          <p:cNvPr id="22" name="Rounded Rectangle 21"/>
          <p:cNvSpPr/>
          <p:nvPr/>
        </p:nvSpPr>
        <p:spPr>
          <a:xfrm>
            <a:off x="548640" y="5029200"/>
            <a:ext cx="11091672" cy="640080"/>
          </a:xfrm>
          <a:prstGeom prst="roundRect">
            <a:avLst>
              <a:gd name="adj" fmla="val 17142"/>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ctr">
              <a:spcAft>
                <a:spcPts val="200"/>
              </a:spcAft>
            </a:pPr>
            <a:r>
              <a:rPr sz="1700" b="1" i="0">
                <a:solidFill>
                  <a:srgbClr val="085797"/>
                </a:solidFill>
                <a:latin typeface="Calibri"/>
              </a:rPr>
              <a:t>A practical is assessable when two markers give the same mark from the guide alone.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622792" cy="822960"/>
          </a:xfrm>
        </p:spPr>
        <p:txBody>
          <a:bodyPr wrap="square" anchor="ctr"/>
          <a:lstStyle/>
          <a:p>
            <a:pPr algn="l"/>
            <a:r>
              <a:rPr sz="3200" b="1">
                <a:solidFill>
                  <a:srgbClr val="085797"/>
                </a:solidFill>
                <a:latin typeface="Calibri"/>
              </a:rPr>
              <a:t>Mark allocation pattern: 25 marks</a:t>
            </a:r>
          </a:p>
        </p:txBody>
      </p:sp>
      <p:sp>
        <p:nvSpPr>
          <p:cNvPr id="3" name="Rounded Rectangle 2"/>
          <p:cNvSpPr/>
          <p:nvPr/>
        </p:nvSpPr>
        <p:spPr>
          <a:xfrm>
            <a:off x="9354312" y="457200"/>
            <a:ext cx="22860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Consolidation</a:t>
            </a:r>
          </a:p>
        </p:txBody>
      </p:sp>
      <p:sp>
        <p:nvSpPr>
          <p:cNvPr id="4" name="TextBox 3"/>
          <p:cNvSpPr txBox="1"/>
          <p:nvPr/>
        </p:nvSpPr>
        <p:spPr>
          <a:xfrm>
            <a:off x="548640" y="1280160"/>
            <a:ext cx="2377440" cy="548640"/>
          </a:xfrm>
          <a:prstGeom prst="rect">
            <a:avLst/>
          </a:prstGeom>
          <a:noFill/>
        </p:spPr>
        <p:txBody>
          <a:bodyPr wrap="square" lIns="45720" rIns="45720" anchor="ctr">
            <a:spAutoFit/>
          </a:bodyPr>
          <a:lstStyle/>
          <a:p>
            <a:pPr algn="l">
              <a:spcAft>
                <a:spcPts val="400"/>
              </a:spcAft>
            </a:pPr>
            <a:r>
              <a:rPr sz="1400" b="1" i="0">
                <a:solidFill>
                  <a:srgbClr val="1B2A41"/>
                </a:solidFill>
                <a:latin typeface="Calibri"/>
              </a:rPr>
              <a:t>Plan (IPO chart)</a:t>
            </a:r>
          </a:p>
        </p:txBody>
      </p:sp>
      <p:sp>
        <p:nvSpPr>
          <p:cNvPr id="5" name="Rounded Rectangle 4"/>
          <p:cNvSpPr/>
          <p:nvPr/>
        </p:nvSpPr>
        <p:spPr>
          <a:xfrm>
            <a:off x="2971800" y="1335024"/>
            <a:ext cx="2267712" cy="438912"/>
          </a:xfrm>
          <a:prstGeom prst="roundRect">
            <a:avLst>
              <a:gd name="adj" fmla="val 31250"/>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4</a:t>
            </a:r>
          </a:p>
        </p:txBody>
      </p:sp>
      <p:sp>
        <p:nvSpPr>
          <p:cNvPr id="6" name="TextBox 5"/>
          <p:cNvSpPr txBox="1"/>
          <p:nvPr/>
        </p:nvSpPr>
        <p:spPr>
          <a:xfrm>
            <a:off x="5376672" y="1280160"/>
            <a:ext cx="6263640" cy="548640"/>
          </a:xfrm>
          <a:prstGeom prst="rect">
            <a:avLst/>
          </a:prstGeom>
          <a:noFill/>
        </p:spPr>
        <p:txBody>
          <a:bodyPr wrap="square" lIns="45720" rIns="45720" anchor="ctr">
            <a:spAutoFit/>
          </a:bodyPr>
          <a:lstStyle/>
          <a:p>
            <a:pPr algn="l">
              <a:spcAft>
                <a:spcPts val="400"/>
              </a:spcAft>
            </a:pPr>
            <a:r>
              <a:rPr sz="1200" b="0" i="0">
                <a:solidFill>
                  <a:srgbClr val="5B6770"/>
                </a:solidFill>
                <a:latin typeface="Calibri"/>
              </a:rPr>
              <a:t>Inputs with units and types, formulas, outputs</a:t>
            </a:r>
          </a:p>
        </p:txBody>
      </p:sp>
      <p:sp>
        <p:nvSpPr>
          <p:cNvPr id="7" name="TextBox 6"/>
          <p:cNvSpPr txBox="1"/>
          <p:nvPr/>
        </p:nvSpPr>
        <p:spPr>
          <a:xfrm>
            <a:off x="548640" y="1847088"/>
            <a:ext cx="2377440" cy="548640"/>
          </a:xfrm>
          <a:prstGeom prst="rect">
            <a:avLst/>
          </a:prstGeom>
          <a:noFill/>
        </p:spPr>
        <p:txBody>
          <a:bodyPr wrap="square" lIns="45720" rIns="45720" anchor="ctr">
            <a:spAutoFit/>
          </a:bodyPr>
          <a:lstStyle/>
          <a:p>
            <a:pPr algn="l">
              <a:spcAft>
                <a:spcPts val="400"/>
              </a:spcAft>
            </a:pPr>
            <a:r>
              <a:rPr sz="1400" b="1" i="0">
                <a:solidFill>
                  <a:srgbClr val="1B2A41"/>
                </a:solidFill>
                <a:latin typeface="Calibri"/>
              </a:rPr>
              <a:t>Input and conversion</a:t>
            </a:r>
          </a:p>
        </p:txBody>
      </p:sp>
      <p:sp>
        <p:nvSpPr>
          <p:cNvPr id="8" name="Rounded Rectangle 7"/>
          <p:cNvSpPr/>
          <p:nvPr/>
        </p:nvSpPr>
        <p:spPr>
          <a:xfrm>
            <a:off x="2971800" y="1901952"/>
            <a:ext cx="2834640" cy="438912"/>
          </a:xfrm>
          <a:prstGeom prst="roundRect">
            <a:avLst>
              <a:gd name="adj" fmla="val 31250"/>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5</a:t>
            </a:r>
          </a:p>
        </p:txBody>
      </p:sp>
      <p:sp>
        <p:nvSpPr>
          <p:cNvPr id="9" name="TextBox 8"/>
          <p:cNvSpPr txBox="1"/>
          <p:nvPr/>
        </p:nvSpPr>
        <p:spPr>
          <a:xfrm>
            <a:off x="5943600" y="1847088"/>
            <a:ext cx="5696712" cy="548640"/>
          </a:xfrm>
          <a:prstGeom prst="rect">
            <a:avLst/>
          </a:prstGeom>
          <a:noFill/>
        </p:spPr>
        <p:txBody>
          <a:bodyPr wrap="square" lIns="45720" rIns="45720" anchor="ctr">
            <a:spAutoFit/>
          </a:bodyPr>
          <a:lstStyle/>
          <a:p>
            <a:pPr algn="l">
              <a:spcAft>
                <a:spcPts val="400"/>
              </a:spcAft>
            </a:pPr>
            <a:r>
              <a:rPr sz="1200" b="0" i="0">
                <a:solidFill>
                  <a:srgbClr val="5B6770"/>
                </a:solidFill>
                <a:latin typeface="Calibri"/>
              </a:rPr>
              <a:t>Prompts with units, correct conversions, text cleaned, meaningful names</a:t>
            </a:r>
          </a:p>
        </p:txBody>
      </p:sp>
      <p:sp>
        <p:nvSpPr>
          <p:cNvPr id="10" name="TextBox 9"/>
          <p:cNvSpPr txBox="1"/>
          <p:nvPr/>
        </p:nvSpPr>
        <p:spPr>
          <a:xfrm>
            <a:off x="548640" y="2414015"/>
            <a:ext cx="2377440" cy="548640"/>
          </a:xfrm>
          <a:prstGeom prst="rect">
            <a:avLst/>
          </a:prstGeom>
          <a:noFill/>
        </p:spPr>
        <p:txBody>
          <a:bodyPr wrap="square" lIns="45720" rIns="45720" anchor="ctr">
            <a:spAutoFit/>
          </a:bodyPr>
          <a:lstStyle/>
          <a:p>
            <a:pPr algn="l">
              <a:spcAft>
                <a:spcPts val="400"/>
              </a:spcAft>
            </a:pPr>
            <a:r>
              <a:rPr sz="1400" b="1" i="0">
                <a:solidFill>
                  <a:srgbClr val="1B2A41"/>
                </a:solidFill>
                <a:latin typeface="Calibri"/>
              </a:rPr>
              <a:t>Calculations</a:t>
            </a:r>
          </a:p>
        </p:txBody>
      </p:sp>
      <p:sp>
        <p:nvSpPr>
          <p:cNvPr id="11" name="Rounded Rectangle 10"/>
          <p:cNvSpPr/>
          <p:nvPr/>
        </p:nvSpPr>
        <p:spPr>
          <a:xfrm>
            <a:off x="2971800" y="2468879"/>
            <a:ext cx="2267712" cy="438912"/>
          </a:xfrm>
          <a:prstGeom prst="roundRect">
            <a:avLst>
              <a:gd name="adj" fmla="val 31250"/>
            </a:avLst>
          </a:prstGeom>
          <a:solidFill>
            <a:srgbClr val="C9780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4</a:t>
            </a:r>
          </a:p>
        </p:txBody>
      </p:sp>
      <p:sp>
        <p:nvSpPr>
          <p:cNvPr id="12" name="TextBox 11"/>
          <p:cNvSpPr txBox="1"/>
          <p:nvPr/>
        </p:nvSpPr>
        <p:spPr>
          <a:xfrm>
            <a:off x="5376672" y="2414015"/>
            <a:ext cx="6263640" cy="548640"/>
          </a:xfrm>
          <a:prstGeom prst="rect">
            <a:avLst/>
          </a:prstGeom>
          <a:noFill/>
        </p:spPr>
        <p:txBody>
          <a:bodyPr wrap="square" lIns="45720" rIns="45720" anchor="ctr">
            <a:spAutoFit/>
          </a:bodyPr>
          <a:lstStyle/>
          <a:p>
            <a:pPr algn="l">
              <a:spcAft>
                <a:spcPts val="400"/>
              </a:spcAft>
            </a:pPr>
            <a:r>
              <a:rPr sz="1200" b="0" i="0">
                <a:solidFill>
                  <a:srgbClr val="5B6770"/>
                </a:solidFill>
                <a:latin typeface="Calibri"/>
              </a:rPr>
              <a:t>Each formula correct, using variables</a:t>
            </a:r>
          </a:p>
        </p:txBody>
      </p:sp>
      <p:sp>
        <p:nvSpPr>
          <p:cNvPr id="13" name="TextBox 12"/>
          <p:cNvSpPr txBox="1"/>
          <p:nvPr/>
        </p:nvSpPr>
        <p:spPr>
          <a:xfrm>
            <a:off x="548640" y="2980944"/>
            <a:ext cx="2377440" cy="548640"/>
          </a:xfrm>
          <a:prstGeom prst="rect">
            <a:avLst/>
          </a:prstGeom>
          <a:noFill/>
        </p:spPr>
        <p:txBody>
          <a:bodyPr wrap="square" lIns="45720" rIns="45720" anchor="ctr">
            <a:spAutoFit/>
          </a:bodyPr>
          <a:lstStyle/>
          <a:p>
            <a:pPr algn="l">
              <a:spcAft>
                <a:spcPts val="400"/>
              </a:spcAft>
            </a:pPr>
            <a:r>
              <a:rPr sz="1400" b="1" i="0">
                <a:solidFill>
                  <a:srgbClr val="1B2A41"/>
                </a:solidFill>
                <a:latin typeface="Calibri"/>
              </a:rPr>
              <a:t>Output</a:t>
            </a:r>
          </a:p>
        </p:txBody>
      </p:sp>
      <p:sp>
        <p:nvSpPr>
          <p:cNvPr id="14" name="Rounded Rectangle 13"/>
          <p:cNvSpPr/>
          <p:nvPr/>
        </p:nvSpPr>
        <p:spPr>
          <a:xfrm>
            <a:off x="2971800" y="3035808"/>
            <a:ext cx="2267712" cy="438912"/>
          </a:xfrm>
          <a:prstGeom prst="roundRect">
            <a:avLst>
              <a:gd name="adj" fmla="val 3125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4</a:t>
            </a:r>
          </a:p>
        </p:txBody>
      </p:sp>
      <p:sp>
        <p:nvSpPr>
          <p:cNvPr id="15" name="TextBox 14"/>
          <p:cNvSpPr txBox="1"/>
          <p:nvPr/>
        </p:nvSpPr>
        <p:spPr>
          <a:xfrm>
            <a:off x="5376672" y="2980944"/>
            <a:ext cx="6263640" cy="548640"/>
          </a:xfrm>
          <a:prstGeom prst="rect">
            <a:avLst/>
          </a:prstGeom>
          <a:noFill/>
        </p:spPr>
        <p:txBody>
          <a:bodyPr wrap="square" lIns="45720" rIns="45720" anchor="ctr">
            <a:spAutoFit/>
          </a:bodyPr>
          <a:lstStyle/>
          <a:p>
            <a:pPr algn="l">
              <a:spcAft>
                <a:spcPts val="400"/>
              </a:spcAft>
            </a:pPr>
            <a:r>
              <a:rPr sz="1200" b="0" i="0">
                <a:solidFill>
                  <a:srgbClr val="5B6770"/>
                </a:solidFill>
                <a:latin typeface="Calibri"/>
              </a:rPr>
              <a:t>Layout, decimals, units, text case</a:t>
            </a:r>
          </a:p>
        </p:txBody>
      </p:sp>
      <p:sp>
        <p:nvSpPr>
          <p:cNvPr id="16" name="TextBox 15"/>
          <p:cNvSpPr txBox="1"/>
          <p:nvPr/>
        </p:nvSpPr>
        <p:spPr>
          <a:xfrm>
            <a:off x="548640" y="3547872"/>
            <a:ext cx="2377440" cy="548640"/>
          </a:xfrm>
          <a:prstGeom prst="rect">
            <a:avLst/>
          </a:prstGeom>
          <a:noFill/>
        </p:spPr>
        <p:txBody>
          <a:bodyPr wrap="square" lIns="45720" rIns="45720" anchor="ctr">
            <a:spAutoFit/>
          </a:bodyPr>
          <a:lstStyle/>
          <a:p>
            <a:pPr algn="l">
              <a:spcAft>
                <a:spcPts val="400"/>
              </a:spcAft>
            </a:pPr>
            <a:r>
              <a:rPr sz="1400" b="1" i="0">
                <a:solidFill>
                  <a:srgbClr val="1B2A41"/>
                </a:solidFill>
                <a:latin typeface="Calibri"/>
              </a:rPr>
              <a:t>Documentation</a:t>
            </a:r>
          </a:p>
        </p:txBody>
      </p:sp>
      <p:sp>
        <p:nvSpPr>
          <p:cNvPr id="17" name="Rounded Rectangle 16"/>
          <p:cNvSpPr/>
          <p:nvPr/>
        </p:nvSpPr>
        <p:spPr>
          <a:xfrm>
            <a:off x="2971800" y="3602736"/>
            <a:ext cx="566928" cy="438912"/>
          </a:xfrm>
          <a:prstGeom prst="roundRect">
            <a:avLst>
              <a:gd name="adj" fmla="val 31250"/>
            </a:avLst>
          </a:prstGeom>
          <a:solidFill>
            <a:srgbClr val="7A4EA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1</a:t>
            </a:r>
          </a:p>
        </p:txBody>
      </p:sp>
      <p:sp>
        <p:nvSpPr>
          <p:cNvPr id="18" name="TextBox 17"/>
          <p:cNvSpPr txBox="1"/>
          <p:nvPr/>
        </p:nvSpPr>
        <p:spPr>
          <a:xfrm>
            <a:off x="3675888" y="3547872"/>
            <a:ext cx="7964424" cy="548640"/>
          </a:xfrm>
          <a:prstGeom prst="rect">
            <a:avLst/>
          </a:prstGeom>
          <a:noFill/>
        </p:spPr>
        <p:txBody>
          <a:bodyPr wrap="square" lIns="45720" rIns="45720" anchor="ctr">
            <a:spAutoFit/>
          </a:bodyPr>
          <a:lstStyle/>
          <a:p>
            <a:pPr algn="l">
              <a:spcAft>
                <a:spcPts val="400"/>
              </a:spcAft>
            </a:pPr>
            <a:r>
              <a:rPr sz="1200" b="0" i="0">
                <a:solidFill>
                  <a:srgbClr val="5B6770"/>
                </a:solidFill>
                <a:latin typeface="Calibri"/>
              </a:rPr>
              <a:t>Header comment</a:t>
            </a:r>
          </a:p>
        </p:txBody>
      </p:sp>
      <p:sp>
        <p:nvSpPr>
          <p:cNvPr id="19" name="TextBox 18"/>
          <p:cNvSpPr txBox="1"/>
          <p:nvPr/>
        </p:nvSpPr>
        <p:spPr>
          <a:xfrm>
            <a:off x="548640" y="4114800"/>
            <a:ext cx="2377440" cy="548640"/>
          </a:xfrm>
          <a:prstGeom prst="rect">
            <a:avLst/>
          </a:prstGeom>
          <a:noFill/>
        </p:spPr>
        <p:txBody>
          <a:bodyPr wrap="square" lIns="45720" rIns="45720" anchor="ctr">
            <a:spAutoFit/>
          </a:bodyPr>
          <a:lstStyle/>
          <a:p>
            <a:pPr algn="l">
              <a:spcAft>
                <a:spcPts val="400"/>
              </a:spcAft>
            </a:pPr>
            <a:r>
              <a:rPr sz="1400" b="1" i="0">
                <a:solidFill>
                  <a:srgbClr val="1B2A41"/>
                </a:solidFill>
                <a:latin typeface="Calibri"/>
              </a:rPr>
              <a:t>Testing</a:t>
            </a:r>
          </a:p>
        </p:txBody>
      </p:sp>
      <p:sp>
        <p:nvSpPr>
          <p:cNvPr id="20" name="Rounded Rectangle 19"/>
          <p:cNvSpPr/>
          <p:nvPr/>
        </p:nvSpPr>
        <p:spPr>
          <a:xfrm>
            <a:off x="2971800" y="4169663"/>
            <a:ext cx="1133856" cy="438912"/>
          </a:xfrm>
          <a:prstGeom prst="roundRect">
            <a:avLst>
              <a:gd name="adj" fmla="val 31250"/>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2</a:t>
            </a:r>
          </a:p>
        </p:txBody>
      </p:sp>
      <p:sp>
        <p:nvSpPr>
          <p:cNvPr id="21" name="TextBox 20"/>
          <p:cNvSpPr txBox="1"/>
          <p:nvPr/>
        </p:nvSpPr>
        <p:spPr>
          <a:xfrm>
            <a:off x="4242816" y="4114800"/>
            <a:ext cx="7397496" cy="548640"/>
          </a:xfrm>
          <a:prstGeom prst="rect">
            <a:avLst/>
          </a:prstGeom>
          <a:noFill/>
        </p:spPr>
        <p:txBody>
          <a:bodyPr wrap="square" lIns="45720" rIns="45720" anchor="ctr">
            <a:spAutoFit/>
          </a:bodyPr>
          <a:lstStyle/>
          <a:p>
            <a:pPr algn="l">
              <a:spcAft>
                <a:spcPts val="400"/>
              </a:spcAft>
            </a:pPr>
            <a:r>
              <a:rPr sz="1200" b="0" i="0">
                <a:solidFill>
                  <a:srgbClr val="5B6770"/>
                </a:solidFill>
                <a:latin typeface="Calibri"/>
              </a:rPr>
              <a:t>Expected and actual output recorded</a:t>
            </a:r>
          </a:p>
        </p:txBody>
      </p:sp>
      <p:sp>
        <p:nvSpPr>
          <p:cNvPr id="22" name="TextBox 21"/>
          <p:cNvSpPr txBox="1"/>
          <p:nvPr/>
        </p:nvSpPr>
        <p:spPr>
          <a:xfrm>
            <a:off x="548640" y="4681727"/>
            <a:ext cx="2377440" cy="548640"/>
          </a:xfrm>
          <a:prstGeom prst="rect">
            <a:avLst/>
          </a:prstGeom>
          <a:noFill/>
        </p:spPr>
        <p:txBody>
          <a:bodyPr wrap="square" lIns="45720" rIns="45720" anchor="ctr">
            <a:spAutoFit/>
          </a:bodyPr>
          <a:lstStyle/>
          <a:p>
            <a:pPr algn="l">
              <a:spcAft>
                <a:spcPts val="400"/>
              </a:spcAft>
            </a:pPr>
            <a:r>
              <a:rPr sz="1400" b="1" i="0">
                <a:solidFill>
                  <a:srgbClr val="1B2A41"/>
                </a:solidFill>
                <a:latin typeface="Calibri"/>
              </a:rPr>
              <a:t>Reasoning question</a:t>
            </a:r>
          </a:p>
        </p:txBody>
      </p:sp>
      <p:sp>
        <p:nvSpPr>
          <p:cNvPr id="23" name="Rounded Rectangle 22"/>
          <p:cNvSpPr/>
          <p:nvPr/>
        </p:nvSpPr>
        <p:spPr>
          <a:xfrm>
            <a:off x="2971800" y="4736591"/>
            <a:ext cx="2834640" cy="438912"/>
          </a:xfrm>
          <a:prstGeom prst="roundRect">
            <a:avLst>
              <a:gd name="adj" fmla="val 31250"/>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5</a:t>
            </a:r>
          </a:p>
        </p:txBody>
      </p:sp>
      <p:sp>
        <p:nvSpPr>
          <p:cNvPr id="24" name="TextBox 23"/>
          <p:cNvSpPr txBox="1"/>
          <p:nvPr/>
        </p:nvSpPr>
        <p:spPr>
          <a:xfrm>
            <a:off x="5943600" y="4681727"/>
            <a:ext cx="5696712" cy="548640"/>
          </a:xfrm>
          <a:prstGeom prst="rect">
            <a:avLst/>
          </a:prstGeom>
          <a:noFill/>
        </p:spPr>
        <p:txBody>
          <a:bodyPr wrap="square" lIns="45720" rIns="45720" anchor="ctr">
            <a:spAutoFit/>
          </a:bodyPr>
          <a:lstStyle/>
          <a:p>
            <a:pPr algn="l">
              <a:spcAft>
                <a:spcPts val="400"/>
              </a:spcAft>
            </a:pPr>
            <a:r>
              <a:rPr sz="1200" b="0" i="0">
                <a:solidFill>
                  <a:srgbClr val="5B6770"/>
                </a:solidFill>
                <a:latin typeface="Calibri"/>
              </a:rPr>
              <a:t>Explaining a type error and a precedence error</a:t>
            </a:r>
          </a:p>
        </p:txBody>
      </p:sp>
      <p:sp>
        <p:nvSpPr>
          <p:cNvPr id="25" name="Rounded Rectangle 24"/>
          <p:cNvSpPr/>
          <p:nvPr/>
        </p:nvSpPr>
        <p:spPr>
          <a:xfrm>
            <a:off x="548640" y="5349240"/>
            <a:ext cx="11091672" cy="365760"/>
          </a:xfrm>
          <a:prstGeom prst="roundRect">
            <a:avLst>
              <a:gd name="adj" fmla="val 30000"/>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ctr">
              <a:spcAft>
                <a:spcPts val="200"/>
              </a:spcAft>
            </a:pPr>
            <a:r>
              <a:rPr sz="1400" b="1" i="0">
                <a:solidFill>
                  <a:srgbClr val="085797"/>
                </a:solidFill>
                <a:latin typeface="Calibri"/>
              </a:rPr>
              <a:t>Total: 25 marks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622792" cy="822960"/>
          </a:xfrm>
        </p:spPr>
        <p:txBody>
          <a:bodyPr wrap="square" anchor="ctr"/>
          <a:lstStyle/>
          <a:p>
            <a:pPr algn="l"/>
            <a:r>
              <a:rPr sz="3200" b="1">
                <a:solidFill>
                  <a:srgbClr val="085797"/>
                </a:solidFill>
                <a:latin typeface="Calibri"/>
              </a:rPr>
              <a:t>Rules for a fair marking guide</a:t>
            </a:r>
          </a:p>
        </p:txBody>
      </p:sp>
      <p:sp>
        <p:nvSpPr>
          <p:cNvPr id="3" name="Rounded Rectangle 2"/>
          <p:cNvSpPr/>
          <p:nvPr/>
        </p:nvSpPr>
        <p:spPr>
          <a:xfrm>
            <a:off x="9354312" y="457200"/>
            <a:ext cx="22860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Consolidation</a:t>
            </a:r>
          </a:p>
        </p:txBody>
      </p:sp>
      <p:sp>
        <p:nvSpPr>
          <p:cNvPr id="4" name="Rounded Rectangle 3"/>
          <p:cNvSpPr/>
          <p:nvPr/>
        </p:nvSpPr>
        <p:spPr>
          <a:xfrm>
            <a:off x="548640" y="1280160"/>
            <a:ext cx="7315200" cy="960120"/>
          </a:xfrm>
          <a:prstGeom prst="roundRect">
            <a:avLst>
              <a:gd name="adj" fmla="val 11428"/>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280160"/>
            <a:ext cx="164592" cy="960120"/>
          </a:xfrm>
          <a:prstGeom prst="rect">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80160"/>
            <a:ext cx="6858000" cy="960120"/>
          </a:xfrm>
          <a:prstGeom prst="rect">
            <a:avLst/>
          </a:prstGeom>
          <a:noFill/>
        </p:spPr>
        <p:txBody>
          <a:bodyPr wrap="square" lIns="45720" rIns="45720" anchor="ctr">
            <a:spAutoFit/>
          </a:bodyPr>
          <a:lstStyle/>
          <a:p>
            <a:pPr algn="l">
              <a:spcAft>
                <a:spcPts val="100"/>
              </a:spcAft>
            </a:pPr>
            <a:r>
              <a:rPr sz="1600" b="1" i="0">
                <a:solidFill>
                  <a:srgbClr val="E31E3B"/>
                </a:solidFill>
                <a:latin typeface="Calibri"/>
              </a:rPr>
              <a:t>A wrong formula loses only its own mark</a:t>
            </a:r>
          </a:p>
          <a:p>
            <a:pPr algn="l">
              <a:spcAft>
                <a:spcPts val="400"/>
              </a:spcAft>
            </a:pPr>
            <a:r>
              <a:rPr sz="1300" b="0" i="0">
                <a:solidFill>
                  <a:srgbClr val="1B2A41"/>
                </a:solidFill>
                <a:latin typeface="Calibri"/>
              </a:rPr>
              <a:t>Output marks follow through if layout and format are right.</a:t>
            </a:r>
          </a:p>
        </p:txBody>
      </p:sp>
      <p:sp>
        <p:nvSpPr>
          <p:cNvPr id="7" name="Rounded Rectangle 6"/>
          <p:cNvSpPr/>
          <p:nvPr/>
        </p:nvSpPr>
        <p:spPr>
          <a:xfrm>
            <a:off x="548640" y="2377439"/>
            <a:ext cx="7315200" cy="960120"/>
          </a:xfrm>
          <a:prstGeom prst="roundRect">
            <a:avLst>
              <a:gd name="adj" fmla="val 11428"/>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377439"/>
            <a:ext cx="164592" cy="960120"/>
          </a:xfrm>
          <a:prstGeom prst="rect">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377439"/>
            <a:ext cx="6858000" cy="960120"/>
          </a:xfrm>
          <a:prstGeom prst="rect">
            <a:avLst/>
          </a:prstGeom>
          <a:noFill/>
        </p:spPr>
        <p:txBody>
          <a:bodyPr wrap="square" lIns="45720" rIns="45720" anchor="ctr">
            <a:spAutoFit/>
          </a:bodyPr>
          <a:lstStyle/>
          <a:p>
            <a:pPr algn="l">
              <a:spcAft>
                <a:spcPts val="100"/>
              </a:spcAft>
            </a:pPr>
            <a:r>
              <a:rPr sz="1600" b="1" i="0">
                <a:solidFill>
                  <a:srgbClr val="085797"/>
                </a:solidFill>
                <a:latin typeface="Calibri"/>
              </a:rPr>
              <a:t>Every mark ties to something visible</a:t>
            </a:r>
          </a:p>
          <a:p>
            <a:pPr algn="l">
              <a:spcAft>
                <a:spcPts val="400"/>
              </a:spcAft>
            </a:pPr>
            <a:r>
              <a:rPr sz="1300" b="0" i="0">
                <a:solidFill>
                  <a:srgbClr val="1B2A41"/>
                </a:solidFill>
                <a:latin typeface="Calibri"/>
              </a:rPr>
              <a:t>The marker can see it in the file or in the output.</a:t>
            </a:r>
          </a:p>
        </p:txBody>
      </p:sp>
      <p:sp>
        <p:nvSpPr>
          <p:cNvPr id="10" name="Rounded Rectangle 9"/>
          <p:cNvSpPr/>
          <p:nvPr/>
        </p:nvSpPr>
        <p:spPr>
          <a:xfrm>
            <a:off x="548640" y="3474720"/>
            <a:ext cx="7315200" cy="960120"/>
          </a:xfrm>
          <a:prstGeom prst="roundRect">
            <a:avLst>
              <a:gd name="adj" fmla="val 11428"/>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74720"/>
            <a:ext cx="164592" cy="9601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3474720"/>
            <a:ext cx="6858000" cy="960120"/>
          </a:xfrm>
          <a:prstGeom prst="rect">
            <a:avLst/>
          </a:prstGeom>
          <a:noFill/>
        </p:spPr>
        <p:txBody>
          <a:bodyPr wrap="square" lIns="45720" rIns="45720" anchor="ctr">
            <a:spAutoFit/>
          </a:bodyPr>
          <a:lstStyle/>
          <a:p>
            <a:pPr algn="l">
              <a:spcAft>
                <a:spcPts val="100"/>
              </a:spcAft>
            </a:pPr>
            <a:r>
              <a:rPr sz="1600" b="1" i="0">
                <a:solidFill>
                  <a:srgbClr val="2E8B57"/>
                </a:solidFill>
                <a:latin typeface="Calibri"/>
              </a:rPr>
              <a:t>Mix cognitive levels</a:t>
            </a:r>
          </a:p>
          <a:p>
            <a:pPr algn="l">
              <a:spcAft>
                <a:spcPts val="400"/>
              </a:spcAft>
            </a:pPr>
            <a:r>
              <a:rPr sz="1300" b="0" i="0">
                <a:solidFill>
                  <a:srgbClr val="1B2A41"/>
                </a:solidFill>
                <a:latin typeface="Calibri"/>
              </a:rPr>
              <a:t>Trace and explain code (understand), write from a scenario (apply), find and explain a fault (analyse).</a:t>
            </a:r>
          </a:p>
        </p:txBody>
      </p:sp>
      <p:sp>
        <p:nvSpPr>
          <p:cNvPr id="13" name="Rounded Rectangle 12"/>
          <p:cNvSpPr/>
          <p:nvPr/>
        </p:nvSpPr>
        <p:spPr>
          <a:xfrm>
            <a:off x="548640" y="4572000"/>
            <a:ext cx="7315200" cy="960120"/>
          </a:xfrm>
          <a:prstGeom prst="roundRect">
            <a:avLst>
              <a:gd name="adj" fmla="val 11428"/>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4572000"/>
            <a:ext cx="164592" cy="960120"/>
          </a:xfrm>
          <a:prstGeom prst="rect">
            <a:avLst/>
          </a:prstGeom>
          <a:solidFill>
            <a:srgbClr val="C9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4572000"/>
            <a:ext cx="6858000" cy="960120"/>
          </a:xfrm>
          <a:prstGeom prst="rect">
            <a:avLst/>
          </a:prstGeom>
          <a:noFill/>
        </p:spPr>
        <p:txBody>
          <a:bodyPr wrap="square" lIns="45720" rIns="45720" anchor="ctr">
            <a:spAutoFit/>
          </a:bodyPr>
          <a:lstStyle/>
          <a:p>
            <a:pPr algn="l">
              <a:spcAft>
                <a:spcPts val="100"/>
              </a:spcAft>
            </a:pPr>
            <a:r>
              <a:rPr sz="1600" b="1" i="0">
                <a:solidFill>
                  <a:srgbClr val="C9780A"/>
                </a:solidFill>
                <a:latin typeface="Calibri"/>
              </a:rPr>
              <a:t>Solve your own task first</a:t>
            </a:r>
          </a:p>
          <a:p>
            <a:pPr algn="l">
              <a:spcAft>
                <a:spcPts val="400"/>
              </a:spcAft>
            </a:pPr>
            <a:r>
              <a:rPr sz="1300" b="0" i="0">
                <a:solidFill>
                  <a:srgbClr val="1B2A41"/>
                </a:solidFill>
                <a:latin typeface="Calibri"/>
              </a:rPr>
              <a:t>If a neighbour has to ask you a question, rewrite the task.</a:t>
            </a:r>
          </a:p>
        </p:txBody>
      </p:sp>
      <p:sp>
        <p:nvSpPr>
          <p:cNvPr id="16" name="Oval 15"/>
          <p:cNvSpPr/>
          <p:nvPr/>
        </p:nvSpPr>
        <p:spPr>
          <a:xfrm>
            <a:off x="8778240" y="1463040"/>
            <a:ext cx="365760" cy="365760"/>
          </a:xfrm>
          <a:prstGeom prst="ellipse">
            <a:avLst/>
          </a:prstGeom>
          <a:solidFill>
            <a:srgbClr val="F2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 Same Side Corner Rectangle 16"/>
          <p:cNvSpPr/>
          <p:nvPr/>
        </p:nvSpPr>
        <p:spPr>
          <a:xfrm>
            <a:off x="8595360" y="1874520"/>
            <a:ext cx="731520" cy="640080"/>
          </a:xfrm>
          <a:prstGeom prst="round2SameRect">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607040" y="1463040"/>
            <a:ext cx="365760" cy="365760"/>
          </a:xfrm>
          <a:prstGeom prst="ellipse">
            <a:avLst/>
          </a:prstGeom>
          <a:solidFill>
            <a:srgbClr val="F2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 Same Side Corner Rectangle 18"/>
          <p:cNvSpPr/>
          <p:nvPr/>
        </p:nvSpPr>
        <p:spPr>
          <a:xfrm>
            <a:off x="10424160" y="1874520"/>
            <a:ext cx="731520" cy="640080"/>
          </a:xfrm>
          <a:prstGeom prst="round2SameRect">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0" y="3383280"/>
            <a:ext cx="3383280" cy="457200"/>
          </a:xfrm>
          <a:prstGeom prst="rect">
            <a:avLst/>
          </a:prstGeom>
          <a:noFill/>
        </p:spPr>
        <p:txBody>
          <a:bodyPr wrap="square" lIns="45720" rIns="45720" anchor="t">
            <a:spAutoFit/>
          </a:bodyPr>
          <a:lstStyle/>
          <a:p>
            <a:pPr algn="ctr">
              <a:spcAft>
                <a:spcPts val="400"/>
              </a:spcAft>
            </a:pPr>
            <a:r>
              <a:rPr sz="1400" b="1" i="0">
                <a:solidFill>
                  <a:srgbClr val="085797"/>
                </a:solidFill>
                <a:latin typeface="Calibri"/>
              </a:rPr>
              <a:t>Marker A</a:t>
            </a:r>
            <a:r>
              <a:rPr sz="1400" b="0" i="0">
                <a:solidFill>
                  <a:srgbClr val="1B2A41"/>
                </a:solidFill>
                <a:latin typeface="Calibri"/>
              </a:rPr>
              <a:t>        </a:t>
            </a:r>
            <a:r>
              <a:rPr sz="1400" b="1" i="0">
                <a:solidFill>
                  <a:srgbClr val="E31E3B"/>
                </a:solidFill>
                <a:latin typeface="Calibri"/>
              </a:rPr>
              <a:t>Marker B</a:t>
            </a:r>
          </a:p>
        </p:txBody>
      </p:sp>
      <p:sp>
        <p:nvSpPr>
          <p:cNvPr id="21" name="Rounded Rectangle 20"/>
          <p:cNvSpPr/>
          <p:nvPr/>
        </p:nvSpPr>
        <p:spPr>
          <a:xfrm>
            <a:off x="8412480" y="3840480"/>
            <a:ext cx="3017520" cy="731520"/>
          </a:xfrm>
          <a:prstGeom prst="roundRect">
            <a:avLst>
              <a:gd name="adj" fmla="val 18749"/>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2000" b="1" i="0">
                <a:solidFill>
                  <a:srgbClr val="2E8B57"/>
                </a:solidFill>
                <a:latin typeface="Calibri"/>
              </a:rPr>
              <a:t>same mark</a:t>
            </a:r>
          </a:p>
        </p:txBody>
      </p:sp>
      <p:sp>
        <p:nvSpPr>
          <p:cNvPr id="22" name="TextBox 21"/>
          <p:cNvSpPr txBox="1"/>
          <p:nvPr/>
        </p:nvSpPr>
        <p:spPr>
          <a:xfrm>
            <a:off x="8229600" y="4663440"/>
            <a:ext cx="3383280" cy="822960"/>
          </a:xfrm>
          <a:prstGeom prst="rect">
            <a:avLst/>
          </a:prstGeom>
          <a:noFill/>
        </p:spPr>
        <p:txBody>
          <a:bodyPr wrap="square" lIns="45720" rIns="45720" anchor="t">
            <a:spAutoFit/>
          </a:bodyPr>
          <a:lstStyle/>
          <a:p>
            <a:pPr algn="ctr">
              <a:spcAft>
                <a:spcPts val="400"/>
              </a:spcAft>
            </a:pPr>
            <a:r>
              <a:rPr sz="1500" b="0" i="1">
                <a:solidFill>
                  <a:srgbClr val="5B6770"/>
                </a:solidFill>
                <a:latin typeface="Calibri"/>
              </a:rPr>
              <a:t>from the guide alone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165592" cy="822960"/>
          </a:xfrm>
        </p:spPr>
        <p:txBody>
          <a:bodyPr wrap="square" anchor="ctr"/>
          <a:lstStyle/>
          <a:p>
            <a:pPr algn="l"/>
            <a:r>
              <a:rPr sz="3200" b="1">
                <a:solidFill>
                  <a:srgbClr val="085797"/>
                </a:solidFill>
                <a:latin typeface="Calibri"/>
              </a:rPr>
              <a:t>A9 and A10: assessment design</a:t>
            </a:r>
          </a:p>
        </p:txBody>
      </p:sp>
      <p:sp>
        <p:nvSpPr>
          <p:cNvPr id="3" name="Rounded Rectangle 2"/>
          <p:cNvSpPr/>
          <p:nvPr/>
        </p:nvSpPr>
        <p:spPr>
          <a:xfrm>
            <a:off x="8897112" y="457200"/>
            <a:ext cx="27432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Consolidation · Activities</a:t>
            </a:r>
          </a:p>
        </p:txBody>
      </p:sp>
      <p:sp>
        <p:nvSpPr>
          <p:cNvPr id="4" name="Rounded Rectangle 3"/>
          <p:cNvSpPr/>
          <p:nvPr/>
        </p:nvSpPr>
        <p:spPr>
          <a:xfrm>
            <a:off x="548640" y="1280160"/>
            <a:ext cx="5449824" cy="3520440"/>
          </a:xfrm>
          <a:prstGeom prst="roundRect">
            <a:avLst>
              <a:gd name="adj" fmla="val 5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1463040"/>
            <a:ext cx="640080" cy="64008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A9</a:t>
            </a:r>
          </a:p>
        </p:txBody>
      </p:sp>
      <p:sp>
        <p:nvSpPr>
          <p:cNvPr id="6" name="TextBox 5"/>
          <p:cNvSpPr txBox="1"/>
          <p:nvPr/>
        </p:nvSpPr>
        <p:spPr>
          <a:xfrm>
            <a:off x="1463040" y="1371600"/>
            <a:ext cx="4434840" cy="822960"/>
          </a:xfrm>
          <a:prstGeom prst="rect">
            <a:avLst/>
          </a:prstGeom>
          <a:noFill/>
        </p:spPr>
        <p:txBody>
          <a:bodyPr wrap="square" anchor="ctr">
            <a:spAutoFit/>
          </a:bodyPr>
          <a:lstStyle/>
          <a:p>
            <a:r>
              <a:rPr sz="1700" b="1">
                <a:solidFill>
                  <a:srgbClr val="085797"/>
                </a:solidFill>
                <a:latin typeface="Calibri"/>
              </a:rPr>
              <a:t>Lecturer-led: dissect the model (25 min)</a:t>
            </a:r>
          </a:p>
        </p:txBody>
      </p:sp>
      <p:sp>
        <p:nvSpPr>
          <p:cNvPr id="7" name="TextBox 6"/>
          <p:cNvSpPr txBox="1"/>
          <p:nvPr/>
        </p:nvSpPr>
        <p:spPr>
          <a:xfrm>
            <a:off x="777240" y="2286000"/>
            <a:ext cx="4983480" cy="2468880"/>
          </a:xfrm>
          <a:prstGeom prst="rect">
            <a:avLst/>
          </a:prstGeom>
          <a:noFill/>
        </p:spPr>
        <p:txBody>
          <a:bodyPr wrap="square">
            <a:spAutoFit/>
          </a:bodyPr>
          <a:lstStyle/>
          <a:p>
            <a:pPr>
              <a:spcAft>
                <a:spcPts val="700"/>
              </a:spcAft>
            </a:pPr>
            <a:r>
              <a:rPr sz="1600">
                <a:solidFill>
                  <a:srgbClr val="1B2A41"/>
                </a:solidFill>
                <a:latin typeface="Calibri"/>
              </a:rPr>
              <a:t>Underline every instruction that earns a mark</a:t>
            </a:r>
          </a:p>
          <a:p>
            <a:pPr>
              <a:spcAft>
                <a:spcPts val="700"/>
              </a:spcAft>
            </a:pPr>
            <a:r>
              <a:rPr sz="1600">
                <a:solidFill>
                  <a:srgbClr val="1B2A41"/>
                </a:solidFill>
                <a:latin typeface="Calibri"/>
              </a:rPr>
              <a:t>Match each to a line of the marking guide</a:t>
            </a:r>
          </a:p>
          <a:p>
            <a:pPr>
              <a:spcAft>
                <a:spcPts val="700"/>
              </a:spcAft>
            </a:pPr>
            <a:r>
              <a:rPr sz="1600">
                <a:solidFill>
                  <a:srgbClr val="1B2A41"/>
                </a:solidFill>
                <a:latin typeface="Calibri"/>
              </a:rPr>
              <a:t>Find a place where marks could be lost twice</a:t>
            </a:r>
          </a:p>
          <a:p>
            <a:pPr>
              <a:spcAft>
                <a:spcPts val="700"/>
              </a:spcAft>
            </a:pPr>
            <a:r>
              <a:rPr sz="1600">
                <a:solidFill>
                  <a:srgbClr val="1B2A41"/>
                </a:solidFill>
                <a:latin typeface="Calibri"/>
              </a:rPr>
              <a:t>Run the model solution on tests 1 and 2</a:t>
            </a:r>
          </a:p>
        </p:txBody>
      </p:sp>
      <p:sp>
        <p:nvSpPr>
          <p:cNvPr id="8" name="Rounded Rectangle 7"/>
          <p:cNvSpPr/>
          <p:nvPr/>
        </p:nvSpPr>
        <p:spPr>
          <a:xfrm>
            <a:off x="6190488" y="1280160"/>
            <a:ext cx="5449824" cy="3520440"/>
          </a:xfrm>
          <a:prstGeom prst="roundRect">
            <a:avLst>
              <a:gd name="adj" fmla="val 5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327648" y="1463040"/>
            <a:ext cx="640080" cy="640080"/>
          </a:xfrm>
          <a:prstGeom prst="ellipse">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A10</a:t>
            </a:r>
          </a:p>
        </p:txBody>
      </p:sp>
      <p:sp>
        <p:nvSpPr>
          <p:cNvPr id="10" name="TextBox 9"/>
          <p:cNvSpPr txBox="1"/>
          <p:nvPr/>
        </p:nvSpPr>
        <p:spPr>
          <a:xfrm>
            <a:off x="7104888" y="1371600"/>
            <a:ext cx="4434840" cy="822960"/>
          </a:xfrm>
          <a:prstGeom prst="rect">
            <a:avLst/>
          </a:prstGeom>
          <a:noFill/>
        </p:spPr>
        <p:txBody>
          <a:bodyPr wrap="square" anchor="ctr">
            <a:spAutoFit/>
          </a:bodyPr>
          <a:lstStyle/>
          <a:p>
            <a:r>
              <a:rPr sz="1700" b="1">
                <a:solidFill>
                  <a:srgbClr val="E31E3B"/>
                </a:solidFill>
                <a:latin typeface="Calibri"/>
              </a:rPr>
              <a:t>Independent: build your own (50 min)</a:t>
            </a:r>
          </a:p>
        </p:txBody>
      </p:sp>
      <p:sp>
        <p:nvSpPr>
          <p:cNvPr id="11" name="TextBox 10"/>
          <p:cNvSpPr txBox="1"/>
          <p:nvPr/>
        </p:nvSpPr>
        <p:spPr>
          <a:xfrm>
            <a:off x="6419088" y="2286000"/>
            <a:ext cx="4983480" cy="2468880"/>
          </a:xfrm>
          <a:prstGeom prst="rect">
            <a:avLst/>
          </a:prstGeom>
          <a:noFill/>
        </p:spPr>
        <p:txBody>
          <a:bodyPr wrap="square">
            <a:spAutoFit/>
          </a:bodyPr>
          <a:lstStyle/>
          <a:p>
            <a:pPr>
              <a:spcAft>
                <a:spcPts val="700"/>
              </a:spcAft>
            </a:pPr>
            <a:r>
              <a:rPr sz="1600">
                <a:solidFill>
                  <a:srgbClr val="1B2A41"/>
                </a:solidFill>
                <a:latin typeface="Calibri"/>
              </a:rPr>
              <a:t>Scenario from your college context</a:t>
            </a:r>
          </a:p>
          <a:p>
            <a:pPr>
              <a:spcAft>
                <a:spcPts val="700"/>
              </a:spcAft>
            </a:pPr>
            <a:r>
              <a:rPr sz="1600">
                <a:solidFill>
                  <a:srgbClr val="1B2A41"/>
                </a:solidFill>
                <a:latin typeface="Calibri"/>
              </a:rPr>
              <a:t>Outcomes, test data, model solution, marking guide (20 to 30 marks)</a:t>
            </a:r>
          </a:p>
          <a:p>
            <a:pPr>
              <a:spcAft>
                <a:spcPts val="700"/>
              </a:spcAft>
            </a:pPr>
            <a:r>
              <a:rPr sz="1600">
                <a:solidFill>
                  <a:srgbClr val="1B2A41"/>
                </a:solidFill>
                <a:latin typeface="Calibri"/>
              </a:rPr>
              <a:t>One reasoning question with a model answer</a:t>
            </a:r>
          </a:p>
          <a:p>
            <a:pPr>
              <a:spcAft>
                <a:spcPts val="700"/>
              </a:spcAft>
            </a:pPr>
            <a:r>
              <a:rPr sz="1600">
                <a:solidFill>
                  <a:srgbClr val="1B2A41"/>
                </a:solidFill>
                <a:latin typeface="Calibri"/>
              </a:rPr>
              <a:t>A neighbour solves it in 10 minutes</a:t>
            </a:r>
          </a:p>
        </p:txBody>
      </p:sp>
      <p:sp>
        <p:nvSpPr>
          <p:cNvPr id="12" name="Rounded Rectangle 11"/>
          <p:cNvSpPr/>
          <p:nvPr/>
        </p:nvSpPr>
        <p:spPr>
          <a:xfrm>
            <a:off x="548640" y="5029200"/>
            <a:ext cx="11091672" cy="640080"/>
          </a:xfrm>
          <a:prstGeom prst="roundRect">
            <a:avLst>
              <a:gd name="adj" fmla="val 12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ctr"/>
            <a:r>
              <a:rPr sz="1700" b="1">
                <a:solidFill>
                  <a:srgbClr val="085797"/>
                </a:solidFill>
                <a:latin typeface="Calibri"/>
              </a:rPr>
              <a:t>Commit to day3: assessment_learner.md, assessment_memo.md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8622792" cy="822960"/>
          </a:xfrm>
        </p:spPr>
        <p:txBody>
          <a:bodyPr wrap="square" anchor="ctr"/>
          <a:lstStyle/>
          <a:p>
            <a:pPr algn="l"/>
            <a:r>
              <a:rPr sz="3200" b="1">
                <a:solidFill>
                  <a:srgbClr val="085797"/>
                </a:solidFill>
                <a:latin typeface="Calibri"/>
              </a:rPr>
              <a:t>Self-review before you upload</a:t>
            </a:r>
          </a:p>
        </p:txBody>
      </p:sp>
      <p:sp>
        <p:nvSpPr>
          <p:cNvPr id="3" name="Rounded Rectangle 2"/>
          <p:cNvSpPr/>
          <p:nvPr/>
        </p:nvSpPr>
        <p:spPr>
          <a:xfrm>
            <a:off x="9354312" y="457200"/>
            <a:ext cx="22860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Consolidation</a:t>
            </a:r>
          </a:p>
        </p:txBody>
      </p:sp>
      <p:sp>
        <p:nvSpPr>
          <p:cNvPr id="4" name="Rounded Rectangle 3"/>
          <p:cNvSpPr/>
          <p:nvPr/>
        </p:nvSpPr>
        <p:spPr>
          <a:xfrm>
            <a:off x="548640" y="1280160"/>
            <a:ext cx="5449824" cy="914400"/>
          </a:xfrm>
          <a:prstGeom prst="roundRect">
            <a:avLst>
              <a:gd name="adj" fmla="val 12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536192"/>
            <a:ext cx="402336" cy="402336"/>
          </a:xfrm>
          <a:prstGeom prst="roundRect">
            <a:avLst>
              <a:gd name="adj" fmla="val 22727"/>
            </a:avLst>
          </a:prstGeom>
          <a:solidFill>
            <a:srgbClr val="FFFFFF"/>
          </a:solidFill>
          <a:ln w="28575">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1280160"/>
            <a:ext cx="4572000" cy="914400"/>
          </a:xfrm>
          <a:prstGeom prst="rect">
            <a:avLst/>
          </a:prstGeom>
          <a:noFill/>
        </p:spPr>
        <p:txBody>
          <a:bodyPr wrap="square" lIns="45720" rIns="45720" anchor="ctr">
            <a:spAutoFit/>
          </a:bodyPr>
          <a:lstStyle/>
          <a:p>
            <a:pPr algn="l">
              <a:spcAft>
                <a:spcPts val="400"/>
              </a:spcAft>
            </a:pPr>
            <a:r>
              <a:rPr sz="1500" b="0" i="0">
                <a:solidFill>
                  <a:srgbClr val="1B2A41"/>
                </a:solidFill>
                <a:latin typeface="Calibri"/>
              </a:rPr>
              <a:t>Two or three outcomes are named</a:t>
            </a:r>
          </a:p>
        </p:txBody>
      </p:sp>
      <p:sp>
        <p:nvSpPr>
          <p:cNvPr id="7" name="Rounded Rectangle 6"/>
          <p:cNvSpPr/>
          <p:nvPr/>
        </p:nvSpPr>
        <p:spPr>
          <a:xfrm>
            <a:off x="548640" y="2331720"/>
            <a:ext cx="5449824" cy="914400"/>
          </a:xfrm>
          <a:prstGeom prst="roundRect">
            <a:avLst>
              <a:gd name="adj" fmla="val 12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 y="2587752"/>
            <a:ext cx="402336" cy="402336"/>
          </a:xfrm>
          <a:prstGeom prst="roundRect">
            <a:avLst>
              <a:gd name="adj" fmla="val 22727"/>
            </a:avLst>
          </a:prstGeom>
          <a:solidFill>
            <a:srgbClr val="FFFFFF"/>
          </a:solidFill>
          <a:ln w="28575">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2331720"/>
            <a:ext cx="4572000" cy="914400"/>
          </a:xfrm>
          <a:prstGeom prst="rect">
            <a:avLst/>
          </a:prstGeom>
          <a:noFill/>
        </p:spPr>
        <p:txBody>
          <a:bodyPr wrap="square" lIns="45720" rIns="45720" anchor="ctr">
            <a:spAutoFit/>
          </a:bodyPr>
          <a:lstStyle/>
          <a:p>
            <a:pPr algn="l">
              <a:spcAft>
                <a:spcPts val="400"/>
              </a:spcAft>
            </a:pPr>
            <a:r>
              <a:rPr sz="1500" b="0" i="0">
                <a:solidFill>
                  <a:srgbClr val="1B2A41"/>
                </a:solidFill>
                <a:latin typeface="Calibri"/>
              </a:rPr>
              <a:t>Every input and output has a unit and type</a:t>
            </a:r>
          </a:p>
        </p:txBody>
      </p:sp>
      <p:sp>
        <p:nvSpPr>
          <p:cNvPr id="10" name="Rounded Rectangle 9"/>
          <p:cNvSpPr/>
          <p:nvPr/>
        </p:nvSpPr>
        <p:spPr>
          <a:xfrm>
            <a:off x="548640" y="3383279"/>
            <a:ext cx="5449824" cy="914400"/>
          </a:xfrm>
          <a:prstGeom prst="roundRect">
            <a:avLst>
              <a:gd name="adj" fmla="val 12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3639311"/>
            <a:ext cx="402336" cy="402336"/>
          </a:xfrm>
          <a:prstGeom prst="roundRect">
            <a:avLst>
              <a:gd name="adj" fmla="val 22727"/>
            </a:avLst>
          </a:prstGeom>
          <a:solidFill>
            <a:srgbClr val="FFFFFF"/>
          </a:solidFill>
          <a:ln w="28575">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25880" y="3383279"/>
            <a:ext cx="4572000" cy="914400"/>
          </a:xfrm>
          <a:prstGeom prst="rect">
            <a:avLst/>
          </a:prstGeom>
          <a:noFill/>
        </p:spPr>
        <p:txBody>
          <a:bodyPr wrap="square" lIns="45720" rIns="45720" anchor="ctr">
            <a:spAutoFit/>
          </a:bodyPr>
          <a:lstStyle/>
          <a:p>
            <a:pPr algn="l">
              <a:spcAft>
                <a:spcPts val="400"/>
              </a:spcAft>
            </a:pPr>
            <a:r>
              <a:rPr sz="1500" b="0" i="0">
                <a:solidFill>
                  <a:srgbClr val="1B2A41"/>
                </a:solidFill>
                <a:latin typeface="Calibri"/>
              </a:rPr>
              <a:t>Three test data sets: normal, boundary, invalid</a:t>
            </a:r>
          </a:p>
        </p:txBody>
      </p:sp>
      <p:sp>
        <p:nvSpPr>
          <p:cNvPr id="13" name="Rounded Rectangle 12"/>
          <p:cNvSpPr/>
          <p:nvPr/>
        </p:nvSpPr>
        <p:spPr>
          <a:xfrm>
            <a:off x="548640" y="4434840"/>
            <a:ext cx="5449824" cy="914400"/>
          </a:xfrm>
          <a:prstGeom prst="roundRect">
            <a:avLst>
              <a:gd name="adj" fmla="val 12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1520" y="4690872"/>
            <a:ext cx="402336" cy="402336"/>
          </a:xfrm>
          <a:prstGeom prst="roundRect">
            <a:avLst>
              <a:gd name="adj" fmla="val 22727"/>
            </a:avLst>
          </a:prstGeom>
          <a:solidFill>
            <a:srgbClr val="FFFFFF"/>
          </a:solidFill>
          <a:ln w="28575">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25880" y="4434840"/>
            <a:ext cx="4572000" cy="914400"/>
          </a:xfrm>
          <a:prstGeom prst="rect">
            <a:avLst/>
          </a:prstGeom>
          <a:noFill/>
        </p:spPr>
        <p:txBody>
          <a:bodyPr wrap="square" lIns="45720" rIns="45720" anchor="ctr">
            <a:spAutoFit/>
          </a:bodyPr>
          <a:lstStyle/>
          <a:p>
            <a:pPr algn="l">
              <a:spcAft>
                <a:spcPts val="400"/>
              </a:spcAft>
            </a:pPr>
            <a:r>
              <a:rPr sz="1500" b="0" i="0">
                <a:solidFill>
                  <a:srgbClr val="1B2A41"/>
                </a:solidFill>
                <a:latin typeface="Calibri"/>
              </a:rPr>
              <a:t>The model solution runs in Thonny on every set</a:t>
            </a:r>
          </a:p>
        </p:txBody>
      </p:sp>
      <p:sp>
        <p:nvSpPr>
          <p:cNvPr id="16" name="Rounded Rectangle 15"/>
          <p:cNvSpPr/>
          <p:nvPr/>
        </p:nvSpPr>
        <p:spPr>
          <a:xfrm>
            <a:off x="6190488" y="1280160"/>
            <a:ext cx="5449824" cy="914400"/>
          </a:xfrm>
          <a:prstGeom prst="roundRect">
            <a:avLst>
              <a:gd name="adj" fmla="val 12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73368" y="1536192"/>
            <a:ext cx="402336" cy="402336"/>
          </a:xfrm>
          <a:prstGeom prst="roundRect">
            <a:avLst>
              <a:gd name="adj" fmla="val 22727"/>
            </a:avLst>
          </a:prstGeom>
          <a:solidFill>
            <a:srgbClr val="FFFFFF"/>
          </a:solidFill>
          <a:ln w="28575">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67727" y="1280160"/>
            <a:ext cx="4572000" cy="914400"/>
          </a:xfrm>
          <a:prstGeom prst="rect">
            <a:avLst/>
          </a:prstGeom>
          <a:noFill/>
        </p:spPr>
        <p:txBody>
          <a:bodyPr wrap="square" lIns="45720" rIns="45720" anchor="ctr">
            <a:spAutoFit/>
          </a:bodyPr>
          <a:lstStyle/>
          <a:p>
            <a:pPr algn="l">
              <a:spcAft>
                <a:spcPts val="400"/>
              </a:spcAft>
            </a:pPr>
            <a:r>
              <a:rPr sz="1500" b="0" i="0">
                <a:solidFill>
                  <a:srgbClr val="1B2A41"/>
                </a:solidFill>
                <a:latin typeface="Calibri"/>
              </a:rPr>
              <a:t>Marks total 20 to 30, each tied to one outcome</a:t>
            </a:r>
          </a:p>
        </p:txBody>
      </p:sp>
      <p:sp>
        <p:nvSpPr>
          <p:cNvPr id="19" name="Rounded Rectangle 18"/>
          <p:cNvSpPr/>
          <p:nvPr/>
        </p:nvSpPr>
        <p:spPr>
          <a:xfrm>
            <a:off x="6190488" y="2331720"/>
            <a:ext cx="5449824" cy="914400"/>
          </a:xfrm>
          <a:prstGeom prst="roundRect">
            <a:avLst>
              <a:gd name="adj" fmla="val 12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373368" y="2587752"/>
            <a:ext cx="402336" cy="402336"/>
          </a:xfrm>
          <a:prstGeom prst="roundRect">
            <a:avLst>
              <a:gd name="adj" fmla="val 22727"/>
            </a:avLst>
          </a:prstGeom>
          <a:solidFill>
            <a:srgbClr val="FFFFFF"/>
          </a:solidFill>
          <a:ln w="28575">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67727" y="2331720"/>
            <a:ext cx="4572000" cy="914400"/>
          </a:xfrm>
          <a:prstGeom prst="rect">
            <a:avLst/>
          </a:prstGeom>
          <a:noFill/>
        </p:spPr>
        <p:txBody>
          <a:bodyPr wrap="square" lIns="45720" rIns="45720" anchor="ctr">
            <a:spAutoFit/>
          </a:bodyPr>
          <a:lstStyle/>
          <a:p>
            <a:pPr algn="l">
              <a:spcAft>
                <a:spcPts val="400"/>
              </a:spcAft>
            </a:pPr>
            <a:r>
              <a:rPr sz="1500" b="0" i="0">
                <a:solidFill>
                  <a:srgbClr val="1B2A41"/>
                </a:solidFill>
                <a:latin typeface="Calibri"/>
              </a:rPr>
              <a:t>One reasoning question with a model answer</a:t>
            </a:r>
          </a:p>
        </p:txBody>
      </p:sp>
      <p:sp>
        <p:nvSpPr>
          <p:cNvPr id="22" name="Rounded Rectangle 21"/>
          <p:cNvSpPr/>
          <p:nvPr/>
        </p:nvSpPr>
        <p:spPr>
          <a:xfrm>
            <a:off x="6190488" y="3383279"/>
            <a:ext cx="5449824" cy="914400"/>
          </a:xfrm>
          <a:prstGeom prst="roundRect">
            <a:avLst>
              <a:gd name="adj" fmla="val 12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373368" y="3639311"/>
            <a:ext cx="402336" cy="402336"/>
          </a:xfrm>
          <a:prstGeom prst="roundRect">
            <a:avLst>
              <a:gd name="adj" fmla="val 22727"/>
            </a:avLst>
          </a:prstGeom>
          <a:solidFill>
            <a:srgbClr val="FFFFFF"/>
          </a:solidFill>
          <a:ln w="28575">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67727" y="3383279"/>
            <a:ext cx="4572000" cy="914400"/>
          </a:xfrm>
          <a:prstGeom prst="rect">
            <a:avLst/>
          </a:prstGeom>
          <a:noFill/>
        </p:spPr>
        <p:txBody>
          <a:bodyPr wrap="square" lIns="45720" rIns="45720" anchor="ctr">
            <a:spAutoFit/>
          </a:bodyPr>
          <a:lstStyle/>
          <a:p>
            <a:pPr algn="l">
              <a:spcAft>
                <a:spcPts val="400"/>
              </a:spcAft>
            </a:pPr>
            <a:r>
              <a:rPr sz="1500" b="0" i="0">
                <a:solidFill>
                  <a:srgbClr val="1B2A41"/>
                </a:solidFill>
                <a:latin typeface="Calibri"/>
              </a:rPr>
              <a:t>Only input, conversion, arithmetic, output: no if, no loops</a:t>
            </a:r>
          </a:p>
        </p:txBody>
      </p:sp>
      <p:sp>
        <p:nvSpPr>
          <p:cNvPr id="25" name="Rounded Rectangle 24"/>
          <p:cNvSpPr/>
          <p:nvPr/>
        </p:nvSpPr>
        <p:spPr>
          <a:xfrm>
            <a:off x="6190488" y="4434840"/>
            <a:ext cx="5449824" cy="914400"/>
          </a:xfrm>
          <a:prstGeom prst="roundRect">
            <a:avLst>
              <a:gd name="adj" fmla="val 1200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373368" y="4690872"/>
            <a:ext cx="402336" cy="402336"/>
          </a:xfrm>
          <a:prstGeom prst="roundRect">
            <a:avLst>
              <a:gd name="adj" fmla="val 22727"/>
            </a:avLst>
          </a:prstGeom>
          <a:solidFill>
            <a:srgbClr val="FFFFFF"/>
          </a:solidFill>
          <a:ln w="28575">
            <a:solidFill>
              <a:srgbClr val="085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67727" y="4434840"/>
            <a:ext cx="4572000" cy="914400"/>
          </a:xfrm>
          <a:prstGeom prst="rect">
            <a:avLst/>
          </a:prstGeom>
          <a:noFill/>
        </p:spPr>
        <p:txBody>
          <a:bodyPr wrap="square" lIns="45720" rIns="45720" anchor="ctr">
            <a:spAutoFit/>
          </a:bodyPr>
          <a:lstStyle/>
          <a:p>
            <a:pPr algn="l">
              <a:spcAft>
                <a:spcPts val="400"/>
              </a:spcAft>
            </a:pPr>
            <a:r>
              <a:rPr sz="1500" b="0" i="0">
                <a:solidFill>
                  <a:srgbClr val="1B2A41"/>
                </a:solidFill>
                <a:latin typeface="Calibri"/>
              </a:rPr>
              <a:t>A neighbour can follow it without asking you</a:t>
            </a:r>
          </a:p>
        </p:txBody>
      </p:sp>
      <p:sp>
        <p:nvSpPr>
          <p:cNvPr id="28" name="Rounded Rectangle 27"/>
          <p:cNvSpPr/>
          <p:nvPr/>
        </p:nvSpPr>
        <p:spPr>
          <a:xfrm>
            <a:off x="548640" y="5532120"/>
            <a:ext cx="91" cy="9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9445752" cy="822960"/>
          </a:xfrm>
        </p:spPr>
        <p:txBody>
          <a:bodyPr wrap="square" anchor="ctr"/>
          <a:lstStyle/>
          <a:p>
            <a:pPr algn="l"/>
            <a:r>
              <a:rPr sz="3200" b="1">
                <a:solidFill>
                  <a:srgbClr val="085797"/>
                </a:solidFill>
                <a:latin typeface="Calibri"/>
              </a:rPr>
              <a:t>Practice questions</a:t>
            </a:r>
          </a:p>
        </p:txBody>
      </p:sp>
      <p:sp>
        <p:nvSpPr>
          <p:cNvPr id="3" name="Rounded Rectangle 2"/>
          <p:cNvSpPr/>
          <p:nvPr/>
        </p:nvSpPr>
        <p:spPr>
          <a:xfrm>
            <a:off x="10177272" y="457200"/>
            <a:ext cx="146304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Check</a:t>
            </a:r>
          </a:p>
        </p:txBody>
      </p:sp>
      <p:sp>
        <p:nvSpPr>
          <p:cNvPr id="4" name="Rounded Rectangle 3"/>
          <p:cNvSpPr/>
          <p:nvPr/>
        </p:nvSpPr>
        <p:spPr>
          <a:xfrm>
            <a:off x="548640" y="1280160"/>
            <a:ext cx="5449824" cy="987552"/>
          </a:xfrm>
          <a:prstGeom prst="roundRect">
            <a:avLst>
              <a:gd name="adj" fmla="val 1111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1545336"/>
            <a:ext cx="457200" cy="45720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1</a:t>
            </a:r>
          </a:p>
        </p:txBody>
      </p:sp>
      <p:sp>
        <p:nvSpPr>
          <p:cNvPr id="6" name="TextBox 5"/>
          <p:cNvSpPr txBox="1"/>
          <p:nvPr/>
        </p:nvSpPr>
        <p:spPr>
          <a:xfrm>
            <a:off x="1280160" y="1280160"/>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What type is "3.5"?</a:t>
            </a:r>
          </a:p>
        </p:txBody>
      </p:sp>
      <p:sp>
        <p:nvSpPr>
          <p:cNvPr id="7" name="Rounded Rectangle 6"/>
          <p:cNvSpPr/>
          <p:nvPr/>
        </p:nvSpPr>
        <p:spPr>
          <a:xfrm>
            <a:off x="548640" y="2377439"/>
            <a:ext cx="5449824" cy="987552"/>
          </a:xfrm>
          <a:prstGeom prst="roundRect">
            <a:avLst>
              <a:gd name="adj" fmla="val 1111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85800" y="2642615"/>
            <a:ext cx="457200" cy="45720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2</a:t>
            </a:r>
          </a:p>
        </p:txBody>
      </p:sp>
      <p:sp>
        <p:nvSpPr>
          <p:cNvPr id="9" name="TextBox 8"/>
          <p:cNvSpPr txBox="1"/>
          <p:nvPr/>
        </p:nvSpPr>
        <p:spPr>
          <a:xfrm>
            <a:off x="1280160" y="2377439"/>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Work out 8 + 4 / 2 * 3 - 1.</a:t>
            </a:r>
          </a:p>
        </p:txBody>
      </p:sp>
      <p:sp>
        <p:nvSpPr>
          <p:cNvPr id="10" name="Rounded Rectangle 9"/>
          <p:cNvSpPr/>
          <p:nvPr/>
        </p:nvSpPr>
        <p:spPr>
          <a:xfrm>
            <a:off x="548640" y="3474720"/>
            <a:ext cx="5449824" cy="987552"/>
          </a:xfrm>
          <a:prstGeom prst="roundRect">
            <a:avLst>
              <a:gd name="adj" fmla="val 1111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85800" y="3739896"/>
            <a:ext cx="457200" cy="45720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3</a:t>
            </a:r>
          </a:p>
        </p:txBody>
      </p:sp>
      <p:sp>
        <p:nvSpPr>
          <p:cNvPr id="12" name="TextBox 11"/>
          <p:cNvSpPr txBox="1"/>
          <p:nvPr/>
        </p:nvSpPr>
        <p:spPr>
          <a:xfrm>
            <a:off x="1280160" y="3474720"/>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Write one line that reads a price in rand and converts it to a decimal.</a:t>
            </a:r>
          </a:p>
        </p:txBody>
      </p:sp>
      <p:sp>
        <p:nvSpPr>
          <p:cNvPr id="13" name="Rounded Rectangle 12"/>
          <p:cNvSpPr/>
          <p:nvPr/>
        </p:nvSpPr>
        <p:spPr>
          <a:xfrm>
            <a:off x="548640" y="4572000"/>
            <a:ext cx="5449824" cy="987552"/>
          </a:xfrm>
          <a:prstGeom prst="roundRect">
            <a:avLst>
              <a:gd name="adj" fmla="val 1111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85800" y="4837176"/>
            <a:ext cx="457200" cy="45720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4</a:t>
            </a:r>
          </a:p>
        </p:txBody>
      </p:sp>
      <p:sp>
        <p:nvSpPr>
          <p:cNvPr id="15" name="TextBox 14"/>
          <p:cNvSpPr txBox="1"/>
          <p:nvPr/>
        </p:nvSpPr>
        <p:spPr>
          <a:xfrm>
            <a:off x="1280160" y="4572000"/>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What does "Level " + str(2) + "!" print?</a:t>
            </a:r>
          </a:p>
        </p:txBody>
      </p:sp>
      <p:sp>
        <p:nvSpPr>
          <p:cNvPr id="16" name="Rounded Rectangle 15"/>
          <p:cNvSpPr/>
          <p:nvPr/>
        </p:nvSpPr>
        <p:spPr>
          <a:xfrm>
            <a:off x="6190488" y="1280160"/>
            <a:ext cx="5449824" cy="987552"/>
          </a:xfrm>
          <a:prstGeom prst="roundRect">
            <a:avLst>
              <a:gd name="adj" fmla="val 1111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327648" y="1545336"/>
            <a:ext cx="457200" cy="45720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5</a:t>
            </a:r>
          </a:p>
        </p:txBody>
      </p:sp>
      <p:sp>
        <p:nvSpPr>
          <p:cNvPr id="18" name="TextBox 17"/>
          <p:cNvSpPr txBox="1"/>
          <p:nvPr/>
        </p:nvSpPr>
        <p:spPr>
          <a:xfrm>
            <a:off x="6922007" y="1280160"/>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What do "Pretoria".find("t") and "Pretoria".upper() return?</a:t>
            </a:r>
          </a:p>
        </p:txBody>
      </p:sp>
      <p:sp>
        <p:nvSpPr>
          <p:cNvPr id="19" name="Rounded Rectangle 18"/>
          <p:cNvSpPr/>
          <p:nvPr/>
        </p:nvSpPr>
        <p:spPr>
          <a:xfrm>
            <a:off x="6190488" y="2377439"/>
            <a:ext cx="5449824" cy="987552"/>
          </a:xfrm>
          <a:prstGeom prst="roundRect">
            <a:avLst>
              <a:gd name="adj" fmla="val 1111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327648" y="2642615"/>
            <a:ext cx="457200" cy="45720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6</a:t>
            </a:r>
          </a:p>
        </p:txBody>
      </p:sp>
      <p:sp>
        <p:nvSpPr>
          <p:cNvPr id="21" name="TextBox 20"/>
          <p:cNvSpPr txBox="1"/>
          <p:nvPr/>
        </p:nvSpPr>
        <p:spPr>
          <a:xfrm>
            <a:off x="6922007" y="2377439"/>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A program rejects a side length of 0. Which test class is that test in?</a:t>
            </a:r>
          </a:p>
        </p:txBody>
      </p:sp>
      <p:sp>
        <p:nvSpPr>
          <p:cNvPr id="22" name="Rounded Rectangle 21"/>
          <p:cNvSpPr/>
          <p:nvPr/>
        </p:nvSpPr>
        <p:spPr>
          <a:xfrm>
            <a:off x="6190488" y="3474720"/>
            <a:ext cx="5449824" cy="987552"/>
          </a:xfrm>
          <a:prstGeom prst="roundRect">
            <a:avLst>
              <a:gd name="adj" fmla="val 1111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327648" y="3739896"/>
            <a:ext cx="457200" cy="45720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7</a:t>
            </a:r>
          </a:p>
        </p:txBody>
      </p:sp>
      <p:sp>
        <p:nvSpPr>
          <p:cNvPr id="24" name="TextBox 23"/>
          <p:cNvSpPr txBox="1"/>
          <p:nvPr/>
        </p:nvSpPr>
        <p:spPr>
          <a:xfrm>
            <a:off x="6922007" y="3474720"/>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What does f"{12.3456:.2f}" give?</a:t>
            </a:r>
          </a:p>
        </p:txBody>
      </p:sp>
      <p:sp>
        <p:nvSpPr>
          <p:cNvPr id="25" name="Rounded Rectangle 24"/>
          <p:cNvSpPr/>
          <p:nvPr/>
        </p:nvSpPr>
        <p:spPr>
          <a:xfrm>
            <a:off x="6190488" y="4572000"/>
            <a:ext cx="5449824" cy="987552"/>
          </a:xfrm>
          <a:prstGeom prst="roundRect">
            <a:avLst>
              <a:gd name="adj" fmla="val 1111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27648" y="4837176"/>
            <a:ext cx="457200" cy="457200"/>
          </a:xfrm>
          <a:prstGeom prst="ellipse">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8</a:t>
            </a:r>
          </a:p>
        </p:txBody>
      </p:sp>
      <p:sp>
        <p:nvSpPr>
          <p:cNvPr id="27" name="TextBox 26"/>
          <p:cNvSpPr txBox="1"/>
          <p:nvPr/>
        </p:nvSpPr>
        <p:spPr>
          <a:xfrm>
            <a:off x="6922007" y="4572000"/>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Why does total = "10" + 5 fail?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9445752" cy="822960"/>
          </a:xfrm>
        </p:spPr>
        <p:txBody>
          <a:bodyPr wrap="square" anchor="ctr"/>
          <a:lstStyle/>
          <a:p>
            <a:pPr algn="l"/>
            <a:r>
              <a:rPr sz="3200" b="1">
                <a:solidFill>
                  <a:srgbClr val="085797"/>
                </a:solidFill>
                <a:latin typeface="Calibri"/>
              </a:rPr>
              <a:t>Practice answers</a:t>
            </a:r>
          </a:p>
        </p:txBody>
      </p:sp>
      <p:sp>
        <p:nvSpPr>
          <p:cNvPr id="3" name="Rounded Rectangle 2"/>
          <p:cNvSpPr/>
          <p:nvPr/>
        </p:nvSpPr>
        <p:spPr>
          <a:xfrm>
            <a:off x="10177272" y="457200"/>
            <a:ext cx="146304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Check</a:t>
            </a:r>
          </a:p>
        </p:txBody>
      </p:sp>
      <p:sp>
        <p:nvSpPr>
          <p:cNvPr id="4" name="Rounded Rectangle 3"/>
          <p:cNvSpPr/>
          <p:nvPr/>
        </p:nvSpPr>
        <p:spPr>
          <a:xfrm>
            <a:off x="548640" y="1280160"/>
            <a:ext cx="5449824" cy="987552"/>
          </a:xfrm>
          <a:prstGeom prst="roundRect">
            <a:avLst>
              <a:gd name="adj" fmla="val 11111"/>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1545336"/>
            <a:ext cx="457200" cy="4572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1</a:t>
            </a:r>
          </a:p>
        </p:txBody>
      </p:sp>
      <p:sp>
        <p:nvSpPr>
          <p:cNvPr id="6" name="TextBox 5"/>
          <p:cNvSpPr txBox="1"/>
          <p:nvPr/>
        </p:nvSpPr>
        <p:spPr>
          <a:xfrm>
            <a:off x="1280160" y="1280160"/>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str</a:t>
            </a:r>
          </a:p>
        </p:txBody>
      </p:sp>
      <p:sp>
        <p:nvSpPr>
          <p:cNvPr id="7" name="Rounded Rectangle 6"/>
          <p:cNvSpPr/>
          <p:nvPr/>
        </p:nvSpPr>
        <p:spPr>
          <a:xfrm>
            <a:off x="548640" y="2377439"/>
            <a:ext cx="5449824" cy="987552"/>
          </a:xfrm>
          <a:prstGeom prst="roundRect">
            <a:avLst>
              <a:gd name="adj" fmla="val 11111"/>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85800" y="2642615"/>
            <a:ext cx="457200" cy="4572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2</a:t>
            </a:r>
          </a:p>
        </p:txBody>
      </p:sp>
      <p:sp>
        <p:nvSpPr>
          <p:cNvPr id="9" name="TextBox 8"/>
          <p:cNvSpPr txBox="1"/>
          <p:nvPr/>
        </p:nvSpPr>
        <p:spPr>
          <a:xfrm>
            <a:off x="1280160" y="2377439"/>
            <a:ext cx="4617720" cy="987552"/>
          </a:xfrm>
          <a:prstGeom prst="rect">
            <a:avLst/>
          </a:prstGeom>
          <a:noFill/>
        </p:spPr>
        <p:txBody>
          <a:bodyPr wrap="square" lIns="45720" rIns="45720" anchor="ctr">
            <a:spAutoFit/>
          </a:bodyPr>
          <a:lstStyle/>
          <a:p>
            <a:pPr algn="l">
              <a:spcAft>
                <a:spcPts val="400"/>
              </a:spcAft>
            </a:pPr>
            <a:r>
              <a:rPr sz="1400" b="1" i="0">
                <a:solidFill>
                  <a:srgbClr val="2E8B57"/>
                </a:solidFill>
                <a:latin typeface="Courier New"/>
              </a:rPr>
              <a:t>13.0</a:t>
            </a:r>
          </a:p>
        </p:txBody>
      </p:sp>
      <p:sp>
        <p:nvSpPr>
          <p:cNvPr id="10" name="Rounded Rectangle 9"/>
          <p:cNvSpPr/>
          <p:nvPr/>
        </p:nvSpPr>
        <p:spPr>
          <a:xfrm>
            <a:off x="548640" y="3474720"/>
            <a:ext cx="5449824" cy="987552"/>
          </a:xfrm>
          <a:prstGeom prst="roundRect">
            <a:avLst>
              <a:gd name="adj" fmla="val 11111"/>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85800" y="3739896"/>
            <a:ext cx="457200" cy="4572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3</a:t>
            </a:r>
          </a:p>
        </p:txBody>
      </p:sp>
      <p:sp>
        <p:nvSpPr>
          <p:cNvPr id="12" name="TextBox 11"/>
          <p:cNvSpPr txBox="1"/>
          <p:nvPr/>
        </p:nvSpPr>
        <p:spPr>
          <a:xfrm>
            <a:off x="1280160" y="3474720"/>
            <a:ext cx="4617720" cy="987552"/>
          </a:xfrm>
          <a:prstGeom prst="rect">
            <a:avLst/>
          </a:prstGeom>
          <a:noFill/>
        </p:spPr>
        <p:txBody>
          <a:bodyPr wrap="square" lIns="45720" rIns="45720" anchor="ctr">
            <a:spAutoFit/>
          </a:bodyPr>
          <a:lstStyle/>
          <a:p>
            <a:pPr algn="l">
              <a:spcAft>
                <a:spcPts val="400"/>
              </a:spcAft>
            </a:pPr>
            <a:r>
              <a:rPr sz="1200" b="1" i="0">
                <a:solidFill>
                  <a:srgbClr val="1B2A41"/>
                </a:solidFill>
                <a:latin typeface="Courier New"/>
              </a:rPr>
              <a:t>price = float(input("Price in rand: "))</a:t>
            </a:r>
          </a:p>
        </p:txBody>
      </p:sp>
      <p:sp>
        <p:nvSpPr>
          <p:cNvPr id="13" name="Rounded Rectangle 12"/>
          <p:cNvSpPr/>
          <p:nvPr/>
        </p:nvSpPr>
        <p:spPr>
          <a:xfrm>
            <a:off x="548640" y="4572000"/>
            <a:ext cx="5449824" cy="987552"/>
          </a:xfrm>
          <a:prstGeom prst="roundRect">
            <a:avLst>
              <a:gd name="adj" fmla="val 11111"/>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85800" y="4837176"/>
            <a:ext cx="457200" cy="4572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4</a:t>
            </a:r>
          </a:p>
        </p:txBody>
      </p:sp>
      <p:sp>
        <p:nvSpPr>
          <p:cNvPr id="15" name="TextBox 14"/>
          <p:cNvSpPr txBox="1"/>
          <p:nvPr/>
        </p:nvSpPr>
        <p:spPr>
          <a:xfrm>
            <a:off x="1280160" y="4572000"/>
            <a:ext cx="4617720" cy="987552"/>
          </a:xfrm>
          <a:prstGeom prst="rect">
            <a:avLst/>
          </a:prstGeom>
          <a:noFill/>
        </p:spPr>
        <p:txBody>
          <a:bodyPr wrap="square" lIns="45720" rIns="45720" anchor="ctr">
            <a:spAutoFit/>
          </a:bodyPr>
          <a:lstStyle/>
          <a:p>
            <a:pPr algn="l">
              <a:spcAft>
                <a:spcPts val="400"/>
              </a:spcAft>
            </a:pPr>
            <a:r>
              <a:rPr sz="1400" b="1" i="0">
                <a:solidFill>
                  <a:srgbClr val="2E8B57"/>
                </a:solidFill>
                <a:latin typeface="Courier New"/>
              </a:rPr>
              <a:t>Level 2!</a:t>
            </a:r>
          </a:p>
        </p:txBody>
      </p:sp>
      <p:sp>
        <p:nvSpPr>
          <p:cNvPr id="16" name="Rounded Rectangle 15"/>
          <p:cNvSpPr/>
          <p:nvPr/>
        </p:nvSpPr>
        <p:spPr>
          <a:xfrm>
            <a:off x="6190488" y="1280160"/>
            <a:ext cx="5449824" cy="987552"/>
          </a:xfrm>
          <a:prstGeom prst="roundRect">
            <a:avLst>
              <a:gd name="adj" fmla="val 11111"/>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327648" y="1545336"/>
            <a:ext cx="457200" cy="4572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5</a:t>
            </a:r>
          </a:p>
        </p:txBody>
      </p:sp>
      <p:sp>
        <p:nvSpPr>
          <p:cNvPr id="18" name="TextBox 17"/>
          <p:cNvSpPr txBox="1"/>
          <p:nvPr/>
        </p:nvSpPr>
        <p:spPr>
          <a:xfrm>
            <a:off x="6922007" y="1280160"/>
            <a:ext cx="4617720" cy="987552"/>
          </a:xfrm>
          <a:prstGeom prst="rect">
            <a:avLst/>
          </a:prstGeom>
          <a:noFill/>
        </p:spPr>
        <p:txBody>
          <a:bodyPr wrap="square" lIns="45720" rIns="45720" anchor="ctr">
            <a:spAutoFit/>
          </a:bodyPr>
          <a:lstStyle/>
          <a:p>
            <a:pPr algn="l">
              <a:spcAft>
                <a:spcPts val="400"/>
              </a:spcAft>
            </a:pPr>
            <a:r>
              <a:rPr sz="1400" b="1" i="0">
                <a:solidFill>
                  <a:srgbClr val="2E8B57"/>
                </a:solidFill>
                <a:latin typeface="Courier New"/>
              </a:rPr>
              <a:t>3</a:t>
            </a:r>
            <a:r>
              <a:rPr sz="1400" b="0" i="0">
                <a:solidFill>
                  <a:srgbClr val="1B2A41"/>
                </a:solidFill>
                <a:latin typeface="Calibri"/>
              </a:rPr>
              <a:t> and </a:t>
            </a:r>
            <a:r>
              <a:rPr sz="1400" b="1" i="0">
                <a:solidFill>
                  <a:srgbClr val="2E8B57"/>
                </a:solidFill>
                <a:latin typeface="Courier New"/>
              </a:rPr>
              <a:t>PRETORIA</a:t>
            </a:r>
          </a:p>
        </p:txBody>
      </p:sp>
      <p:sp>
        <p:nvSpPr>
          <p:cNvPr id="19" name="Rounded Rectangle 18"/>
          <p:cNvSpPr/>
          <p:nvPr/>
        </p:nvSpPr>
        <p:spPr>
          <a:xfrm>
            <a:off x="6190488" y="2377439"/>
            <a:ext cx="5449824" cy="987552"/>
          </a:xfrm>
          <a:prstGeom prst="roundRect">
            <a:avLst>
              <a:gd name="adj" fmla="val 11111"/>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327648" y="2642615"/>
            <a:ext cx="457200" cy="4572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6</a:t>
            </a:r>
          </a:p>
        </p:txBody>
      </p:sp>
      <p:sp>
        <p:nvSpPr>
          <p:cNvPr id="21" name="TextBox 20"/>
          <p:cNvSpPr txBox="1"/>
          <p:nvPr/>
        </p:nvSpPr>
        <p:spPr>
          <a:xfrm>
            <a:off x="6922007" y="2377439"/>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Boundary: the first invalid value</a:t>
            </a:r>
          </a:p>
        </p:txBody>
      </p:sp>
      <p:sp>
        <p:nvSpPr>
          <p:cNvPr id="22" name="Rounded Rectangle 21"/>
          <p:cNvSpPr/>
          <p:nvPr/>
        </p:nvSpPr>
        <p:spPr>
          <a:xfrm>
            <a:off x="6190488" y="3474720"/>
            <a:ext cx="5449824" cy="987552"/>
          </a:xfrm>
          <a:prstGeom prst="roundRect">
            <a:avLst>
              <a:gd name="adj" fmla="val 11111"/>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327648" y="3739896"/>
            <a:ext cx="457200" cy="4572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7</a:t>
            </a:r>
          </a:p>
        </p:txBody>
      </p:sp>
      <p:sp>
        <p:nvSpPr>
          <p:cNvPr id="24" name="TextBox 23"/>
          <p:cNvSpPr txBox="1"/>
          <p:nvPr/>
        </p:nvSpPr>
        <p:spPr>
          <a:xfrm>
            <a:off x="6922007" y="3474720"/>
            <a:ext cx="4617720" cy="987552"/>
          </a:xfrm>
          <a:prstGeom prst="rect">
            <a:avLst/>
          </a:prstGeom>
          <a:noFill/>
        </p:spPr>
        <p:txBody>
          <a:bodyPr wrap="square" lIns="45720" rIns="45720" anchor="ctr">
            <a:spAutoFit/>
          </a:bodyPr>
          <a:lstStyle/>
          <a:p>
            <a:pPr algn="l">
              <a:spcAft>
                <a:spcPts val="400"/>
              </a:spcAft>
            </a:pPr>
            <a:r>
              <a:rPr sz="1400" b="1" i="0">
                <a:solidFill>
                  <a:srgbClr val="2E8B57"/>
                </a:solidFill>
                <a:latin typeface="Courier New"/>
              </a:rPr>
              <a:t>12.35</a:t>
            </a:r>
          </a:p>
        </p:txBody>
      </p:sp>
      <p:sp>
        <p:nvSpPr>
          <p:cNvPr id="25" name="Rounded Rectangle 24"/>
          <p:cNvSpPr/>
          <p:nvPr/>
        </p:nvSpPr>
        <p:spPr>
          <a:xfrm>
            <a:off x="6190488" y="4572000"/>
            <a:ext cx="5449824" cy="987552"/>
          </a:xfrm>
          <a:prstGeom prst="roundRect">
            <a:avLst>
              <a:gd name="adj" fmla="val 11111"/>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27648" y="4837176"/>
            <a:ext cx="457200" cy="4572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Calibri"/>
              </a:rPr>
              <a:t>8</a:t>
            </a:r>
          </a:p>
        </p:txBody>
      </p:sp>
      <p:sp>
        <p:nvSpPr>
          <p:cNvPr id="27" name="TextBox 26"/>
          <p:cNvSpPr txBox="1"/>
          <p:nvPr/>
        </p:nvSpPr>
        <p:spPr>
          <a:xfrm>
            <a:off x="6922007" y="4572000"/>
            <a:ext cx="4617720" cy="987552"/>
          </a:xfrm>
          <a:prstGeom prst="rect">
            <a:avLst/>
          </a:prstGeom>
          <a:noFill/>
        </p:spPr>
        <p:txBody>
          <a:bodyPr wrap="square" lIns="45720" rIns="45720" anchor="ctr">
            <a:spAutoFit/>
          </a:bodyPr>
          <a:lstStyle/>
          <a:p>
            <a:pPr algn="l">
              <a:spcAft>
                <a:spcPts val="400"/>
              </a:spcAft>
            </a:pPr>
            <a:r>
              <a:rPr sz="1400" b="0" i="0">
                <a:solidFill>
                  <a:srgbClr val="1B2A41"/>
                </a:solidFill>
                <a:latin typeface="Calibri"/>
              </a:rPr>
              <a:t>+ cannot add a str and an int. Write </a:t>
            </a:r>
            <a:r>
              <a:rPr sz="1200" b="1" i="0">
                <a:solidFill>
                  <a:srgbClr val="1B2A41"/>
                </a:solidFill>
                <a:latin typeface="Courier New"/>
              </a:rPr>
              <a:t>10 + 5</a:t>
            </a:r>
            <a:r>
              <a:rPr sz="1400" b="0" i="0">
                <a:solidFill>
                  <a:srgbClr val="1B2A41"/>
                </a:solidFill>
                <a:latin typeface="Calibri"/>
              </a:rPr>
              <a:t> or </a:t>
            </a:r>
            <a:r>
              <a:rPr sz="1200" b="1" i="0">
                <a:solidFill>
                  <a:srgbClr val="1B2A41"/>
                </a:solidFill>
                <a:latin typeface="Courier New"/>
              </a:rPr>
              <a:t>"10" + str(5)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9079992" cy="822960"/>
          </a:xfrm>
        </p:spPr>
        <p:txBody>
          <a:bodyPr wrap="square" anchor="ctr"/>
          <a:lstStyle/>
          <a:p>
            <a:pPr algn="l"/>
            <a:r>
              <a:rPr sz="3200" b="1">
                <a:solidFill>
                  <a:srgbClr val="085797"/>
                </a:solidFill>
                <a:latin typeface="Calibri"/>
              </a:rPr>
              <a:t>End-of-day GitHub checklist</a:t>
            </a:r>
          </a:p>
        </p:txBody>
      </p:sp>
      <p:sp>
        <p:nvSpPr>
          <p:cNvPr id="3" name="Rounded Rectangle 2"/>
          <p:cNvSpPr/>
          <p:nvPr/>
        </p:nvSpPr>
        <p:spPr>
          <a:xfrm>
            <a:off x="9811512" y="457200"/>
            <a:ext cx="18288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Evidence</a:t>
            </a:r>
          </a:p>
        </p:txBody>
      </p:sp>
      <p:sp>
        <p:nvSpPr>
          <p:cNvPr id="4" name="Rounded Rectangle 3"/>
          <p:cNvSpPr/>
          <p:nvPr/>
        </p:nvSpPr>
        <p:spPr>
          <a:xfrm>
            <a:off x="640080" y="1336852"/>
            <a:ext cx="950976" cy="310896"/>
          </a:xfrm>
          <a:prstGeom prst="roundRect">
            <a:avLst>
              <a:gd name="adj" fmla="val 14705"/>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2377440" cy="1554480"/>
          </a:xfrm>
          <a:prstGeom prst="roundRect">
            <a:avLst>
              <a:gd name="adj" fmla="val 4705"/>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20240"/>
            <a:ext cx="2377440" cy="548640"/>
          </a:xfrm>
          <a:prstGeom prst="rect">
            <a:avLst/>
          </a:prstGeom>
          <a:noFill/>
        </p:spPr>
        <p:txBody>
          <a:bodyPr wrap="square" lIns="45720" rIns="45720" anchor="t">
            <a:spAutoFit/>
          </a:bodyPr>
          <a:lstStyle/>
          <a:p>
            <a:pPr algn="ctr">
              <a:spcAft>
                <a:spcPts val="400"/>
              </a:spcAft>
            </a:pPr>
            <a:r>
              <a:rPr sz="2200" b="1" i="0">
                <a:solidFill>
                  <a:srgbClr val="1B2A41"/>
                </a:solidFill>
                <a:latin typeface="Courier New"/>
              </a:rPr>
              <a:t>day3</a:t>
            </a:r>
          </a:p>
        </p:txBody>
      </p:sp>
      <p:sp>
        <p:nvSpPr>
          <p:cNvPr id="7" name="Rounded Rectangle 6"/>
          <p:cNvSpPr/>
          <p:nvPr/>
        </p:nvSpPr>
        <p:spPr>
          <a:xfrm>
            <a:off x="3474720" y="1280160"/>
            <a:ext cx="3977639" cy="475488"/>
          </a:xfrm>
          <a:prstGeom prst="roundRect">
            <a:avLst>
              <a:gd name="adj" fmla="val 1923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84448" y="1280160"/>
            <a:ext cx="3749039" cy="475488"/>
          </a:xfrm>
          <a:prstGeom prst="rect">
            <a:avLst/>
          </a:prstGeom>
          <a:noFill/>
        </p:spPr>
        <p:txBody>
          <a:bodyPr wrap="square" lIns="45720" rIns="45720" anchor="ctr">
            <a:spAutoFit/>
          </a:bodyPr>
          <a:lstStyle/>
          <a:p>
            <a:pPr algn="l">
              <a:spcAft>
                <a:spcPts val="400"/>
              </a:spcAft>
            </a:pPr>
            <a:r>
              <a:rPr sz="1300" b="1" i="0">
                <a:solidFill>
                  <a:srgbClr val="1B2A41"/>
                </a:solidFill>
                <a:latin typeface="Courier New"/>
              </a:rPr>
              <a:t>01_predict_run_explain.py</a:t>
            </a:r>
          </a:p>
        </p:txBody>
      </p:sp>
      <p:sp>
        <p:nvSpPr>
          <p:cNvPr id="9" name="Rounded Rectangle 8"/>
          <p:cNvSpPr/>
          <p:nvPr/>
        </p:nvSpPr>
        <p:spPr>
          <a:xfrm>
            <a:off x="3474720" y="1847088"/>
            <a:ext cx="3977639" cy="475488"/>
          </a:xfrm>
          <a:prstGeom prst="roundRect">
            <a:avLst>
              <a:gd name="adj" fmla="val 1923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84448" y="1847088"/>
            <a:ext cx="3749039" cy="475488"/>
          </a:xfrm>
          <a:prstGeom prst="rect">
            <a:avLst/>
          </a:prstGeom>
          <a:noFill/>
        </p:spPr>
        <p:txBody>
          <a:bodyPr wrap="square" lIns="45720" rIns="45720" anchor="ctr">
            <a:spAutoFit/>
          </a:bodyPr>
          <a:lstStyle/>
          <a:p>
            <a:pPr algn="l">
              <a:spcAft>
                <a:spcPts val="400"/>
              </a:spcAft>
            </a:pPr>
            <a:r>
              <a:rPr sz="1300" b="1" i="0">
                <a:solidFill>
                  <a:srgbClr val="1B2A41"/>
                </a:solidFill>
                <a:latin typeface="Courier New"/>
              </a:rPr>
              <a:t>02_weighted_mark.py</a:t>
            </a:r>
          </a:p>
        </p:txBody>
      </p:sp>
      <p:sp>
        <p:nvSpPr>
          <p:cNvPr id="11" name="Rounded Rectangle 10"/>
          <p:cNvSpPr/>
          <p:nvPr/>
        </p:nvSpPr>
        <p:spPr>
          <a:xfrm>
            <a:off x="3474720" y="2414015"/>
            <a:ext cx="3977639" cy="475488"/>
          </a:xfrm>
          <a:prstGeom prst="roundRect">
            <a:avLst>
              <a:gd name="adj" fmla="val 19230"/>
            </a:avLst>
          </a:prstGeom>
          <a:solidFill>
            <a:srgbClr val="FFF4D6"/>
          </a:solidFill>
          <a:ln w="12700">
            <a:solidFill>
              <a:srgbClr val="FDB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84448" y="2414015"/>
            <a:ext cx="3749039" cy="475488"/>
          </a:xfrm>
          <a:prstGeom prst="rect">
            <a:avLst/>
          </a:prstGeom>
          <a:noFill/>
        </p:spPr>
        <p:txBody>
          <a:bodyPr wrap="square" lIns="45720" rIns="45720" anchor="ctr">
            <a:spAutoFit/>
          </a:bodyPr>
          <a:lstStyle/>
          <a:p>
            <a:pPr algn="l">
              <a:spcAft>
                <a:spcPts val="400"/>
              </a:spcAft>
            </a:pPr>
            <a:r>
              <a:rPr sz="1300" b="1" i="0">
                <a:solidFill>
                  <a:srgbClr val="1B2A41"/>
                </a:solidFill>
                <a:latin typeface="Courier New"/>
              </a:rPr>
              <a:t>03_area_m2.py, 03_average.py</a:t>
            </a:r>
          </a:p>
        </p:txBody>
      </p:sp>
      <p:sp>
        <p:nvSpPr>
          <p:cNvPr id="13" name="Rounded Rectangle 12"/>
          <p:cNvSpPr/>
          <p:nvPr/>
        </p:nvSpPr>
        <p:spPr>
          <a:xfrm>
            <a:off x="3474720" y="2980944"/>
            <a:ext cx="3977639" cy="475488"/>
          </a:xfrm>
          <a:prstGeom prst="roundRect">
            <a:avLst>
              <a:gd name="adj" fmla="val 1923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84448" y="2980944"/>
            <a:ext cx="3749039" cy="475488"/>
          </a:xfrm>
          <a:prstGeom prst="rect">
            <a:avLst/>
          </a:prstGeom>
          <a:noFill/>
        </p:spPr>
        <p:txBody>
          <a:bodyPr wrap="square" lIns="45720" rIns="45720" anchor="ctr">
            <a:spAutoFit/>
          </a:bodyPr>
          <a:lstStyle/>
          <a:p>
            <a:pPr algn="l">
              <a:spcAft>
                <a:spcPts val="400"/>
              </a:spcAft>
            </a:pPr>
            <a:r>
              <a:rPr sz="1300" b="1" i="0">
                <a:solidFill>
                  <a:srgbClr val="1B2A41"/>
                </a:solidFill>
                <a:latin typeface="Courier New"/>
              </a:rPr>
              <a:t>03_trace_table.md</a:t>
            </a:r>
          </a:p>
        </p:txBody>
      </p:sp>
      <p:sp>
        <p:nvSpPr>
          <p:cNvPr id="15" name="Rounded Rectangle 14"/>
          <p:cNvSpPr/>
          <p:nvPr/>
        </p:nvSpPr>
        <p:spPr>
          <a:xfrm>
            <a:off x="3474720" y="3547872"/>
            <a:ext cx="3977639" cy="475488"/>
          </a:xfrm>
          <a:prstGeom prst="roundRect">
            <a:avLst>
              <a:gd name="adj" fmla="val 19230"/>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84448" y="3547872"/>
            <a:ext cx="3749039" cy="475488"/>
          </a:xfrm>
          <a:prstGeom prst="rect">
            <a:avLst/>
          </a:prstGeom>
          <a:noFill/>
        </p:spPr>
        <p:txBody>
          <a:bodyPr wrap="square" lIns="45720" rIns="45720" anchor="ctr">
            <a:spAutoFit/>
          </a:bodyPr>
          <a:lstStyle/>
          <a:p>
            <a:pPr algn="l">
              <a:spcAft>
                <a:spcPts val="400"/>
              </a:spcAft>
            </a:pPr>
            <a:r>
              <a:rPr sz="1300" b="1" i="0">
                <a:solidFill>
                  <a:srgbClr val="1B2A41"/>
                </a:solidFill>
                <a:latin typeface="Courier New"/>
              </a:rPr>
              <a:t>04_participant_summary.py</a:t>
            </a:r>
          </a:p>
        </p:txBody>
      </p:sp>
      <p:sp>
        <p:nvSpPr>
          <p:cNvPr id="17" name="Rounded Rectangle 16"/>
          <p:cNvSpPr/>
          <p:nvPr/>
        </p:nvSpPr>
        <p:spPr>
          <a:xfrm>
            <a:off x="7635240" y="1280160"/>
            <a:ext cx="3977639" cy="475488"/>
          </a:xfrm>
          <a:prstGeom prst="roundRect">
            <a:avLst>
              <a:gd name="adj" fmla="val 19230"/>
            </a:avLst>
          </a:prstGeom>
          <a:solidFill>
            <a:srgbClr val="FFF4D6"/>
          </a:solidFill>
          <a:ln w="12700">
            <a:solidFill>
              <a:srgbClr val="FDB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44967" y="1280160"/>
            <a:ext cx="3749039" cy="475488"/>
          </a:xfrm>
          <a:prstGeom prst="rect">
            <a:avLst/>
          </a:prstGeom>
          <a:noFill/>
        </p:spPr>
        <p:txBody>
          <a:bodyPr wrap="square" lIns="45720" rIns="45720" anchor="ctr">
            <a:spAutoFit/>
          </a:bodyPr>
          <a:lstStyle/>
          <a:p>
            <a:pPr algn="l">
              <a:spcAft>
                <a:spcPts val="400"/>
              </a:spcAft>
            </a:pPr>
            <a:r>
              <a:rPr sz="1300" b="1" i="0">
                <a:solidFill>
                  <a:srgbClr val="1B2A41"/>
                </a:solidFill>
                <a:latin typeface="Courier New"/>
              </a:rPr>
              <a:t>05_hypotenuse.py</a:t>
            </a:r>
          </a:p>
        </p:txBody>
      </p:sp>
      <p:sp>
        <p:nvSpPr>
          <p:cNvPr id="19" name="Rounded Rectangle 18"/>
          <p:cNvSpPr/>
          <p:nvPr/>
        </p:nvSpPr>
        <p:spPr>
          <a:xfrm>
            <a:off x="7635240" y="1847088"/>
            <a:ext cx="3977639" cy="475488"/>
          </a:xfrm>
          <a:prstGeom prst="roundRect">
            <a:avLst>
              <a:gd name="adj" fmla="val 19230"/>
            </a:avLst>
          </a:prstGeom>
          <a:solidFill>
            <a:srgbClr val="FFF4D6"/>
          </a:solidFill>
          <a:ln w="12700">
            <a:solidFill>
              <a:srgbClr val="FDB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44967" y="1847088"/>
            <a:ext cx="3749039" cy="475488"/>
          </a:xfrm>
          <a:prstGeom prst="rect">
            <a:avLst/>
          </a:prstGeom>
          <a:noFill/>
        </p:spPr>
        <p:txBody>
          <a:bodyPr wrap="square" lIns="45720" rIns="45720" anchor="ctr">
            <a:spAutoFit/>
          </a:bodyPr>
          <a:lstStyle/>
          <a:p>
            <a:pPr algn="l">
              <a:spcAft>
                <a:spcPts val="400"/>
              </a:spcAft>
            </a:pPr>
            <a:r>
              <a:rPr sz="1300" b="1" i="0">
                <a:solidFill>
                  <a:srgbClr val="1B2A41"/>
                </a:solidFill>
                <a:latin typeface="Courier New"/>
              </a:rPr>
              <a:t>05_test_table.md</a:t>
            </a:r>
          </a:p>
        </p:txBody>
      </p:sp>
      <p:sp>
        <p:nvSpPr>
          <p:cNvPr id="21" name="Rounded Rectangle 20"/>
          <p:cNvSpPr/>
          <p:nvPr/>
        </p:nvSpPr>
        <p:spPr>
          <a:xfrm>
            <a:off x="7635240" y="2414015"/>
            <a:ext cx="3977639" cy="475488"/>
          </a:xfrm>
          <a:prstGeom prst="roundRect">
            <a:avLst>
              <a:gd name="adj" fmla="val 19230"/>
            </a:avLst>
          </a:prstGeom>
          <a:solidFill>
            <a:srgbClr val="FFF4D6"/>
          </a:solidFill>
          <a:ln w="12700">
            <a:solidFill>
              <a:srgbClr val="FDB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44967" y="2414015"/>
            <a:ext cx="3749039" cy="475488"/>
          </a:xfrm>
          <a:prstGeom prst="rect">
            <a:avLst/>
          </a:prstGeom>
          <a:noFill/>
        </p:spPr>
        <p:txBody>
          <a:bodyPr wrap="square" lIns="45720" rIns="45720" anchor="ctr">
            <a:spAutoFit/>
          </a:bodyPr>
          <a:lstStyle/>
          <a:p>
            <a:pPr algn="l">
              <a:spcAft>
                <a:spcPts val="400"/>
              </a:spcAft>
            </a:pPr>
            <a:r>
              <a:rPr sz="1300" b="1" i="0">
                <a:solidFill>
                  <a:srgbClr val="1B2A41"/>
                </a:solidFill>
                <a:latin typeface="Courier New"/>
              </a:rPr>
              <a:t>assessment_learner.md</a:t>
            </a:r>
          </a:p>
        </p:txBody>
      </p:sp>
      <p:sp>
        <p:nvSpPr>
          <p:cNvPr id="23" name="Rounded Rectangle 22"/>
          <p:cNvSpPr/>
          <p:nvPr/>
        </p:nvSpPr>
        <p:spPr>
          <a:xfrm>
            <a:off x="7635240" y="2980944"/>
            <a:ext cx="3977639" cy="475488"/>
          </a:xfrm>
          <a:prstGeom prst="roundRect">
            <a:avLst>
              <a:gd name="adj" fmla="val 19230"/>
            </a:avLst>
          </a:prstGeom>
          <a:solidFill>
            <a:srgbClr val="FFF4D6"/>
          </a:solidFill>
          <a:ln w="12700">
            <a:solidFill>
              <a:srgbClr val="FDB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44967" y="2980944"/>
            <a:ext cx="3749039" cy="475488"/>
          </a:xfrm>
          <a:prstGeom prst="rect">
            <a:avLst/>
          </a:prstGeom>
          <a:noFill/>
        </p:spPr>
        <p:txBody>
          <a:bodyPr wrap="square" lIns="45720" rIns="45720" anchor="ctr">
            <a:spAutoFit/>
          </a:bodyPr>
          <a:lstStyle/>
          <a:p>
            <a:pPr algn="l">
              <a:spcAft>
                <a:spcPts val="400"/>
              </a:spcAft>
            </a:pPr>
            <a:r>
              <a:rPr sz="1300" b="1" i="0">
                <a:solidFill>
                  <a:srgbClr val="1B2A41"/>
                </a:solidFill>
                <a:latin typeface="Courier New"/>
              </a:rPr>
              <a:t>assessment_memo.md</a:t>
            </a:r>
          </a:p>
        </p:txBody>
      </p:sp>
      <p:sp>
        <p:nvSpPr>
          <p:cNvPr id="25" name="TextBox 24"/>
          <p:cNvSpPr txBox="1"/>
          <p:nvPr/>
        </p:nvSpPr>
        <p:spPr>
          <a:xfrm>
            <a:off x="3474720" y="4160520"/>
            <a:ext cx="8138160" cy="365760"/>
          </a:xfrm>
          <a:prstGeom prst="rect">
            <a:avLst/>
          </a:prstGeom>
          <a:noFill/>
        </p:spPr>
        <p:txBody>
          <a:bodyPr wrap="square" lIns="45720" rIns="45720" anchor="t">
            <a:spAutoFit/>
          </a:bodyPr>
          <a:lstStyle/>
          <a:p>
            <a:pPr algn="l">
              <a:spcAft>
                <a:spcPts val="400"/>
              </a:spcAft>
            </a:pPr>
            <a:r>
              <a:rPr sz="1300" b="0" i="1">
                <a:solidFill>
                  <a:srgbClr val="5B6770"/>
                </a:solidFill>
                <a:latin typeface="Calibri"/>
              </a:rPr>
              <a:t>Yellow rows are the three uploads</a:t>
            </a:r>
          </a:p>
        </p:txBody>
      </p:sp>
      <p:sp>
        <p:nvSpPr>
          <p:cNvPr id="26" name="Rounded Rectangle 25"/>
          <p:cNvSpPr/>
          <p:nvPr/>
        </p:nvSpPr>
        <p:spPr>
          <a:xfrm>
            <a:off x="548640" y="4434840"/>
            <a:ext cx="6035040" cy="1280160"/>
          </a:xfrm>
          <a:prstGeom prst="roundRect">
            <a:avLst>
              <a:gd name="adj" fmla="val 7142"/>
            </a:avLst>
          </a:prstGeom>
          <a:solidFill>
            <a:srgbClr val="1E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3232" y="4562855"/>
            <a:ext cx="128016" cy="128016"/>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14400" y="4562855"/>
            <a:ext cx="128016" cy="128016"/>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115568" y="4562855"/>
            <a:ext cx="128016" cy="128016"/>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4818888"/>
            <a:ext cx="5760720" cy="822959"/>
          </a:xfrm>
          <a:prstGeom prst="rect">
            <a:avLst/>
          </a:prstGeom>
          <a:noFill/>
        </p:spPr>
        <p:txBody>
          <a:bodyPr wrap="square" lIns="45720" rIns="45720" anchor="t">
            <a:spAutoFit/>
          </a:bodyPr>
          <a:lstStyle/>
          <a:p>
            <a:pPr algn="l">
              <a:spcAft>
                <a:spcPts val="700"/>
              </a:spcAft>
            </a:pPr>
            <a:r>
              <a:rPr sz="1100" b="0" i="0">
                <a:solidFill>
                  <a:srgbClr val="7EE787"/>
                </a:solidFill>
                <a:latin typeface="Courier New"/>
              </a:rPr>
              <a:t>$ </a:t>
            </a:r>
            <a:r>
              <a:rPr sz="1100" b="0" i="0">
                <a:solidFill>
                  <a:srgbClr val="E6EDF3"/>
                </a:solidFill>
                <a:latin typeface="Courier New"/>
              </a:rPr>
              <a:t>git add day3</a:t>
            </a:r>
          </a:p>
          <a:p>
            <a:pPr algn="l">
              <a:spcAft>
                <a:spcPts val="700"/>
              </a:spcAft>
            </a:pPr>
            <a:r>
              <a:rPr sz="1100" b="0" i="0">
                <a:solidFill>
                  <a:srgbClr val="7EE787"/>
                </a:solidFill>
                <a:latin typeface="Courier New"/>
              </a:rPr>
              <a:t>$ </a:t>
            </a:r>
            <a:r>
              <a:rPr sz="1100" b="0" i="0">
                <a:solidFill>
                  <a:srgbClr val="E6EDF3"/>
                </a:solidFill>
                <a:latin typeface="Courier New"/>
              </a:rPr>
              <a:t>git commit -m "Add Day 3 programs and assessment"</a:t>
            </a:r>
          </a:p>
          <a:p>
            <a:pPr algn="l">
              <a:spcAft>
                <a:spcPts val="700"/>
              </a:spcAft>
            </a:pPr>
            <a:r>
              <a:rPr sz="1100" b="0" i="0">
                <a:solidFill>
                  <a:srgbClr val="7EE787"/>
                </a:solidFill>
                <a:latin typeface="Courier New"/>
              </a:rPr>
              <a:t>$ </a:t>
            </a:r>
            <a:r>
              <a:rPr sz="1100" b="0" i="0">
                <a:solidFill>
                  <a:srgbClr val="E6EDF3"/>
                </a:solidFill>
                <a:latin typeface="Courier New"/>
              </a:rPr>
              <a:t>git push</a:t>
            </a:r>
          </a:p>
        </p:txBody>
      </p:sp>
      <p:sp>
        <p:nvSpPr>
          <p:cNvPr id="31" name="Rounded Rectangle 30"/>
          <p:cNvSpPr/>
          <p:nvPr/>
        </p:nvSpPr>
        <p:spPr>
          <a:xfrm>
            <a:off x="6858000" y="4526280"/>
            <a:ext cx="4782312" cy="1143000"/>
          </a:xfrm>
          <a:prstGeom prst="roundRect">
            <a:avLst>
              <a:gd name="adj" fmla="val 9600"/>
            </a:avLst>
          </a:prstGeom>
          <a:solidFill>
            <a:srgbClr val="FFF4D6"/>
          </a:solidFill>
          <a:ln w="19050">
            <a:solidFill>
              <a:srgbClr val="FDB515"/>
            </a:solid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l">
              <a:spcAft>
                <a:spcPts val="200"/>
              </a:spcAft>
            </a:pPr>
            <a:r>
              <a:rPr sz="1400" b="1" i="0">
                <a:solidFill>
                  <a:srgbClr val="085797"/>
                </a:solidFill>
                <a:latin typeface="Calibri"/>
              </a:rPr>
              <a:t>Check the repository page: </a:t>
            </a:r>
            <a:r>
              <a:rPr sz="1400" b="0" i="0">
                <a:solidFill>
                  <a:srgbClr val="1B2A41"/>
                </a:solidFill>
                <a:latin typeface="Calibri"/>
              </a:rPr>
              <a:t>your files and history must be visible, with meaningful commit messages.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9079992" cy="822960"/>
          </a:xfrm>
        </p:spPr>
        <p:txBody>
          <a:bodyPr wrap="square" anchor="ctr"/>
          <a:lstStyle/>
          <a:p>
            <a:pPr algn="l"/>
            <a:r>
              <a:rPr sz="3200" b="1">
                <a:solidFill>
                  <a:srgbClr val="085797"/>
                </a:solidFill>
                <a:latin typeface="Calibri"/>
              </a:rPr>
              <a:t>Coming up</a:t>
            </a:r>
          </a:p>
        </p:txBody>
      </p:sp>
      <p:sp>
        <p:nvSpPr>
          <p:cNvPr id="3" name="Rounded Rectangle 2"/>
          <p:cNvSpPr/>
          <p:nvPr/>
        </p:nvSpPr>
        <p:spPr>
          <a:xfrm>
            <a:off x="9811512" y="457200"/>
            <a:ext cx="1828800" cy="384048"/>
          </a:xfrm>
          <a:prstGeom prst="roundRect">
            <a:avLst>
              <a:gd name="adj" fmla="val 47619"/>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300" b="1" i="0">
                <a:solidFill>
                  <a:srgbClr val="1B2A41"/>
                </a:solidFill>
                <a:latin typeface="Calibri"/>
              </a:rPr>
              <a:t>Days 4 and 5</a:t>
            </a:r>
          </a:p>
        </p:txBody>
      </p:sp>
      <p:sp>
        <p:nvSpPr>
          <p:cNvPr id="4" name="Rounded Rectangle 3"/>
          <p:cNvSpPr/>
          <p:nvPr/>
        </p:nvSpPr>
        <p:spPr>
          <a:xfrm>
            <a:off x="548640" y="1280160"/>
            <a:ext cx="5449824" cy="2651760"/>
          </a:xfrm>
          <a:prstGeom prst="roundRect">
            <a:avLst>
              <a:gd name="adj" fmla="val 4827"/>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280160"/>
            <a:ext cx="5449824" cy="594360"/>
          </a:xfrm>
          <a:prstGeom prst="roundRect">
            <a:avLst>
              <a:gd name="adj" fmla="val 21538"/>
            </a:avLst>
          </a:prstGeom>
          <a:solidFill>
            <a:srgbClr val="0857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900" b="1" i="0">
                <a:solidFill>
                  <a:srgbClr val="FFFFFF"/>
                </a:solidFill>
                <a:latin typeface="Calibri"/>
              </a:rPr>
              <a:t>Day 4: Decisions and loops</a:t>
            </a:r>
          </a:p>
        </p:txBody>
      </p:sp>
      <p:sp>
        <p:nvSpPr>
          <p:cNvPr id="6" name="TextBox 5"/>
          <p:cNvSpPr txBox="1"/>
          <p:nvPr/>
        </p:nvSpPr>
        <p:spPr>
          <a:xfrm>
            <a:off x="822959" y="2011680"/>
            <a:ext cx="4937760" cy="1828800"/>
          </a:xfrm>
          <a:prstGeom prst="rect">
            <a:avLst/>
          </a:prstGeom>
          <a:noFill/>
        </p:spPr>
        <p:txBody>
          <a:bodyPr wrap="square" lIns="45720" rIns="45720" anchor="t">
            <a:spAutoFit/>
          </a:bodyPr>
          <a:lstStyle/>
          <a:p>
            <a:pPr marL="256032" indent="-256032" algn="l">
              <a:spcAft>
                <a:spcPts val="700"/>
              </a:spcAft>
              <a:buClr>
                <a:srgbClr val="085797"/>
              </a:buClr>
              <a:buFont typeface="Arial"/>
              <a:buChar char="•"/>
            </a:pPr>
            <a:r>
              <a:rPr sz="1700" b="0" i="0">
                <a:solidFill>
                  <a:srgbClr val="1B2A41"/>
                </a:solidFill>
                <a:latin typeface="Calibri"/>
              </a:rPr>
              <a:t>if, elif, else</a:t>
            </a:r>
          </a:p>
          <a:p>
            <a:pPr marL="256032" indent="-256032" algn="l">
              <a:spcAft>
                <a:spcPts val="700"/>
              </a:spcAft>
              <a:buClr>
                <a:srgbClr val="085797"/>
              </a:buClr>
              <a:buFont typeface="Arial"/>
              <a:buChar char="•"/>
            </a:pPr>
            <a:r>
              <a:rPr sz="1700" b="0" i="0">
                <a:solidFill>
                  <a:srgbClr val="1B2A41"/>
                </a:solidFill>
                <a:latin typeface="Calibri"/>
              </a:rPr>
              <a:t>while and for loops</a:t>
            </a:r>
          </a:p>
        </p:txBody>
      </p:sp>
      <p:sp>
        <p:nvSpPr>
          <p:cNvPr id="7" name="Rounded Rectangle 6"/>
          <p:cNvSpPr/>
          <p:nvPr/>
        </p:nvSpPr>
        <p:spPr>
          <a:xfrm>
            <a:off x="6190488" y="1280160"/>
            <a:ext cx="5449824" cy="2651760"/>
          </a:xfrm>
          <a:prstGeom prst="roundRect">
            <a:avLst>
              <a:gd name="adj" fmla="val 4827"/>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90488" y="1280160"/>
            <a:ext cx="5449824" cy="594360"/>
          </a:xfrm>
          <a:prstGeom prst="roundRect">
            <a:avLst>
              <a:gd name="adj" fmla="val 21538"/>
            </a:avLst>
          </a:prstGeom>
          <a:solidFill>
            <a:srgbClr val="E31E3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spcAft>
                <a:spcPts val="200"/>
              </a:spcAft>
            </a:pPr>
            <a:r>
              <a:rPr sz="1900" b="1" i="0">
                <a:solidFill>
                  <a:srgbClr val="FFFFFF"/>
                </a:solidFill>
                <a:latin typeface="Calibri"/>
              </a:rPr>
              <a:t>Day 5: Functions, lists and debugging</a:t>
            </a:r>
          </a:p>
        </p:txBody>
      </p:sp>
      <p:sp>
        <p:nvSpPr>
          <p:cNvPr id="9" name="TextBox 8"/>
          <p:cNvSpPr txBox="1"/>
          <p:nvPr/>
        </p:nvSpPr>
        <p:spPr>
          <a:xfrm>
            <a:off x="6464807" y="2011680"/>
            <a:ext cx="4937760" cy="1828800"/>
          </a:xfrm>
          <a:prstGeom prst="rect">
            <a:avLst/>
          </a:prstGeom>
          <a:noFill/>
        </p:spPr>
        <p:txBody>
          <a:bodyPr wrap="square" lIns="45720" rIns="45720" anchor="t">
            <a:spAutoFit/>
          </a:bodyPr>
          <a:lstStyle/>
          <a:p>
            <a:pPr marL="256032" indent="-256032" algn="l">
              <a:spcAft>
                <a:spcPts val="700"/>
              </a:spcAft>
              <a:buClr>
                <a:srgbClr val="085797"/>
              </a:buClr>
              <a:buFont typeface="Arial"/>
              <a:buChar char="•"/>
            </a:pPr>
            <a:r>
              <a:rPr sz="1700" b="0" i="0">
                <a:solidFill>
                  <a:srgbClr val="1B2A41"/>
                </a:solidFill>
                <a:latin typeface="Calibri"/>
              </a:rPr>
              <a:t>Functions</a:t>
            </a:r>
          </a:p>
          <a:p>
            <a:pPr marL="256032" indent="-256032" algn="l">
              <a:spcAft>
                <a:spcPts val="700"/>
              </a:spcAft>
              <a:buClr>
                <a:srgbClr val="085797"/>
              </a:buClr>
              <a:buFont typeface="Arial"/>
              <a:buChar char="•"/>
            </a:pPr>
            <a:r>
              <a:rPr sz="1700" b="0" i="0">
                <a:solidFill>
                  <a:srgbClr val="1B2A41"/>
                </a:solidFill>
                <a:latin typeface="Calibri"/>
              </a:rPr>
              <a:t>Lists</a:t>
            </a:r>
          </a:p>
          <a:p>
            <a:pPr marL="256032" indent="-256032" algn="l">
              <a:spcAft>
                <a:spcPts val="700"/>
              </a:spcAft>
              <a:buClr>
                <a:srgbClr val="085797"/>
              </a:buClr>
              <a:buFont typeface="Arial"/>
              <a:buChar char="•"/>
            </a:pPr>
            <a:r>
              <a:rPr sz="1700" b="0" i="0">
                <a:solidFill>
                  <a:srgbClr val="1B2A41"/>
                </a:solidFill>
                <a:latin typeface="Calibri"/>
              </a:rPr>
              <a:t>Debugging</a:t>
            </a:r>
          </a:p>
          <a:p>
            <a:pPr marL="256032" indent="-256032" algn="l">
              <a:spcAft>
                <a:spcPts val="700"/>
              </a:spcAft>
              <a:buClr>
                <a:srgbClr val="085797"/>
              </a:buClr>
              <a:buFont typeface="Arial"/>
              <a:buChar char="•"/>
            </a:pPr>
            <a:r>
              <a:rPr sz="1700" b="0" i="0">
                <a:solidFill>
                  <a:srgbClr val="1B2A41"/>
                </a:solidFill>
                <a:latin typeface="Calibri"/>
              </a:rPr>
              <a:t>Finish the PoE</a:t>
            </a:r>
          </a:p>
        </p:txBody>
      </p:sp>
      <p:sp>
        <p:nvSpPr>
          <p:cNvPr id="10" name="Rounded Rectangle 9"/>
          <p:cNvSpPr/>
          <p:nvPr/>
        </p:nvSpPr>
        <p:spPr>
          <a:xfrm>
            <a:off x="548640" y="4160520"/>
            <a:ext cx="11091672" cy="1463040"/>
          </a:xfrm>
          <a:prstGeom prst="roundRect">
            <a:avLst>
              <a:gd name="adj" fmla="val 7500"/>
            </a:avLst>
          </a:prstGeom>
          <a:solidFill>
            <a:srgbClr val="FFFFFF"/>
          </a:solidFill>
          <a:ln w="12700">
            <a:solidFill>
              <a:srgbClr val="C9D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206240"/>
            <a:ext cx="10607040" cy="1371600"/>
          </a:xfrm>
          <a:prstGeom prst="rect">
            <a:avLst/>
          </a:prstGeom>
          <a:noFill/>
        </p:spPr>
        <p:txBody>
          <a:bodyPr wrap="square" lIns="45720" rIns="45720" anchor="ctr">
            <a:spAutoFit/>
          </a:bodyPr>
          <a:lstStyle/>
          <a:p>
            <a:pPr algn="l">
              <a:spcAft>
                <a:spcPts val="400"/>
              </a:spcAft>
            </a:pPr>
            <a:r>
              <a:rPr sz="1400" b="1" i="0">
                <a:solidFill>
                  <a:srgbClr val="085797"/>
                </a:solidFill>
                <a:latin typeface="Calibri"/>
              </a:rPr>
              <a:t>Textbook  </a:t>
            </a:r>
            <a:r>
              <a:rPr sz="1400" b="0" i="0">
                <a:solidFill>
                  <a:srgbClr val="1B2A41"/>
                </a:solidFill>
                <a:latin typeface="Calibri"/>
              </a:rPr>
              <a:t>Ernesti and Kaiser, Python 3: The Comprehensive Guide (2022). Chapter 3 (pp. 49-60), section 10.2 (precedence, pp. 127-129), section 11.3 (conversion, p. 134), input (p. 314), section 12.5 (strings and formatting, pp. 186-201), section 26.1 (math, pp. 497-500).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589859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9A3B9CA5253C24DA76F902ECC83DF8C" ma:contentTypeVersion="10" ma:contentTypeDescription="Create a new document." ma:contentTypeScope="" ma:versionID="50c8cb6ff7689d2632ab81224d1af6cf">
  <xsd:schema xmlns:xsd="http://www.w3.org/2001/XMLSchema" xmlns:xs="http://www.w3.org/2001/XMLSchema" xmlns:p="http://schemas.microsoft.com/office/2006/metadata/properties" xmlns:ns2="6a26b3ca-a0f3-432c-b572-f31ca3a810f5" xmlns:ns3="7b341e75-e474-4344-8de9-f9be59cb3d6a" targetNamespace="http://schemas.microsoft.com/office/2006/metadata/properties" ma:root="true" ma:fieldsID="86d1498ab09e09a5146c9d27b28e1617" ns2:_="" ns3:_="">
    <xsd:import namespace="6a26b3ca-a0f3-432c-b572-f31ca3a810f5"/>
    <xsd:import namespace="7b341e75-e474-4344-8de9-f9be59cb3d6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26b3ca-a0f3-432c-b572-f31ca3a810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86b21be-2949-462f-baab-3f20edd55ea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341e75-e474-4344-8de9-f9be59cb3d6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dad0814-519d-4928-b52a-f585231e46a4}" ma:internalName="TaxCatchAll" ma:showField="CatchAllData" ma:web="7b341e75-e474-4344-8de9-f9be59cb3d6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b341e75-e474-4344-8de9-f9be59cb3d6a" xsi:nil="true"/>
    <lcf76f155ced4ddcb4097134ff3c332f xmlns="6a26b3ca-a0f3-432c-b572-f31ca3a810f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2A8412-000A-4FC4-88FA-9C57169B02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26b3ca-a0f3-432c-b572-f31ca3a810f5"/>
    <ds:schemaRef ds:uri="7b341e75-e474-4344-8de9-f9be59cb3d6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81B77D-5361-4091-8FD0-0BC77BF6D3B8}">
  <ds:schemaRefs>
    <ds:schemaRef ds:uri="http://schemas.microsoft.com/office/2006/metadata/properties"/>
    <ds:schemaRef ds:uri="http://schemas.microsoft.com/office/infopath/2007/PartnerControls"/>
    <ds:schemaRef ds:uri="7b341e75-e474-4344-8de9-f9be59cb3d6a"/>
    <ds:schemaRef ds:uri="6a26b3ca-a0f3-432c-b572-f31ca3a810f5"/>
  </ds:schemaRefs>
</ds:datastoreItem>
</file>

<file path=customXml/itemProps3.xml><?xml version="1.0" encoding="utf-8"?>
<ds:datastoreItem xmlns:ds="http://schemas.openxmlformats.org/officeDocument/2006/customXml" ds:itemID="{84DEB2EC-1021-4AEB-A32E-EB073E3F291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0</Words>
  <Application>Microsoft Office PowerPoint</Application>
  <PresentationFormat>Widescreen</PresentationFormat>
  <Paragraphs>0</Paragraphs>
  <Slides>33</Slides>
  <Notes>32</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Custom Design</vt:lpstr>
      <vt:lpstr>PowerPoint Presentation</vt:lpstr>
      <vt:lpstr>Today's plan: five blocks</vt:lpstr>
      <vt:lpstr>What you hand in by 17:00</vt:lpstr>
      <vt:lpstr>The four types you need</vt:lpstr>
      <vt:lpstr>Variables: labelled containers</vt:lpstr>
      <vt:lpstr>Operators</vt:lpstr>
      <vt:lpstr>A1 and A2: types and variables</vt:lpstr>
      <vt:lpstr>Input is always text</vt:lpstr>
      <vt:lpstr>Precedence: who goes first?</vt:lpstr>
      <vt:lpstr>Worked example: average of three marks</vt:lpstr>
      <vt:lpstr>A3 and A4: input and calculation</vt:lpstr>
      <vt:lpstr>Methods that clean and check text</vt:lpstr>
      <vt:lpstr>Worked example: standardise a name</vt:lpstr>
      <vt:lpstr>Formatted output and a first look at if</vt:lpstr>
      <vt:lpstr>A5 and A6: strings and validation</vt:lpstr>
      <vt:lpstr>The math module</vt:lpstr>
      <vt:lpstr>Plan, code, test</vt:lpstr>
      <vt:lpstr>Test data: normal, boundary, invalid</vt:lpstr>
      <vt:lpstr>Core practical: the hypotenuse program</vt:lpstr>
      <vt:lpstr>Model solution: 05_hypotenuse.py</vt:lpstr>
      <vt:lpstr>Test table for the hypotenuse program</vt:lpstr>
      <vt:lpstr>Reading error messages</vt:lpstr>
      <vt:lpstr>Thonny: watching your program run</vt:lpstr>
      <vt:lpstr>Designing an assessable practical</vt:lpstr>
      <vt:lpstr>Mark allocation pattern: 25 marks</vt:lpstr>
      <vt:lpstr>Rules for a fair marking guide</vt:lpstr>
      <vt:lpstr>A9 and A10: assessment design</vt:lpstr>
      <vt:lpstr>Self-review before you upload</vt:lpstr>
      <vt:lpstr>Practice questions</vt:lpstr>
      <vt:lpstr>Practice answers</vt:lpstr>
      <vt:lpstr>End-of-day GitHub checklist</vt:lpstr>
      <vt:lpstr>Coming 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Slide 1 and 2</dc:title>
  <cp:lastModifiedBy>Bertie Buitendag</cp:lastModifiedBy>
  <cp:revision>32</cp:revision>
  <cp:lastPrinted>2026-01-19T10:09:49Z</cp:lastPrinted>
  <dcterms:created xsi:type="dcterms:W3CDTF">2023-05-04T12:18:02Z</dcterms:created>
  <dcterms:modified xsi:type="dcterms:W3CDTF">2026-10-20T19:28:15Z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2023-05-04T00:00:00Z</vt:filetime>
  </property>
  <property fmtid="{D5CDD505-2E9C-101B-9397-08002B2CF9AE}" pid="3" name="Creator">
    <vt:lpwstr>Adobe Illustrator 27.4 (Macintosh)</vt:lpwstr>
  </property>
  <property fmtid="{D5CDD505-2E9C-101B-9397-08002B2CF9AE}" pid="4" name="CreatorVersion">
    <vt:lpwstr>21.0.0</vt:lpwstr>
  </property>
  <property fmtid="{D5CDD505-2E9C-101B-9397-08002B2CF9AE}" pid="5" name="LastSaved">
    <vt:filetime>2023-05-04T00:00:00Z</vt:filetime>
  </property>
  <property fmtid="{D5CDD505-2E9C-101B-9397-08002B2CF9AE}" pid="6" name="Producer">
    <vt:lpwstr>Adobe PDF library 17.00</vt:lpwstr>
  </property>
  <property fmtid="{D5CDD505-2E9C-101B-9397-08002B2CF9AE}" pid="7" name="ContentTypeId">
    <vt:lpwstr>0x01010069A3B9CA5253C24DA76F902ECC83DF8C</vt:lpwstr>
  </property>
</Properties>
</file>